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7556500" cy="10693400"/>
  <p:notesSz cx="7556500" cy="10693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p:cViewPr>
        <p:scale>
          <a:sx n="150" d="100"/>
          <a:sy n="150" d="100"/>
        </p:scale>
        <p:origin x="1086" y="-32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6/3/2026</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6/3/2026</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6/3/2026</a:t>
            </a:fld>
            <a:endParaRPr lang="en-US"/>
          </a:p>
        </p:txBody>
      </p:sp>
      <p:sp>
        <p:nvSpPr>
          <p:cNvPr id="7" name="Holder 7"/>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6/3/2026</a:t>
            </a:fld>
            <a:endParaRPr lang="en-US"/>
          </a:p>
        </p:txBody>
      </p:sp>
      <p:sp>
        <p:nvSpPr>
          <p:cNvPr id="5" name="Holder 5"/>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6/3/2026</a:t>
            </a:fld>
            <a:endParaRPr lang="en-US"/>
          </a:p>
        </p:txBody>
      </p:sp>
      <p:sp>
        <p:nvSpPr>
          <p:cNvPr id="4" name="Holder 4"/>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08000" y="425449"/>
            <a:ext cx="615950" cy="641350"/>
          </a:xfrm>
          <a:prstGeom prst="rect">
            <a:avLst/>
          </a:prstGeom>
        </p:spPr>
      </p:pic>
      <p:pic>
        <p:nvPicPr>
          <p:cNvPr id="17" name="bg object 17"/>
          <p:cNvPicPr/>
          <p:nvPr/>
        </p:nvPicPr>
        <p:blipFill>
          <a:blip r:embed="rId8" cstate="print"/>
          <a:stretch>
            <a:fillRect/>
          </a:stretch>
        </p:blipFill>
        <p:spPr>
          <a:xfrm>
            <a:off x="6064250" y="425449"/>
            <a:ext cx="1035050" cy="679984"/>
          </a:xfrm>
          <a:prstGeom prst="rect">
            <a:avLst/>
          </a:prstGeom>
        </p:spPr>
      </p:pic>
      <p:sp>
        <p:nvSpPr>
          <p:cNvPr id="2" name="Holder 2"/>
          <p:cNvSpPr>
            <a:spLocks noGrp="1"/>
          </p:cNvSpPr>
          <p:nvPr>
            <p:ph type="title"/>
          </p:nvPr>
        </p:nvSpPr>
        <p:spPr>
          <a:xfrm>
            <a:off x="902004" y="1220469"/>
            <a:ext cx="1007744" cy="391159"/>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37056" y="3816222"/>
            <a:ext cx="4962525" cy="22269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6/3/2026</a:t>
            </a:fld>
            <a:endParaRPr lang="en-US"/>
          </a:p>
        </p:txBody>
      </p:sp>
      <p:sp>
        <p:nvSpPr>
          <p:cNvPr id="6" name="Holder 6"/>
          <p:cNvSpPr>
            <a:spLocks noGrp="1"/>
          </p:cNvSpPr>
          <p:nvPr>
            <p:ph type="sldNum" sz="quarter" idx="7"/>
          </p:nvPr>
        </p:nvSpPr>
        <p:spPr>
          <a:xfrm>
            <a:off x="6493255" y="9917683"/>
            <a:ext cx="207009" cy="165734"/>
          </a:xfrm>
          <a:prstGeom prst="rect">
            <a:avLst/>
          </a:prstGeom>
        </p:spPr>
        <p:txBody>
          <a:bodyPr wrap="square" lIns="0" tIns="0" rIns="0" bIns="0">
            <a:spAutoFit/>
          </a:bodyPr>
          <a:lstStyle>
            <a:lvl1pPr>
              <a:defRPr sz="1100" b="0" i="0">
                <a:solidFill>
                  <a:schemeClr val="tx1"/>
                </a:solidFill>
                <a:latin typeface="Calibri"/>
                <a:cs typeface="Calibri"/>
              </a:defRPr>
            </a:lvl1pPr>
          </a:lstStyle>
          <a:p>
            <a:pPr marL="12700">
              <a:lnSpc>
                <a:spcPts val="115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5.xm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5.xml"/><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5.xml"/><Relationship Id="rId4" Type="http://schemas.openxmlformats.org/officeDocument/2006/relationships/image" Target="../media/image16.jp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8" Type="http://schemas.openxmlformats.org/officeDocument/2006/relationships/hyperlink" Target="https://www.rmcybernetics.com/shop/electronic-components/mini-slide-switch-spdt-0-5a" TargetMode="External"/><Relationship Id="rId3" Type="http://schemas.openxmlformats.org/officeDocument/2006/relationships/hyperlink" Target="https://www.electrical4u.com/what-is-resistor/" TargetMode="External"/><Relationship Id="rId7" Type="http://schemas.openxmlformats.org/officeDocument/2006/relationships/hyperlink" Target="https://www.build-electronic-circuits.com/7400-series-integrated-circuits/74hc74-74ls74/" TargetMode="External"/><Relationship Id="rId2" Type="http://schemas.openxmlformats.org/officeDocument/2006/relationships/hyperlink" Target="https://www.saveledgered.com/product-p-736646.html" TargetMode="External"/><Relationship Id="rId1" Type="http://schemas.openxmlformats.org/officeDocument/2006/relationships/slideLayout" Target="../slideLayouts/slideLayout5.xml"/><Relationship Id="rId6" Type="http://schemas.openxmlformats.org/officeDocument/2006/relationships/hyperlink" Target="https://techdelivers.com/copper-clad-fr1-phenolic-pcb-single-sided-5x5-inch-1-2mm-35-micron-diy-etching-prototyping-electronics-laminate-circuit-board" TargetMode="External"/><Relationship Id="rId5" Type="http://schemas.openxmlformats.org/officeDocument/2006/relationships/hyperlink" Target="https://roboticsdna.in/product/2-pin-126-series-green-connector-for-pcb-screw-terminals/" TargetMode="External"/><Relationship Id="rId4" Type="http://schemas.openxmlformats.org/officeDocument/2006/relationships/hyperlink" Target="https://www.electrical4u.com/led-or-light-emitting-diod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15186" y="866140"/>
            <a:ext cx="4247515" cy="516890"/>
          </a:xfrm>
          <a:prstGeom prst="rect">
            <a:avLst/>
          </a:prstGeom>
        </p:spPr>
        <p:txBody>
          <a:bodyPr vert="horz" wrap="square" lIns="0" tIns="33020" rIns="0" bIns="0" rtlCol="0">
            <a:spAutoFit/>
          </a:bodyPr>
          <a:lstStyle/>
          <a:p>
            <a:pPr marL="12700">
              <a:lnSpc>
                <a:spcPct val="100000"/>
              </a:lnSpc>
              <a:spcBef>
                <a:spcPts val="260"/>
              </a:spcBef>
            </a:pPr>
            <a:r>
              <a:rPr sz="1800" b="1" dirty="0">
                <a:latin typeface="Times New Roman"/>
                <a:cs typeface="Times New Roman"/>
              </a:rPr>
              <a:t>Sant</a:t>
            </a:r>
            <a:r>
              <a:rPr sz="1800" b="1" spc="-25" dirty="0">
                <a:latin typeface="Times New Roman"/>
                <a:cs typeface="Times New Roman"/>
              </a:rPr>
              <a:t> </a:t>
            </a:r>
            <a:r>
              <a:rPr sz="1800" b="1" dirty="0">
                <a:latin typeface="Times New Roman"/>
                <a:cs typeface="Times New Roman"/>
              </a:rPr>
              <a:t>Shiromani</a:t>
            </a:r>
            <a:r>
              <a:rPr sz="1800" b="1" spc="-30" dirty="0">
                <a:latin typeface="Times New Roman"/>
                <a:cs typeface="Times New Roman"/>
              </a:rPr>
              <a:t> </a:t>
            </a:r>
            <a:r>
              <a:rPr sz="1800" b="1" dirty="0">
                <a:latin typeface="Times New Roman"/>
                <a:cs typeface="Times New Roman"/>
              </a:rPr>
              <a:t>Ravidas</a:t>
            </a:r>
            <a:r>
              <a:rPr sz="1800" b="1" spc="-20" dirty="0">
                <a:latin typeface="Times New Roman"/>
                <a:cs typeface="Times New Roman"/>
              </a:rPr>
              <a:t> </a:t>
            </a:r>
            <a:r>
              <a:rPr sz="1800" b="1" dirty="0">
                <a:latin typeface="Times New Roman"/>
                <a:cs typeface="Times New Roman"/>
              </a:rPr>
              <a:t>Global</a:t>
            </a:r>
            <a:r>
              <a:rPr sz="1800" b="1" spc="-25" dirty="0">
                <a:latin typeface="Times New Roman"/>
                <a:cs typeface="Times New Roman"/>
              </a:rPr>
              <a:t> </a:t>
            </a:r>
            <a:r>
              <a:rPr sz="1800" b="1" dirty="0">
                <a:latin typeface="Times New Roman"/>
                <a:cs typeface="Times New Roman"/>
              </a:rPr>
              <a:t>Skills</a:t>
            </a:r>
            <a:r>
              <a:rPr sz="1800" b="1" spc="-40" dirty="0">
                <a:latin typeface="Times New Roman"/>
                <a:cs typeface="Times New Roman"/>
              </a:rPr>
              <a:t> </a:t>
            </a:r>
            <a:r>
              <a:rPr sz="1800" b="1" spc="-20" dirty="0">
                <a:latin typeface="Times New Roman"/>
                <a:cs typeface="Times New Roman"/>
              </a:rPr>
              <a:t>Park</a:t>
            </a:r>
            <a:endParaRPr sz="1800">
              <a:latin typeface="Times New Roman"/>
              <a:cs typeface="Times New Roman"/>
            </a:endParaRPr>
          </a:p>
          <a:p>
            <a:pPr marL="81280" algn="ctr">
              <a:lnSpc>
                <a:spcPct val="100000"/>
              </a:lnSpc>
              <a:spcBef>
                <a:spcPts val="110"/>
              </a:spcBef>
            </a:pPr>
            <a:r>
              <a:rPr sz="1200" b="1" dirty="0">
                <a:latin typeface="Times New Roman"/>
                <a:cs typeface="Times New Roman"/>
              </a:rPr>
              <a:t>Bhopal</a:t>
            </a:r>
            <a:r>
              <a:rPr sz="1200" b="1" spc="-10" dirty="0">
                <a:latin typeface="Times New Roman"/>
                <a:cs typeface="Times New Roman"/>
              </a:rPr>
              <a:t> </a:t>
            </a:r>
            <a:r>
              <a:rPr sz="1200" b="1" dirty="0">
                <a:latin typeface="Times New Roman"/>
                <a:cs typeface="Times New Roman"/>
              </a:rPr>
              <a:t>-</a:t>
            </a:r>
            <a:r>
              <a:rPr sz="1200" b="1" spc="-20" dirty="0">
                <a:latin typeface="Times New Roman"/>
                <a:cs typeface="Times New Roman"/>
              </a:rPr>
              <a:t> </a:t>
            </a:r>
            <a:r>
              <a:rPr sz="1200" b="1" dirty="0">
                <a:latin typeface="Times New Roman"/>
                <a:cs typeface="Times New Roman"/>
              </a:rPr>
              <a:t>Madhya</a:t>
            </a:r>
            <a:r>
              <a:rPr sz="1200" b="1" spc="-10" dirty="0">
                <a:latin typeface="Times New Roman"/>
                <a:cs typeface="Times New Roman"/>
              </a:rPr>
              <a:t> Pradesh</a:t>
            </a:r>
            <a:endParaRPr sz="1200">
              <a:latin typeface="Times New Roman"/>
              <a:cs typeface="Times New Roman"/>
            </a:endParaRPr>
          </a:p>
        </p:txBody>
      </p:sp>
      <p:sp>
        <p:nvSpPr>
          <p:cNvPr id="3" name="object 3"/>
          <p:cNvSpPr txBox="1"/>
          <p:nvPr/>
        </p:nvSpPr>
        <p:spPr>
          <a:xfrm>
            <a:off x="1412493" y="2611152"/>
            <a:ext cx="4765040" cy="5854167"/>
          </a:xfrm>
          <a:prstGeom prst="rect">
            <a:avLst/>
          </a:prstGeom>
        </p:spPr>
        <p:txBody>
          <a:bodyPr vert="horz" wrap="square" lIns="0" tIns="12065" rIns="0" bIns="0" rtlCol="0">
            <a:spAutoFit/>
          </a:bodyPr>
          <a:lstStyle/>
          <a:p>
            <a:pPr marL="635" algn="ctr">
              <a:lnSpc>
                <a:spcPct val="100000"/>
              </a:lnSpc>
              <a:spcBef>
                <a:spcPts val="95"/>
              </a:spcBef>
            </a:pPr>
            <a:r>
              <a:rPr sz="1600" b="1" spc="-10" dirty="0">
                <a:latin typeface="Times New Roman"/>
                <a:cs typeface="Times New Roman"/>
              </a:rPr>
              <a:t>Department</a:t>
            </a:r>
            <a:r>
              <a:rPr sz="1600" b="1" spc="-15" dirty="0">
                <a:latin typeface="Times New Roman"/>
                <a:cs typeface="Times New Roman"/>
              </a:rPr>
              <a:t> </a:t>
            </a:r>
            <a:r>
              <a:rPr sz="1600" b="1" spc="-25" dirty="0">
                <a:latin typeface="Times New Roman"/>
                <a:cs typeface="Times New Roman"/>
              </a:rPr>
              <a:t>of</a:t>
            </a:r>
            <a:endParaRPr sz="1600" dirty="0">
              <a:latin typeface="Times New Roman"/>
              <a:cs typeface="Times New Roman"/>
            </a:endParaRPr>
          </a:p>
          <a:p>
            <a:pPr algn="ctr">
              <a:lnSpc>
                <a:spcPct val="100000"/>
              </a:lnSpc>
              <a:spcBef>
                <a:spcPts val="1645"/>
              </a:spcBef>
            </a:pPr>
            <a:r>
              <a:rPr sz="1600" b="1" dirty="0">
                <a:latin typeface="Times New Roman"/>
                <a:cs typeface="Times New Roman"/>
              </a:rPr>
              <a:t>Advance</a:t>
            </a:r>
            <a:r>
              <a:rPr sz="1600" b="1" spc="-50" dirty="0">
                <a:latin typeface="Times New Roman"/>
                <a:cs typeface="Times New Roman"/>
              </a:rPr>
              <a:t> </a:t>
            </a:r>
            <a:r>
              <a:rPr sz="1600" b="1" dirty="0">
                <a:latin typeface="Times New Roman"/>
                <a:cs typeface="Times New Roman"/>
              </a:rPr>
              <a:t>Electronics</a:t>
            </a:r>
            <a:r>
              <a:rPr sz="1600" b="1" spc="-45" dirty="0">
                <a:latin typeface="Times New Roman"/>
                <a:cs typeface="Times New Roman"/>
              </a:rPr>
              <a:t> </a:t>
            </a:r>
            <a:r>
              <a:rPr sz="1600" b="1" dirty="0">
                <a:latin typeface="Times New Roman"/>
                <a:cs typeface="Times New Roman"/>
              </a:rPr>
              <a:t>Mobile</a:t>
            </a:r>
            <a:r>
              <a:rPr sz="1600" b="1" spc="-45" dirty="0">
                <a:latin typeface="Times New Roman"/>
                <a:cs typeface="Times New Roman"/>
              </a:rPr>
              <a:t> </a:t>
            </a:r>
            <a:r>
              <a:rPr sz="1600" b="1" dirty="0">
                <a:latin typeface="Times New Roman"/>
                <a:cs typeface="Times New Roman"/>
              </a:rPr>
              <a:t>Device</a:t>
            </a:r>
            <a:r>
              <a:rPr sz="1600" b="1" spc="-25" dirty="0">
                <a:latin typeface="Times New Roman"/>
                <a:cs typeface="Times New Roman"/>
              </a:rPr>
              <a:t> </a:t>
            </a:r>
            <a:r>
              <a:rPr sz="1600" b="1" dirty="0">
                <a:latin typeface="Times New Roman"/>
                <a:cs typeface="Times New Roman"/>
              </a:rPr>
              <a:t>&amp;</a:t>
            </a:r>
            <a:r>
              <a:rPr sz="1600" b="1" spc="-45" dirty="0">
                <a:latin typeface="Times New Roman"/>
                <a:cs typeface="Times New Roman"/>
              </a:rPr>
              <a:t> </a:t>
            </a:r>
            <a:r>
              <a:rPr sz="1600" b="1" dirty="0">
                <a:latin typeface="Times New Roman"/>
                <a:cs typeface="Times New Roman"/>
              </a:rPr>
              <a:t>IOT</a:t>
            </a:r>
            <a:r>
              <a:rPr sz="1600" b="1" spc="-30" dirty="0">
                <a:latin typeface="Times New Roman"/>
                <a:cs typeface="Times New Roman"/>
              </a:rPr>
              <a:t> </a:t>
            </a:r>
            <a:r>
              <a:rPr sz="1600" b="1" spc="-10" dirty="0">
                <a:latin typeface="Times New Roman"/>
                <a:cs typeface="Times New Roman"/>
              </a:rPr>
              <a:t>Integration</a:t>
            </a:r>
            <a:endParaRPr sz="1600" dirty="0">
              <a:latin typeface="Times New Roman"/>
              <a:cs typeface="Times New Roman"/>
            </a:endParaRPr>
          </a:p>
          <a:p>
            <a:pPr marL="230504" algn="ctr">
              <a:lnSpc>
                <a:spcPct val="100000"/>
              </a:lnSpc>
              <a:spcBef>
                <a:spcPts val="1660"/>
              </a:spcBef>
            </a:pPr>
            <a:r>
              <a:rPr sz="1200" b="1" dirty="0">
                <a:latin typeface="Times New Roman"/>
                <a:cs typeface="Times New Roman"/>
              </a:rPr>
              <a:t>A</a:t>
            </a:r>
            <a:r>
              <a:rPr sz="1200" b="1" spc="-35" dirty="0">
                <a:latin typeface="Times New Roman"/>
                <a:cs typeface="Times New Roman"/>
              </a:rPr>
              <a:t> </a:t>
            </a:r>
            <a:r>
              <a:rPr sz="1200" b="1" dirty="0">
                <a:latin typeface="Times New Roman"/>
                <a:cs typeface="Times New Roman"/>
              </a:rPr>
              <a:t>MINI</a:t>
            </a:r>
            <a:r>
              <a:rPr sz="1200" b="1" spc="-30" dirty="0">
                <a:latin typeface="Times New Roman"/>
                <a:cs typeface="Times New Roman"/>
              </a:rPr>
              <a:t> </a:t>
            </a:r>
            <a:r>
              <a:rPr sz="1200" b="1" dirty="0">
                <a:latin typeface="Times New Roman"/>
                <a:cs typeface="Times New Roman"/>
              </a:rPr>
              <a:t>PROJECT</a:t>
            </a:r>
            <a:r>
              <a:rPr sz="1200" b="1" spc="-30" dirty="0">
                <a:latin typeface="Times New Roman"/>
                <a:cs typeface="Times New Roman"/>
              </a:rPr>
              <a:t> </a:t>
            </a:r>
            <a:r>
              <a:rPr sz="1200" b="1" spc="-10" dirty="0">
                <a:latin typeface="Times New Roman"/>
                <a:cs typeface="Times New Roman"/>
              </a:rPr>
              <a:t>REPORT</a:t>
            </a:r>
            <a:endParaRPr sz="1200" dirty="0">
              <a:latin typeface="Times New Roman"/>
              <a:cs typeface="Times New Roman"/>
            </a:endParaRPr>
          </a:p>
          <a:p>
            <a:pPr marL="1270" algn="ctr">
              <a:lnSpc>
                <a:spcPct val="100000"/>
              </a:lnSpc>
            </a:pPr>
            <a:endParaRPr lang="en-US" sz="1200" dirty="0">
              <a:latin typeface="Times New Roman"/>
              <a:cs typeface="Times New Roman"/>
            </a:endParaRPr>
          </a:p>
          <a:p>
            <a:pPr marL="1270" algn="ctr">
              <a:lnSpc>
                <a:spcPct val="100000"/>
              </a:lnSpc>
            </a:pPr>
            <a:r>
              <a:rPr sz="1200" b="1" spc="-25" dirty="0">
                <a:latin typeface="Times New Roman"/>
                <a:cs typeface="Times New Roman"/>
              </a:rPr>
              <a:t>ON</a:t>
            </a:r>
            <a:endParaRPr sz="1200" dirty="0">
              <a:latin typeface="Times New Roman"/>
              <a:cs typeface="Times New Roman"/>
            </a:endParaRPr>
          </a:p>
          <a:p>
            <a:pPr algn="ctr">
              <a:lnSpc>
                <a:spcPct val="100000"/>
              </a:lnSpc>
              <a:spcBef>
                <a:spcPts val="40"/>
              </a:spcBef>
            </a:pPr>
            <a:r>
              <a:rPr lang="en-US" sz="2400" b="1" dirty="0">
                <a:latin typeface="Times New Roman"/>
                <a:cs typeface="Times New Roman"/>
              </a:rPr>
              <a:t>    Heart beat </a:t>
            </a:r>
            <a:r>
              <a:rPr lang="en-US" sz="2400" b="1" dirty="0" err="1">
                <a:latin typeface="Times New Roman"/>
                <a:cs typeface="Times New Roman"/>
              </a:rPr>
              <a:t>monitering</a:t>
            </a:r>
            <a:r>
              <a:rPr lang="en-US" sz="2400" b="1" dirty="0">
                <a:latin typeface="Times New Roman"/>
                <a:cs typeface="Times New Roman"/>
              </a:rPr>
              <a:t> system</a:t>
            </a:r>
            <a:endParaRPr sz="2400" b="1" dirty="0">
              <a:latin typeface="Times New Roman"/>
              <a:cs typeface="Times New Roman"/>
            </a:endParaRPr>
          </a:p>
          <a:p>
            <a:pPr marL="44450" algn="ctr">
              <a:lnSpc>
                <a:spcPct val="100000"/>
              </a:lnSpc>
            </a:pPr>
            <a:endParaRPr sz="1400" dirty="0">
              <a:latin typeface="Times New Roman"/>
              <a:cs typeface="Times New Roman"/>
            </a:endParaRPr>
          </a:p>
          <a:p>
            <a:pPr>
              <a:lnSpc>
                <a:spcPct val="100000"/>
              </a:lnSpc>
              <a:spcBef>
                <a:spcPts val="710"/>
              </a:spcBef>
            </a:pPr>
            <a:r>
              <a:rPr lang="en-US" sz="1400" dirty="0">
                <a:latin typeface="Times New Roman"/>
                <a:cs typeface="Times New Roman"/>
              </a:rPr>
              <a:t> </a:t>
            </a:r>
            <a:endParaRPr sz="1400" dirty="0">
              <a:latin typeface="Times New Roman"/>
              <a:cs typeface="Times New Roman"/>
            </a:endParaRPr>
          </a:p>
          <a:p>
            <a:pPr marL="8890" algn="ctr">
              <a:lnSpc>
                <a:spcPct val="100000"/>
              </a:lnSpc>
            </a:pPr>
            <a:r>
              <a:rPr sz="1600" b="1" u="sng" dirty="0">
                <a:latin typeface="Times New Roman"/>
                <a:cs typeface="Times New Roman"/>
              </a:rPr>
              <a:t>Submitted</a:t>
            </a:r>
            <a:r>
              <a:rPr sz="1600" b="1" u="sng" spc="-80" dirty="0">
                <a:latin typeface="Times New Roman"/>
                <a:cs typeface="Times New Roman"/>
              </a:rPr>
              <a:t> </a:t>
            </a:r>
            <a:r>
              <a:rPr sz="1600" b="1" u="sng" spc="-25" dirty="0">
                <a:latin typeface="Times New Roman"/>
                <a:cs typeface="Times New Roman"/>
              </a:rPr>
              <a:t>by</a:t>
            </a:r>
            <a:r>
              <a:rPr lang="en-US" sz="1600" b="1" u="sng" spc="-25" dirty="0">
                <a:latin typeface="Times New Roman"/>
                <a:cs typeface="Times New Roman"/>
              </a:rPr>
              <a:t> :</a:t>
            </a:r>
            <a:endParaRPr lang="en-IN" sz="1600" b="1" u="sng" dirty="0">
              <a:latin typeface="Times New Roman"/>
              <a:cs typeface="Times New Roman"/>
            </a:endParaRPr>
          </a:p>
          <a:p>
            <a:pPr>
              <a:lnSpc>
                <a:spcPct val="100000"/>
              </a:lnSpc>
              <a:spcBef>
                <a:spcPts val="5"/>
              </a:spcBef>
            </a:pPr>
            <a:endParaRPr lang="en-IN" sz="1600" dirty="0">
              <a:latin typeface="Times New Roman"/>
              <a:cs typeface="Times New Roman"/>
            </a:endParaRPr>
          </a:p>
          <a:p>
            <a:pPr marL="471170" marR="461009" indent="-1270" algn="l">
              <a:lnSpc>
                <a:spcPct val="143600"/>
              </a:lnSpc>
            </a:pPr>
            <a:r>
              <a:rPr lang="en-IN" sz="1400" b="1" dirty="0">
                <a:latin typeface="Times New Roman"/>
                <a:cs typeface="Times New Roman"/>
              </a:rPr>
              <a:t>Pankaj </a:t>
            </a:r>
            <a:r>
              <a:rPr lang="en-IN" sz="1400" b="1" dirty="0" err="1">
                <a:latin typeface="Times New Roman"/>
                <a:cs typeface="Times New Roman"/>
              </a:rPr>
              <a:t>uikey</a:t>
            </a:r>
            <a:r>
              <a:rPr lang="en-IN" sz="1400" b="1" dirty="0">
                <a:latin typeface="Times New Roman"/>
                <a:cs typeface="Times New Roman"/>
              </a:rPr>
              <a:t>          -</a:t>
            </a:r>
            <a:r>
              <a:rPr lang="en-IN" sz="1400" b="1" spc="-40" dirty="0">
                <a:latin typeface="Times New Roman"/>
                <a:cs typeface="Times New Roman"/>
              </a:rPr>
              <a:t>        </a:t>
            </a:r>
            <a:r>
              <a:rPr lang="en-IN" sz="1400" b="1" spc="-10" dirty="0">
                <a:latin typeface="Times New Roman"/>
                <a:cs typeface="Times New Roman"/>
              </a:rPr>
              <a:t>SSRGSP/ELX/2025/2/037                      </a:t>
            </a:r>
            <a:r>
              <a:rPr lang="en-IN" sz="1400" b="1" dirty="0">
                <a:latin typeface="Times New Roman"/>
                <a:cs typeface="Times New Roman"/>
              </a:rPr>
              <a:t>Jitendra </a:t>
            </a:r>
            <a:r>
              <a:rPr lang="en-IN" sz="1400" b="1" dirty="0" err="1">
                <a:latin typeface="Times New Roman"/>
                <a:cs typeface="Times New Roman"/>
              </a:rPr>
              <a:t>chopda</a:t>
            </a:r>
            <a:r>
              <a:rPr lang="en-IN" sz="1400" b="1" dirty="0">
                <a:latin typeface="Times New Roman"/>
                <a:cs typeface="Times New Roman"/>
              </a:rPr>
              <a:t>      -      </a:t>
            </a:r>
            <a:r>
              <a:rPr lang="en-IN" sz="1400" b="1" spc="-30" dirty="0">
                <a:latin typeface="Times New Roman"/>
                <a:cs typeface="Times New Roman"/>
              </a:rPr>
              <a:t> </a:t>
            </a:r>
            <a:r>
              <a:rPr lang="en-IN" sz="1400" b="1" spc="-10" dirty="0">
                <a:latin typeface="Times New Roman"/>
                <a:cs typeface="Times New Roman"/>
              </a:rPr>
              <a:t>SSRGSP/ELX/2025/2/028 </a:t>
            </a:r>
            <a:r>
              <a:rPr lang="en-IN" sz="1400" b="1" spc="-5" dirty="0">
                <a:latin typeface="Times New Roman"/>
                <a:cs typeface="Times New Roman"/>
              </a:rPr>
              <a:t> Aman </a:t>
            </a:r>
            <a:r>
              <a:rPr lang="en-IN" sz="1400" b="1" spc="-5" dirty="0" err="1">
                <a:latin typeface="Times New Roman"/>
                <a:cs typeface="Times New Roman"/>
              </a:rPr>
              <a:t>Rathor</a:t>
            </a:r>
            <a:r>
              <a:rPr lang="en-IN" sz="1400" b="1" spc="-5" dirty="0">
                <a:latin typeface="Times New Roman"/>
                <a:cs typeface="Times New Roman"/>
              </a:rPr>
              <a:t>           </a:t>
            </a:r>
            <a:r>
              <a:rPr lang="en-IN" sz="1400" b="1" dirty="0">
                <a:latin typeface="Times New Roman"/>
                <a:cs typeface="Times New Roman"/>
              </a:rPr>
              <a:t>-     </a:t>
            </a:r>
            <a:r>
              <a:rPr lang="en-IN" sz="1400" b="1" spc="-20" dirty="0">
                <a:latin typeface="Times New Roman"/>
                <a:cs typeface="Times New Roman"/>
              </a:rPr>
              <a:t> </a:t>
            </a:r>
            <a:r>
              <a:rPr lang="en-IN" sz="1400" b="1" spc="-10" dirty="0">
                <a:latin typeface="Times New Roman"/>
                <a:cs typeface="Times New Roman"/>
              </a:rPr>
              <a:t>SSRGSP/ELX/2025/2/004</a:t>
            </a:r>
          </a:p>
          <a:p>
            <a:pPr marL="471170" marR="461009" indent="-1270" algn="l">
              <a:lnSpc>
                <a:spcPct val="143600"/>
              </a:lnSpc>
            </a:pPr>
            <a:r>
              <a:rPr lang="en-IN" sz="1400" b="1" spc="-10" dirty="0">
                <a:latin typeface="Times New Roman"/>
                <a:cs typeface="Times New Roman"/>
              </a:rPr>
              <a:t>Hemant </a:t>
            </a:r>
            <a:r>
              <a:rPr lang="en-IN" sz="1400" b="1" spc="-10" dirty="0" err="1">
                <a:latin typeface="Times New Roman"/>
                <a:cs typeface="Times New Roman"/>
              </a:rPr>
              <a:t>shakywar</a:t>
            </a:r>
            <a:r>
              <a:rPr lang="en-IN" sz="1400" b="1" spc="-10" dirty="0">
                <a:latin typeface="Times New Roman"/>
                <a:cs typeface="Times New Roman"/>
              </a:rPr>
              <a:t>   </a:t>
            </a:r>
            <a:r>
              <a:rPr lang="en-IN" sz="1400" b="1" dirty="0">
                <a:latin typeface="Times New Roman"/>
                <a:cs typeface="Times New Roman"/>
              </a:rPr>
              <a:t>-</a:t>
            </a:r>
            <a:r>
              <a:rPr lang="en-IN" sz="1400" b="1" spc="-25" dirty="0">
                <a:latin typeface="Times New Roman"/>
                <a:cs typeface="Times New Roman"/>
              </a:rPr>
              <a:t>      </a:t>
            </a:r>
            <a:r>
              <a:rPr lang="en-IN" sz="1400" b="1" spc="-10" dirty="0">
                <a:latin typeface="Times New Roman"/>
                <a:cs typeface="Times New Roman"/>
              </a:rPr>
              <a:t>SSRGSP/ELX/2025/2/020</a:t>
            </a:r>
          </a:p>
          <a:p>
            <a:pPr marL="471170" marR="461009" indent="-1270" algn="l">
              <a:lnSpc>
                <a:spcPct val="143600"/>
              </a:lnSpc>
            </a:pPr>
            <a:r>
              <a:rPr lang="en-IN" sz="1400" b="1" dirty="0">
                <a:latin typeface="Times New Roman"/>
                <a:cs typeface="Times New Roman"/>
              </a:rPr>
              <a:t>Krishan</a:t>
            </a:r>
            <a:r>
              <a:rPr lang="en-IN" sz="1400" b="1" spc="-25" dirty="0">
                <a:latin typeface="Times New Roman"/>
                <a:cs typeface="Times New Roman"/>
              </a:rPr>
              <a:t> </a:t>
            </a:r>
            <a:r>
              <a:rPr lang="en-IN" sz="1400" b="1" spc="-25" dirty="0" err="1">
                <a:latin typeface="Times New Roman"/>
                <a:cs typeface="Times New Roman"/>
              </a:rPr>
              <a:t>kumar</a:t>
            </a:r>
            <a:r>
              <a:rPr lang="en-IN" sz="1400" b="1" spc="-15" dirty="0">
                <a:latin typeface="Times New Roman"/>
                <a:cs typeface="Times New Roman"/>
              </a:rPr>
              <a:t>        </a:t>
            </a:r>
            <a:r>
              <a:rPr lang="en-IN" sz="1400" b="1" dirty="0">
                <a:latin typeface="Times New Roman"/>
                <a:cs typeface="Times New Roman"/>
              </a:rPr>
              <a:t>-      </a:t>
            </a:r>
            <a:r>
              <a:rPr lang="en-IN" sz="1400" b="1" spc="-10" dirty="0">
                <a:latin typeface="Times New Roman"/>
                <a:cs typeface="Times New Roman"/>
              </a:rPr>
              <a:t>SSRGSP/ELX/2025/2/030</a:t>
            </a:r>
            <a:endParaRPr lang="en-IN" sz="1400" dirty="0">
              <a:latin typeface="Times New Roman"/>
              <a:cs typeface="Times New Roman"/>
            </a:endParaRPr>
          </a:p>
          <a:p>
            <a:pPr algn="l">
              <a:lnSpc>
                <a:spcPct val="100000"/>
              </a:lnSpc>
            </a:pPr>
            <a:r>
              <a:rPr lang="en-US" sz="1400" dirty="0">
                <a:latin typeface="Times New Roman"/>
                <a:cs typeface="Times New Roman"/>
              </a:rPr>
              <a:t>           </a:t>
            </a:r>
            <a:r>
              <a:rPr lang="en-US" sz="1400" b="1" dirty="0">
                <a:latin typeface="Times New Roman"/>
                <a:cs typeface="Times New Roman"/>
              </a:rPr>
              <a:t>Gulshan </a:t>
            </a:r>
            <a:r>
              <a:rPr lang="en-US" sz="1400" b="1" dirty="0" err="1">
                <a:latin typeface="Times New Roman"/>
                <a:cs typeface="Times New Roman"/>
              </a:rPr>
              <a:t>sarathe</a:t>
            </a:r>
            <a:r>
              <a:rPr lang="en-US" sz="1400" b="1" dirty="0">
                <a:latin typeface="Times New Roman"/>
                <a:cs typeface="Times New Roman"/>
              </a:rPr>
              <a:t>     </a:t>
            </a:r>
            <a:r>
              <a:rPr lang="en-IN" sz="1400" b="1" dirty="0">
                <a:latin typeface="Times New Roman"/>
                <a:cs typeface="Times New Roman"/>
              </a:rPr>
              <a:t>- </a:t>
            </a:r>
            <a:r>
              <a:rPr lang="en-IN" sz="1400" b="1" spc="-25" dirty="0">
                <a:latin typeface="Times New Roman"/>
                <a:cs typeface="Times New Roman"/>
              </a:rPr>
              <a:t>      </a:t>
            </a:r>
            <a:r>
              <a:rPr lang="en-IN" sz="1400" b="1" spc="-10" dirty="0">
                <a:latin typeface="Times New Roman"/>
                <a:cs typeface="Times New Roman"/>
              </a:rPr>
              <a:t>SSRGSP/ELX/2025/2/019</a:t>
            </a:r>
          </a:p>
          <a:p>
            <a:pPr algn="l">
              <a:lnSpc>
                <a:spcPct val="100000"/>
              </a:lnSpc>
            </a:pPr>
            <a:r>
              <a:rPr lang="en-IN" sz="1400" b="1" spc="-10" dirty="0">
                <a:latin typeface="Times New Roman"/>
                <a:cs typeface="Times New Roman"/>
              </a:rPr>
              <a:t>           Pankaj </a:t>
            </a:r>
            <a:r>
              <a:rPr lang="en-IN" sz="1400" b="1" spc="-10" dirty="0" err="1">
                <a:latin typeface="Times New Roman"/>
                <a:cs typeface="Times New Roman"/>
              </a:rPr>
              <a:t>gupta</a:t>
            </a:r>
            <a:r>
              <a:rPr lang="en-IN" sz="1400" b="1" spc="-10" dirty="0">
                <a:latin typeface="Times New Roman"/>
                <a:cs typeface="Times New Roman"/>
              </a:rPr>
              <a:t>           </a:t>
            </a:r>
            <a:r>
              <a:rPr lang="en-IN" sz="1400" b="1" dirty="0">
                <a:latin typeface="Times New Roman"/>
                <a:cs typeface="Times New Roman"/>
              </a:rPr>
              <a:t>-      </a:t>
            </a:r>
            <a:r>
              <a:rPr lang="en-IN" sz="1400" b="1" spc="-25" dirty="0">
                <a:latin typeface="Times New Roman"/>
                <a:cs typeface="Times New Roman"/>
              </a:rPr>
              <a:t> </a:t>
            </a:r>
            <a:r>
              <a:rPr lang="en-IN" sz="1400" b="1" spc="-10" dirty="0">
                <a:latin typeface="Times New Roman"/>
                <a:cs typeface="Times New Roman"/>
              </a:rPr>
              <a:t>SSRGSP/ELX/2025/2/036</a:t>
            </a:r>
            <a:endParaRPr sz="1400" dirty="0">
              <a:latin typeface="Times New Roman"/>
              <a:cs typeface="Times New Roman"/>
            </a:endParaRPr>
          </a:p>
          <a:p>
            <a:pPr algn="l">
              <a:lnSpc>
                <a:spcPct val="100000"/>
              </a:lnSpc>
              <a:spcBef>
                <a:spcPts val="280"/>
              </a:spcBef>
            </a:pPr>
            <a:r>
              <a:rPr lang="en-US" sz="1400" b="1" dirty="0">
                <a:latin typeface="Times New Roman"/>
                <a:cs typeface="Times New Roman"/>
              </a:rPr>
              <a:t>           </a:t>
            </a:r>
            <a:r>
              <a:rPr lang="en-US" sz="1400" b="1" dirty="0" err="1">
                <a:latin typeface="Times New Roman"/>
                <a:cs typeface="Times New Roman"/>
              </a:rPr>
              <a:t>Sivraj</a:t>
            </a:r>
            <a:r>
              <a:rPr lang="en-US" sz="1400" b="1" dirty="0">
                <a:latin typeface="Times New Roman"/>
                <a:cs typeface="Times New Roman"/>
              </a:rPr>
              <a:t> </a:t>
            </a:r>
            <a:r>
              <a:rPr lang="en-US" sz="1400" b="1" dirty="0" err="1">
                <a:latin typeface="Times New Roman"/>
                <a:cs typeface="Times New Roman"/>
              </a:rPr>
              <a:t>singh</a:t>
            </a:r>
            <a:r>
              <a:rPr lang="en-US" sz="1400" b="1" dirty="0">
                <a:latin typeface="Times New Roman"/>
                <a:cs typeface="Times New Roman"/>
              </a:rPr>
              <a:t>            </a:t>
            </a:r>
            <a:r>
              <a:rPr lang="en-IN" sz="1400" b="1" dirty="0">
                <a:latin typeface="Times New Roman"/>
                <a:cs typeface="Times New Roman"/>
              </a:rPr>
              <a:t>- </a:t>
            </a:r>
            <a:r>
              <a:rPr lang="en-IN" sz="1400" b="1" spc="-25" dirty="0">
                <a:latin typeface="Times New Roman"/>
                <a:cs typeface="Times New Roman"/>
              </a:rPr>
              <a:t>       </a:t>
            </a:r>
            <a:r>
              <a:rPr lang="en-IN" sz="1400" b="1" spc="-10" dirty="0">
                <a:latin typeface="Times New Roman"/>
                <a:cs typeface="Times New Roman"/>
              </a:rPr>
              <a:t>SSRGSP/ELX/2025/2/045</a:t>
            </a:r>
          </a:p>
          <a:p>
            <a:pPr algn="l">
              <a:lnSpc>
                <a:spcPct val="100000"/>
              </a:lnSpc>
              <a:spcBef>
                <a:spcPts val="280"/>
              </a:spcBef>
            </a:pPr>
            <a:r>
              <a:rPr lang="en-IN" sz="1400" b="1" spc="-10" dirty="0">
                <a:latin typeface="Times New Roman"/>
                <a:cs typeface="Times New Roman"/>
              </a:rPr>
              <a:t>            Akash </a:t>
            </a:r>
            <a:r>
              <a:rPr lang="en-IN" sz="1400" b="1" spc="-10" dirty="0" err="1">
                <a:latin typeface="Times New Roman"/>
                <a:cs typeface="Times New Roman"/>
              </a:rPr>
              <a:t>sharma</a:t>
            </a:r>
            <a:r>
              <a:rPr lang="en-IN" sz="1400" b="1" spc="-10" dirty="0">
                <a:latin typeface="Times New Roman"/>
                <a:cs typeface="Times New Roman"/>
              </a:rPr>
              <a:t>        </a:t>
            </a:r>
            <a:r>
              <a:rPr lang="en-IN" sz="1400" b="1" dirty="0">
                <a:latin typeface="Times New Roman"/>
                <a:cs typeface="Times New Roman"/>
              </a:rPr>
              <a:t>-      </a:t>
            </a:r>
            <a:r>
              <a:rPr lang="en-IN" sz="1400" b="1" spc="-25" dirty="0">
                <a:latin typeface="Times New Roman"/>
                <a:cs typeface="Times New Roman"/>
              </a:rPr>
              <a:t>  </a:t>
            </a:r>
            <a:r>
              <a:rPr lang="en-IN" sz="1400" b="1" spc="-10" dirty="0">
                <a:latin typeface="Times New Roman"/>
                <a:cs typeface="Times New Roman"/>
              </a:rPr>
              <a:t>SSRGSP/ELX/2025/2/001</a:t>
            </a:r>
          </a:p>
          <a:p>
            <a:pPr>
              <a:lnSpc>
                <a:spcPct val="100000"/>
              </a:lnSpc>
              <a:spcBef>
                <a:spcPts val="280"/>
              </a:spcBef>
            </a:pPr>
            <a:r>
              <a:rPr lang="en-US" sz="1400" dirty="0">
                <a:latin typeface="Times New Roman"/>
                <a:cs typeface="Times New Roman"/>
              </a:rPr>
              <a:t>            </a:t>
            </a:r>
            <a:r>
              <a:rPr lang="en-US" sz="1400" b="1" dirty="0" err="1">
                <a:latin typeface="Times New Roman"/>
                <a:cs typeface="Times New Roman"/>
              </a:rPr>
              <a:t>Dhun</a:t>
            </a:r>
            <a:r>
              <a:rPr lang="en-US" sz="1400" b="1" dirty="0">
                <a:latin typeface="Times New Roman"/>
                <a:cs typeface="Times New Roman"/>
              </a:rPr>
              <a:t> </a:t>
            </a:r>
            <a:r>
              <a:rPr lang="en-US" sz="1400" b="1" dirty="0" err="1">
                <a:latin typeface="Times New Roman"/>
                <a:cs typeface="Times New Roman"/>
              </a:rPr>
              <a:t>singh</a:t>
            </a:r>
            <a:r>
              <a:rPr lang="en-US" sz="1400" b="1" dirty="0">
                <a:latin typeface="Times New Roman"/>
                <a:cs typeface="Times New Roman"/>
              </a:rPr>
              <a:t> thakur </a:t>
            </a:r>
            <a:r>
              <a:rPr lang="en-IN" sz="1400" b="1" dirty="0">
                <a:latin typeface="Times New Roman"/>
                <a:cs typeface="Times New Roman"/>
              </a:rPr>
              <a:t>-</a:t>
            </a:r>
            <a:r>
              <a:rPr lang="en-IN" sz="1400" b="1" spc="-25" dirty="0">
                <a:latin typeface="Times New Roman"/>
                <a:cs typeface="Times New Roman"/>
              </a:rPr>
              <a:t>        </a:t>
            </a:r>
            <a:r>
              <a:rPr lang="en-IN" sz="1400" b="1" spc="-10" dirty="0">
                <a:latin typeface="Times New Roman"/>
                <a:cs typeface="Times New Roman"/>
              </a:rPr>
              <a:t>SSRGSP/ELX/2025/2/016</a:t>
            </a:r>
            <a:endParaRPr sz="1400" b="1" dirty="0">
              <a:latin typeface="Times New Roman"/>
              <a:cs typeface="Times New Roman"/>
            </a:endParaRPr>
          </a:p>
          <a:p>
            <a:pPr algn="ctr">
              <a:lnSpc>
                <a:spcPct val="100000"/>
              </a:lnSpc>
            </a:pPr>
            <a:r>
              <a:rPr lang="en-US" sz="1600" b="1" dirty="0">
                <a:latin typeface="Times New Roman"/>
                <a:cs typeface="Times New Roman"/>
              </a:rPr>
              <a:t>   </a:t>
            </a:r>
            <a:r>
              <a:rPr sz="1600" b="1" u="sng" dirty="0">
                <a:latin typeface="Times New Roman"/>
                <a:cs typeface="Times New Roman"/>
              </a:rPr>
              <a:t>Submitted</a:t>
            </a:r>
            <a:r>
              <a:rPr sz="1600" b="1" u="sng" spc="-80" dirty="0">
                <a:latin typeface="Times New Roman"/>
                <a:cs typeface="Times New Roman"/>
              </a:rPr>
              <a:t> </a:t>
            </a:r>
            <a:r>
              <a:rPr sz="1600" b="1" u="sng" spc="-25" dirty="0">
                <a:latin typeface="Times New Roman"/>
                <a:cs typeface="Times New Roman"/>
              </a:rPr>
              <a:t>to</a:t>
            </a:r>
            <a:r>
              <a:rPr lang="en-US" sz="1600" b="1" u="sng" spc="-25" dirty="0">
                <a:latin typeface="Times New Roman"/>
                <a:cs typeface="Times New Roman"/>
              </a:rPr>
              <a:t> :</a:t>
            </a:r>
            <a:endParaRPr sz="1600" u="sng" dirty="0">
              <a:latin typeface="Times New Roman"/>
              <a:cs typeface="Times New Roman"/>
            </a:endParaRPr>
          </a:p>
        </p:txBody>
      </p:sp>
      <p:sp>
        <p:nvSpPr>
          <p:cNvPr id="4" name="object 4"/>
          <p:cNvSpPr txBox="1"/>
          <p:nvPr/>
        </p:nvSpPr>
        <p:spPr>
          <a:xfrm>
            <a:off x="709656" y="8467720"/>
            <a:ext cx="2744751" cy="906915"/>
          </a:xfrm>
          <a:prstGeom prst="rect">
            <a:avLst/>
          </a:prstGeom>
        </p:spPr>
        <p:txBody>
          <a:bodyPr vert="horz" wrap="square" lIns="0" tIns="105410" rIns="0" bIns="0" rtlCol="0">
            <a:spAutoFit/>
          </a:bodyPr>
          <a:lstStyle/>
          <a:p>
            <a:pPr marL="12700">
              <a:lnSpc>
                <a:spcPct val="100000"/>
              </a:lnSpc>
              <a:spcBef>
                <a:spcPts val="830"/>
              </a:spcBef>
            </a:pPr>
            <a:r>
              <a:rPr sz="1400" b="1" dirty="0">
                <a:latin typeface="Times New Roman"/>
                <a:cs typeface="Times New Roman"/>
              </a:rPr>
              <a:t>Guided</a:t>
            </a:r>
            <a:r>
              <a:rPr sz="1400" b="1" spc="-15" dirty="0">
                <a:latin typeface="Times New Roman"/>
                <a:cs typeface="Times New Roman"/>
              </a:rPr>
              <a:t> </a:t>
            </a:r>
            <a:r>
              <a:rPr sz="1400" b="1" dirty="0">
                <a:latin typeface="Times New Roman"/>
                <a:cs typeface="Times New Roman"/>
              </a:rPr>
              <a:t>by:</a:t>
            </a:r>
            <a:r>
              <a:rPr sz="1400" b="1" spc="-15" dirty="0">
                <a:latin typeface="Times New Roman"/>
                <a:cs typeface="Times New Roman"/>
              </a:rPr>
              <a:t> </a:t>
            </a:r>
            <a:r>
              <a:rPr sz="1400" b="1" dirty="0">
                <a:latin typeface="Times New Roman"/>
                <a:cs typeface="Times New Roman"/>
              </a:rPr>
              <a:t>-</a:t>
            </a:r>
            <a:r>
              <a:rPr sz="1400" b="1" spc="-15" dirty="0">
                <a:latin typeface="Times New Roman"/>
                <a:cs typeface="Times New Roman"/>
              </a:rPr>
              <a:t> </a:t>
            </a:r>
            <a:r>
              <a:rPr sz="1400" b="1" dirty="0">
                <a:latin typeface="Times New Roman"/>
                <a:cs typeface="Times New Roman"/>
              </a:rPr>
              <a:t>Mr.</a:t>
            </a:r>
            <a:r>
              <a:rPr sz="1400" b="1" spc="-15" dirty="0">
                <a:latin typeface="Times New Roman"/>
                <a:cs typeface="Times New Roman"/>
              </a:rPr>
              <a:t> </a:t>
            </a:r>
            <a:r>
              <a:rPr lang="en-US" sz="1400" b="1" spc="-15" dirty="0">
                <a:latin typeface="Times New Roman"/>
                <a:cs typeface="Times New Roman"/>
              </a:rPr>
              <a:t>Gaurav Sharma</a:t>
            </a:r>
            <a:endParaRPr sz="1400" dirty="0">
              <a:latin typeface="Times New Roman"/>
              <a:cs typeface="Times New Roman"/>
            </a:endParaRPr>
          </a:p>
          <a:p>
            <a:pPr marL="12700" marR="518795">
              <a:lnSpc>
                <a:spcPct val="143600"/>
              </a:lnSpc>
            </a:pPr>
            <a:r>
              <a:rPr sz="1400" dirty="0">
                <a:latin typeface="Times New Roman"/>
                <a:cs typeface="Times New Roman"/>
              </a:rPr>
              <a:t>Trainer</a:t>
            </a:r>
            <a:r>
              <a:rPr sz="1400" spc="-25" dirty="0">
                <a:latin typeface="Times New Roman"/>
                <a:cs typeface="Times New Roman"/>
              </a:rPr>
              <a:t> </a:t>
            </a:r>
            <a:r>
              <a:rPr sz="1400" dirty="0">
                <a:latin typeface="Times New Roman"/>
                <a:cs typeface="Times New Roman"/>
              </a:rPr>
              <a:t>(ELX</a:t>
            </a:r>
            <a:r>
              <a:rPr sz="1400" spc="-15" dirty="0">
                <a:latin typeface="Times New Roman"/>
                <a:cs typeface="Times New Roman"/>
              </a:rPr>
              <a:t> </a:t>
            </a:r>
            <a:r>
              <a:rPr sz="1400" spc="-10" dirty="0">
                <a:latin typeface="Times New Roman"/>
                <a:cs typeface="Times New Roman"/>
              </a:rPr>
              <a:t>Dept.) </a:t>
            </a:r>
            <a:r>
              <a:rPr sz="1400" dirty="0">
                <a:latin typeface="Times New Roman"/>
                <a:cs typeface="Times New Roman"/>
              </a:rPr>
              <a:t>SSRGSP</a:t>
            </a:r>
            <a:r>
              <a:rPr sz="1400" spc="-40" dirty="0">
                <a:latin typeface="Times New Roman"/>
                <a:cs typeface="Times New Roman"/>
              </a:rPr>
              <a:t> </a:t>
            </a:r>
            <a:r>
              <a:rPr sz="1400" dirty="0">
                <a:latin typeface="Times New Roman"/>
                <a:cs typeface="Times New Roman"/>
              </a:rPr>
              <a:t>Bhopal</a:t>
            </a:r>
            <a:r>
              <a:rPr sz="1400" spc="-25" dirty="0">
                <a:latin typeface="Times New Roman"/>
                <a:cs typeface="Times New Roman"/>
              </a:rPr>
              <a:t> </a:t>
            </a:r>
            <a:r>
              <a:rPr sz="1400" spc="-10" dirty="0">
                <a:latin typeface="Times New Roman"/>
                <a:cs typeface="Times New Roman"/>
              </a:rPr>
              <a:t>[M.P.]</a:t>
            </a:r>
            <a:endParaRPr sz="1400" dirty="0">
              <a:latin typeface="Times New Roman"/>
              <a:cs typeface="Times New Roman"/>
            </a:endParaRPr>
          </a:p>
        </p:txBody>
      </p:sp>
      <p:sp>
        <p:nvSpPr>
          <p:cNvPr id="5" name="object 5"/>
          <p:cNvSpPr txBox="1"/>
          <p:nvPr/>
        </p:nvSpPr>
        <p:spPr>
          <a:xfrm>
            <a:off x="4804154" y="8510790"/>
            <a:ext cx="1896110" cy="944880"/>
          </a:xfrm>
          <a:prstGeom prst="rect">
            <a:avLst/>
          </a:prstGeom>
        </p:spPr>
        <p:txBody>
          <a:bodyPr vert="horz" wrap="square" lIns="0" tIns="12065" rIns="0" bIns="0" rtlCol="0">
            <a:spAutoFit/>
          </a:bodyPr>
          <a:lstStyle/>
          <a:p>
            <a:pPr marL="12700" marR="5080" indent="1270">
              <a:lnSpc>
                <a:spcPct val="143600"/>
              </a:lnSpc>
              <a:spcBef>
                <a:spcPts val="95"/>
              </a:spcBef>
            </a:pPr>
            <a:r>
              <a:rPr sz="1400" b="1" dirty="0">
                <a:latin typeface="Times New Roman"/>
                <a:cs typeface="Times New Roman"/>
              </a:rPr>
              <a:t>MR.</a:t>
            </a:r>
            <a:r>
              <a:rPr sz="1400" b="1" spc="-15" dirty="0">
                <a:latin typeface="Times New Roman"/>
                <a:cs typeface="Times New Roman"/>
              </a:rPr>
              <a:t> </a:t>
            </a:r>
            <a:r>
              <a:rPr sz="1400" b="1" dirty="0">
                <a:latin typeface="Times New Roman"/>
                <a:cs typeface="Times New Roman"/>
              </a:rPr>
              <a:t>Alok</a:t>
            </a:r>
            <a:r>
              <a:rPr sz="1400" b="1" spc="-15" dirty="0">
                <a:latin typeface="Times New Roman"/>
                <a:cs typeface="Times New Roman"/>
              </a:rPr>
              <a:t> </a:t>
            </a:r>
            <a:r>
              <a:rPr sz="1400" b="1" spc="-10" dirty="0">
                <a:latin typeface="Times New Roman"/>
                <a:cs typeface="Times New Roman"/>
              </a:rPr>
              <a:t>Ranjan</a:t>
            </a:r>
            <a:r>
              <a:rPr sz="1400" b="1" spc="500" dirty="0">
                <a:latin typeface="Times New Roman"/>
                <a:cs typeface="Times New Roman"/>
              </a:rPr>
              <a:t> </a:t>
            </a:r>
            <a:r>
              <a:rPr sz="1400" dirty="0">
                <a:latin typeface="Times New Roman"/>
                <a:cs typeface="Times New Roman"/>
              </a:rPr>
              <a:t>Course</a:t>
            </a:r>
            <a:r>
              <a:rPr sz="1400" spc="-35" dirty="0">
                <a:latin typeface="Times New Roman"/>
                <a:cs typeface="Times New Roman"/>
              </a:rPr>
              <a:t> </a:t>
            </a:r>
            <a:r>
              <a:rPr sz="1400" dirty="0">
                <a:latin typeface="Times New Roman"/>
                <a:cs typeface="Times New Roman"/>
              </a:rPr>
              <a:t>Head</a:t>
            </a:r>
            <a:r>
              <a:rPr sz="1400" spc="-15" dirty="0">
                <a:latin typeface="Times New Roman"/>
                <a:cs typeface="Times New Roman"/>
              </a:rPr>
              <a:t> </a:t>
            </a:r>
            <a:r>
              <a:rPr sz="1400" dirty="0">
                <a:latin typeface="Times New Roman"/>
                <a:cs typeface="Times New Roman"/>
              </a:rPr>
              <a:t>(ELX</a:t>
            </a:r>
            <a:r>
              <a:rPr sz="1400" spc="-25" dirty="0">
                <a:latin typeface="Times New Roman"/>
                <a:cs typeface="Times New Roman"/>
              </a:rPr>
              <a:t> </a:t>
            </a:r>
            <a:r>
              <a:rPr sz="1400" spc="-10" dirty="0">
                <a:latin typeface="Times New Roman"/>
                <a:cs typeface="Times New Roman"/>
              </a:rPr>
              <a:t>Dept.) </a:t>
            </a:r>
            <a:r>
              <a:rPr sz="1400" dirty="0">
                <a:latin typeface="Times New Roman"/>
                <a:cs typeface="Times New Roman"/>
              </a:rPr>
              <a:t>SSRGSP</a:t>
            </a:r>
            <a:r>
              <a:rPr sz="1400" spc="-25" dirty="0">
                <a:latin typeface="Times New Roman"/>
                <a:cs typeface="Times New Roman"/>
              </a:rPr>
              <a:t> </a:t>
            </a:r>
            <a:r>
              <a:rPr sz="1400" dirty="0">
                <a:latin typeface="Times New Roman"/>
                <a:cs typeface="Times New Roman"/>
              </a:rPr>
              <a:t>Bhopal</a:t>
            </a:r>
            <a:r>
              <a:rPr sz="1400" spc="-15" dirty="0">
                <a:latin typeface="Times New Roman"/>
                <a:cs typeface="Times New Roman"/>
              </a:rPr>
              <a:t> </a:t>
            </a:r>
            <a:r>
              <a:rPr sz="1400" spc="-10" dirty="0">
                <a:latin typeface="Times New Roman"/>
                <a:cs typeface="Times New Roman"/>
              </a:rPr>
              <a:t>[M.P.]</a:t>
            </a:r>
            <a:endParaRPr sz="1400" dirty="0">
              <a:latin typeface="Times New Roman"/>
              <a:cs typeface="Times New Roman"/>
            </a:endParaRPr>
          </a:p>
        </p:txBody>
      </p:sp>
      <p:sp>
        <p:nvSpPr>
          <p:cNvPr id="6" name="object 6"/>
          <p:cNvSpPr txBox="1"/>
          <p:nvPr/>
        </p:nvSpPr>
        <p:spPr>
          <a:xfrm>
            <a:off x="513442" y="9723120"/>
            <a:ext cx="132080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DATE:</a:t>
            </a:r>
            <a:r>
              <a:rPr sz="1200" b="1" spc="-15" dirty="0">
                <a:latin typeface="Times New Roman"/>
                <a:cs typeface="Times New Roman"/>
              </a:rPr>
              <a:t> </a:t>
            </a:r>
            <a:r>
              <a:rPr sz="1200" b="1" dirty="0">
                <a:latin typeface="Times New Roman"/>
                <a:cs typeface="Times New Roman"/>
              </a:rPr>
              <a:t>-</a:t>
            </a:r>
            <a:r>
              <a:rPr sz="1200" b="1" spc="-15" dirty="0">
                <a:latin typeface="Times New Roman"/>
                <a:cs typeface="Times New Roman"/>
              </a:rPr>
              <a:t> </a:t>
            </a:r>
            <a:r>
              <a:rPr sz="1200" b="1" spc="-10" dirty="0">
                <a:latin typeface="Times New Roman"/>
                <a:cs typeface="Times New Roman"/>
              </a:rPr>
              <a:t>02/03/2026</a:t>
            </a:r>
            <a:endParaRPr sz="1200">
              <a:latin typeface="Times New Roman"/>
              <a:cs typeface="Times New Roman"/>
            </a:endParaRPr>
          </a:p>
        </p:txBody>
      </p:sp>
      <p:pic>
        <p:nvPicPr>
          <p:cNvPr id="7" name="object 7"/>
          <p:cNvPicPr/>
          <p:nvPr/>
        </p:nvPicPr>
        <p:blipFill>
          <a:blip r:embed="rId2" cstate="print"/>
          <a:stretch>
            <a:fillRect/>
          </a:stretch>
        </p:blipFill>
        <p:spPr>
          <a:xfrm>
            <a:off x="3454408" y="1710435"/>
            <a:ext cx="681211" cy="674751"/>
          </a:xfrm>
          <a:prstGeom prst="rect">
            <a:avLst/>
          </a:prstGeom>
        </p:spPr>
      </p:pic>
      <p:sp>
        <p:nvSpPr>
          <p:cNvPr id="8" name="object 8"/>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4086" y="1043225"/>
            <a:ext cx="1941196" cy="391159"/>
          </a:xfrm>
          <a:prstGeom prst="rect">
            <a:avLst/>
          </a:prstGeom>
        </p:spPr>
        <p:txBody>
          <a:bodyPr vert="horz" wrap="square" lIns="0" tIns="12700" rIns="0" bIns="0" rtlCol="0">
            <a:spAutoFit/>
          </a:bodyPr>
          <a:lstStyle/>
          <a:p>
            <a:pPr marL="12700" algn="just">
              <a:lnSpc>
                <a:spcPct val="100000"/>
              </a:lnSpc>
              <a:spcBef>
                <a:spcPts val="100"/>
              </a:spcBef>
            </a:pPr>
            <a:r>
              <a:rPr spc="-10" dirty="0"/>
              <a:t>INDEX</a:t>
            </a:r>
          </a:p>
        </p:txBody>
      </p:sp>
      <p:sp>
        <p:nvSpPr>
          <p:cNvPr id="3" name="object 3"/>
          <p:cNvSpPr txBox="1"/>
          <p:nvPr/>
        </p:nvSpPr>
        <p:spPr>
          <a:xfrm>
            <a:off x="970584" y="1756918"/>
            <a:ext cx="953769" cy="228268"/>
          </a:xfrm>
          <a:prstGeom prst="rect">
            <a:avLst/>
          </a:prstGeom>
        </p:spPr>
        <p:txBody>
          <a:bodyPr vert="horz" wrap="square" lIns="0" tIns="12700" rIns="0" bIns="0" rtlCol="0">
            <a:spAutoFit/>
          </a:bodyPr>
          <a:lstStyle/>
          <a:p>
            <a:pPr marL="12700">
              <a:lnSpc>
                <a:spcPct val="100000"/>
              </a:lnSpc>
              <a:spcBef>
                <a:spcPts val="100"/>
              </a:spcBef>
            </a:pPr>
            <a:r>
              <a:rPr lang="en-IN" sz="1400" spc="-10" dirty="0">
                <a:latin typeface="Times New Roman"/>
                <a:cs typeface="Times New Roman"/>
              </a:rPr>
              <a:t>ATBSTRAC</a:t>
            </a:r>
            <a:endParaRPr sz="1400" dirty="0">
              <a:latin typeface="Times New Roman"/>
              <a:cs typeface="Times New Roman"/>
            </a:endParaRPr>
          </a:p>
        </p:txBody>
      </p:sp>
      <p:sp>
        <p:nvSpPr>
          <p:cNvPr id="4" name="object 4"/>
          <p:cNvSpPr/>
          <p:nvPr/>
        </p:nvSpPr>
        <p:spPr>
          <a:xfrm>
            <a:off x="1912873" y="1907966"/>
            <a:ext cx="3552190" cy="0"/>
          </a:xfrm>
          <a:custGeom>
            <a:avLst/>
            <a:gdLst/>
            <a:ahLst/>
            <a:cxnLst/>
            <a:rect l="l" t="t" r="r" b="b"/>
            <a:pathLst>
              <a:path w="3552190">
                <a:moveTo>
                  <a:pt x="0" y="0"/>
                </a:moveTo>
                <a:lnTo>
                  <a:pt x="3551896" y="0"/>
                </a:lnTo>
              </a:path>
            </a:pathLst>
          </a:custGeom>
          <a:ln w="13158">
            <a:solidFill>
              <a:srgbClr val="000000"/>
            </a:solidFill>
            <a:prstDash val="dash"/>
          </a:ln>
        </p:spPr>
        <p:txBody>
          <a:bodyPr wrap="square" lIns="0" tIns="0" rIns="0" bIns="0" rtlCol="0"/>
          <a:lstStyle/>
          <a:p>
            <a:endParaRPr/>
          </a:p>
        </p:txBody>
      </p:sp>
      <p:sp>
        <p:nvSpPr>
          <p:cNvPr id="5" name="object 5"/>
          <p:cNvSpPr txBox="1"/>
          <p:nvPr/>
        </p:nvSpPr>
        <p:spPr>
          <a:xfrm>
            <a:off x="5648705" y="1756918"/>
            <a:ext cx="160655"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Times New Roman"/>
                <a:cs typeface="Times New Roman"/>
              </a:rPr>
              <a:t>3.</a:t>
            </a:r>
            <a:endParaRPr sz="1400">
              <a:latin typeface="Times New Roman"/>
              <a:cs typeface="Times New Roman"/>
            </a:endParaRPr>
          </a:p>
        </p:txBody>
      </p:sp>
      <p:sp>
        <p:nvSpPr>
          <p:cNvPr id="6" name="object 6"/>
          <p:cNvSpPr txBox="1"/>
          <p:nvPr/>
        </p:nvSpPr>
        <p:spPr>
          <a:xfrm>
            <a:off x="970584" y="2186685"/>
            <a:ext cx="1911350" cy="239395"/>
          </a:xfrm>
          <a:prstGeom prst="rect">
            <a:avLst/>
          </a:prstGeom>
        </p:spPr>
        <p:txBody>
          <a:bodyPr vert="horz" wrap="square" lIns="0" tIns="12700" rIns="0" bIns="0" rtlCol="0">
            <a:spAutoFit/>
          </a:bodyPr>
          <a:lstStyle/>
          <a:p>
            <a:pPr marL="12700">
              <a:lnSpc>
                <a:spcPct val="100000"/>
              </a:lnSpc>
              <a:spcBef>
                <a:spcPts val="100"/>
              </a:spcBef>
            </a:pPr>
            <a:r>
              <a:rPr sz="1400" spc="-10" dirty="0">
                <a:latin typeface="Times New Roman"/>
                <a:cs typeface="Times New Roman"/>
              </a:rPr>
              <a:t>ACKNOWLEDGEMENT</a:t>
            </a:r>
            <a:endParaRPr sz="1400">
              <a:latin typeface="Times New Roman"/>
              <a:cs typeface="Times New Roman"/>
            </a:endParaRPr>
          </a:p>
        </p:txBody>
      </p:sp>
      <p:sp>
        <p:nvSpPr>
          <p:cNvPr id="7" name="object 7"/>
          <p:cNvSpPr/>
          <p:nvPr/>
        </p:nvSpPr>
        <p:spPr>
          <a:xfrm>
            <a:off x="2871851" y="2337734"/>
            <a:ext cx="2604770" cy="0"/>
          </a:xfrm>
          <a:custGeom>
            <a:avLst/>
            <a:gdLst/>
            <a:ahLst/>
            <a:cxnLst/>
            <a:rect l="l" t="t" r="r" b="b"/>
            <a:pathLst>
              <a:path w="2604770">
                <a:moveTo>
                  <a:pt x="0" y="0"/>
                </a:moveTo>
                <a:lnTo>
                  <a:pt x="2604189" y="0"/>
                </a:lnTo>
              </a:path>
            </a:pathLst>
          </a:custGeom>
          <a:ln w="13158">
            <a:solidFill>
              <a:srgbClr val="000000"/>
            </a:solidFill>
            <a:prstDash val="dash"/>
          </a:ln>
        </p:spPr>
        <p:txBody>
          <a:bodyPr wrap="square" lIns="0" tIns="0" rIns="0" bIns="0" rtlCol="0"/>
          <a:lstStyle/>
          <a:p>
            <a:endParaRPr/>
          </a:p>
        </p:txBody>
      </p:sp>
      <p:sp>
        <p:nvSpPr>
          <p:cNvPr id="8" name="object 8"/>
          <p:cNvSpPr txBox="1"/>
          <p:nvPr/>
        </p:nvSpPr>
        <p:spPr>
          <a:xfrm>
            <a:off x="5648705" y="2186685"/>
            <a:ext cx="160655"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Times New Roman"/>
                <a:cs typeface="Times New Roman"/>
              </a:rPr>
              <a:t>4.</a:t>
            </a:r>
            <a:endParaRPr sz="1400">
              <a:latin typeface="Times New Roman"/>
              <a:cs typeface="Times New Roman"/>
            </a:endParaRPr>
          </a:p>
        </p:txBody>
      </p:sp>
      <p:sp>
        <p:nvSpPr>
          <p:cNvPr id="9" name="object 9"/>
          <p:cNvSpPr txBox="1"/>
          <p:nvPr/>
        </p:nvSpPr>
        <p:spPr>
          <a:xfrm>
            <a:off x="937056" y="2616454"/>
            <a:ext cx="1596390"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1.</a:t>
            </a:r>
            <a:r>
              <a:rPr sz="1400" spc="395" dirty="0">
                <a:latin typeface="Times New Roman"/>
                <a:cs typeface="Times New Roman"/>
              </a:rPr>
              <a:t> </a:t>
            </a:r>
            <a:r>
              <a:rPr sz="1400" spc="-10" dirty="0">
                <a:latin typeface="Times New Roman"/>
                <a:cs typeface="Times New Roman"/>
              </a:rPr>
              <a:t>INTRODUCTION</a:t>
            </a:r>
            <a:endParaRPr sz="1400">
              <a:latin typeface="Times New Roman"/>
              <a:cs typeface="Times New Roman"/>
            </a:endParaRPr>
          </a:p>
        </p:txBody>
      </p:sp>
      <p:sp>
        <p:nvSpPr>
          <p:cNvPr id="10" name="object 10"/>
          <p:cNvSpPr/>
          <p:nvPr/>
        </p:nvSpPr>
        <p:spPr>
          <a:xfrm>
            <a:off x="2522854" y="2767502"/>
            <a:ext cx="2961005" cy="0"/>
          </a:xfrm>
          <a:custGeom>
            <a:avLst/>
            <a:gdLst/>
            <a:ahLst/>
            <a:cxnLst/>
            <a:rect l="l" t="t" r="r" b="b"/>
            <a:pathLst>
              <a:path w="2961004">
                <a:moveTo>
                  <a:pt x="0" y="0"/>
                </a:moveTo>
                <a:lnTo>
                  <a:pt x="2960447" y="0"/>
                </a:lnTo>
              </a:path>
            </a:pathLst>
          </a:custGeom>
          <a:ln w="13158">
            <a:solidFill>
              <a:srgbClr val="000000"/>
            </a:solidFill>
            <a:prstDash val="dash"/>
          </a:ln>
        </p:spPr>
        <p:txBody>
          <a:bodyPr wrap="square" lIns="0" tIns="0" rIns="0" bIns="0" rtlCol="0"/>
          <a:lstStyle/>
          <a:p>
            <a:endParaRPr/>
          </a:p>
        </p:txBody>
      </p:sp>
      <p:sp>
        <p:nvSpPr>
          <p:cNvPr id="11" name="object 11"/>
          <p:cNvSpPr txBox="1"/>
          <p:nvPr/>
        </p:nvSpPr>
        <p:spPr>
          <a:xfrm>
            <a:off x="5648705" y="2616454"/>
            <a:ext cx="160655"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Times New Roman"/>
                <a:cs typeface="Times New Roman"/>
              </a:rPr>
              <a:t>5.</a:t>
            </a:r>
            <a:endParaRPr sz="1400">
              <a:latin typeface="Times New Roman"/>
              <a:cs typeface="Times New Roman"/>
            </a:endParaRPr>
          </a:p>
        </p:txBody>
      </p:sp>
      <p:sp>
        <p:nvSpPr>
          <p:cNvPr id="12" name="object 12"/>
          <p:cNvSpPr txBox="1"/>
          <p:nvPr/>
        </p:nvSpPr>
        <p:spPr>
          <a:xfrm>
            <a:off x="937056" y="3046602"/>
            <a:ext cx="120205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2.</a:t>
            </a:r>
            <a:r>
              <a:rPr sz="1400" spc="395" dirty="0">
                <a:latin typeface="Times New Roman"/>
                <a:cs typeface="Times New Roman"/>
              </a:rPr>
              <a:t> </a:t>
            </a:r>
            <a:r>
              <a:rPr sz="1400" spc="-10" dirty="0">
                <a:latin typeface="Times New Roman"/>
                <a:cs typeface="Times New Roman"/>
              </a:rPr>
              <a:t>OBJECTIVE</a:t>
            </a:r>
            <a:endParaRPr sz="1400">
              <a:latin typeface="Times New Roman"/>
              <a:cs typeface="Times New Roman"/>
            </a:endParaRPr>
          </a:p>
        </p:txBody>
      </p:sp>
      <p:sp>
        <p:nvSpPr>
          <p:cNvPr id="13" name="object 13"/>
          <p:cNvSpPr/>
          <p:nvPr/>
        </p:nvSpPr>
        <p:spPr>
          <a:xfrm>
            <a:off x="2127757" y="3197651"/>
            <a:ext cx="3375025" cy="0"/>
          </a:xfrm>
          <a:custGeom>
            <a:avLst/>
            <a:gdLst/>
            <a:ahLst/>
            <a:cxnLst/>
            <a:rect l="l" t="t" r="r" b="b"/>
            <a:pathLst>
              <a:path w="3375025">
                <a:moveTo>
                  <a:pt x="0" y="0"/>
                </a:moveTo>
                <a:lnTo>
                  <a:pt x="3375013" y="0"/>
                </a:lnTo>
              </a:path>
            </a:pathLst>
          </a:custGeom>
          <a:ln w="13158">
            <a:solidFill>
              <a:srgbClr val="000000"/>
            </a:solidFill>
            <a:prstDash val="dash"/>
          </a:ln>
        </p:spPr>
        <p:txBody>
          <a:bodyPr wrap="square" lIns="0" tIns="0" rIns="0" bIns="0" rtlCol="0"/>
          <a:lstStyle/>
          <a:p>
            <a:endParaRPr/>
          </a:p>
        </p:txBody>
      </p:sp>
      <p:sp>
        <p:nvSpPr>
          <p:cNvPr id="14" name="object 14"/>
          <p:cNvSpPr txBox="1"/>
          <p:nvPr/>
        </p:nvSpPr>
        <p:spPr>
          <a:xfrm>
            <a:off x="5648705" y="3046602"/>
            <a:ext cx="160655"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Times New Roman"/>
                <a:cs typeface="Times New Roman"/>
              </a:rPr>
              <a:t>6.</a:t>
            </a:r>
            <a:endParaRPr sz="1400">
              <a:latin typeface="Times New Roman"/>
              <a:cs typeface="Times New Roman"/>
            </a:endParaRPr>
          </a:p>
        </p:txBody>
      </p:sp>
      <p:sp>
        <p:nvSpPr>
          <p:cNvPr id="15" name="object 15"/>
          <p:cNvSpPr txBox="1"/>
          <p:nvPr/>
        </p:nvSpPr>
        <p:spPr>
          <a:xfrm>
            <a:off x="937056" y="3465702"/>
            <a:ext cx="1637030"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3.</a:t>
            </a:r>
            <a:r>
              <a:rPr sz="1400" spc="395" dirty="0">
                <a:latin typeface="Times New Roman"/>
                <a:cs typeface="Times New Roman"/>
              </a:rPr>
              <a:t> </a:t>
            </a:r>
            <a:r>
              <a:rPr sz="1400" spc="-10" dirty="0">
                <a:latin typeface="Times New Roman"/>
                <a:cs typeface="Times New Roman"/>
              </a:rPr>
              <a:t>METHODOLOGY</a:t>
            </a:r>
            <a:endParaRPr sz="1400">
              <a:latin typeface="Times New Roman"/>
              <a:cs typeface="Times New Roman"/>
            </a:endParaRPr>
          </a:p>
        </p:txBody>
      </p:sp>
      <p:sp>
        <p:nvSpPr>
          <p:cNvPr id="16" name="object 16"/>
          <p:cNvSpPr/>
          <p:nvPr/>
        </p:nvSpPr>
        <p:spPr>
          <a:xfrm>
            <a:off x="2562479" y="3616751"/>
            <a:ext cx="2961005" cy="0"/>
          </a:xfrm>
          <a:custGeom>
            <a:avLst/>
            <a:gdLst/>
            <a:ahLst/>
            <a:cxnLst/>
            <a:rect l="l" t="t" r="r" b="b"/>
            <a:pathLst>
              <a:path w="2961004">
                <a:moveTo>
                  <a:pt x="0" y="0"/>
                </a:moveTo>
                <a:lnTo>
                  <a:pt x="2960447" y="0"/>
                </a:lnTo>
              </a:path>
            </a:pathLst>
          </a:custGeom>
          <a:ln w="13158">
            <a:solidFill>
              <a:srgbClr val="000000"/>
            </a:solidFill>
            <a:prstDash val="dash"/>
          </a:ln>
        </p:spPr>
        <p:txBody>
          <a:bodyPr wrap="square" lIns="0" tIns="0" rIns="0" bIns="0" rtlCol="0"/>
          <a:lstStyle/>
          <a:p>
            <a:endParaRPr/>
          </a:p>
        </p:txBody>
      </p:sp>
      <p:sp>
        <p:nvSpPr>
          <p:cNvPr id="17" name="object 17"/>
          <p:cNvSpPr/>
          <p:nvPr/>
        </p:nvSpPr>
        <p:spPr>
          <a:xfrm>
            <a:off x="2577719" y="3967271"/>
            <a:ext cx="2901315" cy="0"/>
          </a:xfrm>
          <a:custGeom>
            <a:avLst/>
            <a:gdLst/>
            <a:ahLst/>
            <a:cxnLst/>
            <a:rect l="l" t="t" r="r" b="b"/>
            <a:pathLst>
              <a:path w="2901315">
                <a:moveTo>
                  <a:pt x="0" y="0"/>
                </a:moveTo>
                <a:lnTo>
                  <a:pt x="2901071" y="0"/>
                </a:lnTo>
              </a:path>
            </a:pathLst>
          </a:custGeom>
          <a:ln w="13158">
            <a:solidFill>
              <a:srgbClr val="000000"/>
            </a:solidFill>
            <a:prstDash val="dash"/>
          </a:ln>
        </p:spPr>
        <p:txBody>
          <a:bodyPr wrap="square" lIns="0" tIns="0" rIns="0" bIns="0" rtlCol="0"/>
          <a:lstStyle/>
          <a:p>
            <a:endParaRPr/>
          </a:p>
        </p:txBody>
      </p:sp>
      <p:sp>
        <p:nvSpPr>
          <p:cNvPr id="18" name="object 18"/>
          <p:cNvSpPr/>
          <p:nvPr/>
        </p:nvSpPr>
        <p:spPr>
          <a:xfrm>
            <a:off x="2681351" y="4346747"/>
            <a:ext cx="2843530" cy="0"/>
          </a:xfrm>
          <a:custGeom>
            <a:avLst/>
            <a:gdLst/>
            <a:ahLst/>
            <a:cxnLst/>
            <a:rect l="l" t="t" r="r" b="b"/>
            <a:pathLst>
              <a:path w="2843529">
                <a:moveTo>
                  <a:pt x="0" y="0"/>
                </a:moveTo>
                <a:lnTo>
                  <a:pt x="2842942" y="0"/>
                </a:lnTo>
              </a:path>
            </a:pathLst>
          </a:custGeom>
          <a:ln w="13158">
            <a:solidFill>
              <a:srgbClr val="000000"/>
            </a:solidFill>
            <a:prstDash val="dash"/>
          </a:ln>
        </p:spPr>
        <p:txBody>
          <a:bodyPr wrap="square" lIns="0" tIns="0" rIns="0" bIns="0" rtlCol="0"/>
          <a:lstStyle/>
          <a:p>
            <a:endParaRPr/>
          </a:p>
        </p:txBody>
      </p:sp>
      <p:sp>
        <p:nvSpPr>
          <p:cNvPr id="19" name="object 19"/>
          <p:cNvSpPr/>
          <p:nvPr/>
        </p:nvSpPr>
        <p:spPr>
          <a:xfrm>
            <a:off x="3022726" y="4726223"/>
            <a:ext cx="2487295" cy="0"/>
          </a:xfrm>
          <a:custGeom>
            <a:avLst/>
            <a:gdLst/>
            <a:ahLst/>
            <a:cxnLst/>
            <a:rect l="l" t="t" r="r" b="b"/>
            <a:pathLst>
              <a:path w="2487295">
                <a:moveTo>
                  <a:pt x="0" y="0"/>
                </a:moveTo>
                <a:lnTo>
                  <a:pt x="2487041" y="0"/>
                </a:lnTo>
              </a:path>
            </a:pathLst>
          </a:custGeom>
          <a:ln w="13158">
            <a:solidFill>
              <a:srgbClr val="000000"/>
            </a:solidFill>
            <a:prstDash val="dash"/>
          </a:ln>
        </p:spPr>
        <p:txBody>
          <a:bodyPr wrap="square" lIns="0" tIns="0" rIns="0" bIns="0" rtlCol="0"/>
          <a:lstStyle/>
          <a:p>
            <a:endParaRPr/>
          </a:p>
        </p:txBody>
      </p:sp>
      <p:sp>
        <p:nvSpPr>
          <p:cNvPr id="20" name="object 20"/>
          <p:cNvSpPr/>
          <p:nvPr/>
        </p:nvSpPr>
        <p:spPr>
          <a:xfrm>
            <a:off x="2952623" y="5486953"/>
            <a:ext cx="2548255" cy="0"/>
          </a:xfrm>
          <a:custGeom>
            <a:avLst/>
            <a:gdLst/>
            <a:ahLst/>
            <a:cxnLst/>
            <a:rect l="l" t="t" r="r" b="b"/>
            <a:pathLst>
              <a:path w="2548254">
                <a:moveTo>
                  <a:pt x="0" y="0"/>
                </a:moveTo>
                <a:lnTo>
                  <a:pt x="2547724" y="0"/>
                </a:lnTo>
              </a:path>
            </a:pathLst>
          </a:custGeom>
          <a:ln w="13158">
            <a:solidFill>
              <a:srgbClr val="000000"/>
            </a:solidFill>
            <a:prstDash val="dash"/>
          </a:ln>
        </p:spPr>
        <p:txBody>
          <a:bodyPr wrap="square" lIns="0" tIns="0" rIns="0" bIns="0" rtlCol="0"/>
          <a:lstStyle/>
          <a:p>
            <a:endParaRPr/>
          </a:p>
        </p:txBody>
      </p:sp>
      <p:sp>
        <p:nvSpPr>
          <p:cNvPr id="21" name="object 21"/>
          <p:cNvSpPr txBox="1"/>
          <p:nvPr/>
        </p:nvSpPr>
        <p:spPr>
          <a:xfrm>
            <a:off x="5648705" y="3465702"/>
            <a:ext cx="160655" cy="58991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Times New Roman"/>
                <a:cs typeface="Times New Roman"/>
              </a:rPr>
              <a:t>7.</a:t>
            </a:r>
            <a:endParaRPr sz="1400">
              <a:latin typeface="Times New Roman"/>
              <a:cs typeface="Times New Roman"/>
            </a:endParaRPr>
          </a:p>
          <a:p>
            <a:pPr marL="12700">
              <a:lnSpc>
                <a:spcPct val="100000"/>
              </a:lnSpc>
              <a:spcBef>
                <a:spcPts val="1080"/>
              </a:spcBef>
            </a:pPr>
            <a:r>
              <a:rPr sz="1400" spc="-25" dirty="0">
                <a:latin typeface="Times New Roman"/>
                <a:cs typeface="Times New Roman"/>
              </a:rPr>
              <a:t>8.</a:t>
            </a:r>
            <a:endParaRPr sz="1400">
              <a:latin typeface="Times New Roman"/>
              <a:cs typeface="Times New Roman"/>
            </a:endParaRPr>
          </a:p>
        </p:txBody>
      </p:sp>
      <p:sp>
        <p:nvSpPr>
          <p:cNvPr id="22" name="object 22"/>
          <p:cNvSpPr txBox="1"/>
          <p:nvPr/>
        </p:nvSpPr>
        <p:spPr>
          <a:xfrm>
            <a:off x="5648705" y="4198746"/>
            <a:ext cx="397510" cy="239395"/>
          </a:xfrm>
          <a:prstGeom prst="rect">
            <a:avLst/>
          </a:prstGeom>
        </p:spPr>
        <p:txBody>
          <a:bodyPr vert="horz" wrap="square" lIns="0" tIns="13335" rIns="0" bIns="0" rtlCol="0">
            <a:spAutoFit/>
          </a:bodyPr>
          <a:lstStyle/>
          <a:p>
            <a:pPr marL="12700">
              <a:lnSpc>
                <a:spcPct val="100000"/>
              </a:lnSpc>
              <a:spcBef>
                <a:spcPts val="105"/>
              </a:spcBef>
            </a:pPr>
            <a:r>
              <a:rPr sz="1400" dirty="0">
                <a:latin typeface="Times New Roman"/>
                <a:cs typeface="Times New Roman"/>
              </a:rPr>
              <a:t>8-</a:t>
            </a:r>
            <a:r>
              <a:rPr sz="1400" spc="-25" dirty="0">
                <a:latin typeface="Times New Roman"/>
                <a:cs typeface="Times New Roman"/>
              </a:rPr>
              <a:t>10.</a:t>
            </a:r>
            <a:endParaRPr sz="1400">
              <a:latin typeface="Times New Roman"/>
              <a:cs typeface="Times New Roman"/>
            </a:endParaRPr>
          </a:p>
        </p:txBody>
      </p:sp>
      <p:sp>
        <p:nvSpPr>
          <p:cNvPr id="23" name="object 23"/>
          <p:cNvSpPr txBox="1"/>
          <p:nvPr/>
        </p:nvSpPr>
        <p:spPr>
          <a:xfrm>
            <a:off x="5648705" y="4581270"/>
            <a:ext cx="250825" cy="239395"/>
          </a:xfrm>
          <a:prstGeom prst="rect">
            <a:avLst/>
          </a:prstGeom>
        </p:spPr>
        <p:txBody>
          <a:bodyPr vert="horz" wrap="square" lIns="0" tIns="13335" rIns="0" bIns="0" rtlCol="0">
            <a:spAutoFit/>
          </a:bodyPr>
          <a:lstStyle/>
          <a:p>
            <a:pPr marL="12700">
              <a:lnSpc>
                <a:spcPct val="100000"/>
              </a:lnSpc>
              <a:spcBef>
                <a:spcPts val="105"/>
              </a:spcBef>
            </a:pPr>
            <a:r>
              <a:rPr sz="1400" spc="-25" dirty="0">
                <a:latin typeface="Times New Roman"/>
                <a:cs typeface="Times New Roman"/>
              </a:rPr>
              <a:t>11.</a:t>
            </a:r>
            <a:endParaRPr sz="1400">
              <a:latin typeface="Times New Roman"/>
              <a:cs typeface="Times New Roman"/>
            </a:endParaRPr>
          </a:p>
        </p:txBody>
      </p:sp>
      <p:sp>
        <p:nvSpPr>
          <p:cNvPr id="24" name="object 24"/>
          <p:cNvSpPr txBox="1"/>
          <p:nvPr/>
        </p:nvSpPr>
        <p:spPr>
          <a:xfrm>
            <a:off x="5648705" y="5345048"/>
            <a:ext cx="250190" cy="239395"/>
          </a:xfrm>
          <a:prstGeom prst="rect">
            <a:avLst/>
          </a:prstGeom>
        </p:spPr>
        <p:txBody>
          <a:bodyPr vert="horz" wrap="square" lIns="0" tIns="13335" rIns="0" bIns="0" rtlCol="0">
            <a:spAutoFit/>
          </a:bodyPr>
          <a:lstStyle/>
          <a:p>
            <a:pPr marL="12700">
              <a:lnSpc>
                <a:spcPct val="100000"/>
              </a:lnSpc>
              <a:spcBef>
                <a:spcPts val="105"/>
              </a:spcBef>
            </a:pPr>
            <a:r>
              <a:rPr sz="1400" spc="-25" dirty="0">
                <a:latin typeface="Times New Roman"/>
                <a:cs typeface="Times New Roman"/>
              </a:rPr>
              <a:t>11.</a:t>
            </a:r>
            <a:endParaRPr sz="1400">
              <a:latin typeface="Times New Roman"/>
              <a:cs typeface="Times New Roman"/>
            </a:endParaRPr>
          </a:p>
        </p:txBody>
      </p:sp>
      <p:sp>
        <p:nvSpPr>
          <p:cNvPr id="25" name="object 25"/>
          <p:cNvSpPr txBox="1"/>
          <p:nvPr/>
        </p:nvSpPr>
        <p:spPr>
          <a:xfrm>
            <a:off x="937056" y="3816222"/>
            <a:ext cx="4962525" cy="2251899"/>
          </a:xfrm>
          <a:prstGeom prst="rect">
            <a:avLst/>
          </a:prstGeom>
        </p:spPr>
        <p:txBody>
          <a:bodyPr vert="horz" wrap="square" lIns="0" tIns="12700" rIns="0" bIns="0" rtlCol="0">
            <a:spAutoFit/>
          </a:bodyPr>
          <a:lstStyle/>
          <a:p>
            <a:pPr marL="240665" indent="-227965">
              <a:lnSpc>
                <a:spcPct val="100000"/>
              </a:lnSpc>
              <a:spcBef>
                <a:spcPts val="100"/>
              </a:spcBef>
              <a:buAutoNum type="arabicPeriod" startAt="4"/>
              <a:tabLst>
                <a:tab pos="240665" algn="l"/>
              </a:tabLst>
            </a:pPr>
            <a:r>
              <a:rPr sz="1400" dirty="0">
                <a:latin typeface="Times New Roman"/>
                <a:cs typeface="Times New Roman"/>
              </a:rPr>
              <a:t>SYSTEM</a:t>
            </a:r>
            <a:r>
              <a:rPr sz="1400" spc="-45" dirty="0">
                <a:latin typeface="Times New Roman"/>
                <a:cs typeface="Times New Roman"/>
              </a:rPr>
              <a:t> </a:t>
            </a:r>
            <a:r>
              <a:rPr sz="1400" spc="-10" dirty="0">
                <a:latin typeface="Times New Roman"/>
                <a:cs typeface="Times New Roman"/>
              </a:rPr>
              <a:t>DESIGN</a:t>
            </a:r>
            <a:endParaRPr sz="1400" dirty="0">
              <a:latin typeface="Times New Roman"/>
              <a:cs typeface="Times New Roman"/>
            </a:endParaRPr>
          </a:p>
          <a:p>
            <a:pPr marL="502920" lvl="1" indent="-457200">
              <a:lnSpc>
                <a:spcPct val="100000"/>
              </a:lnSpc>
              <a:spcBef>
                <a:spcPts val="1310"/>
              </a:spcBef>
              <a:buAutoNum type="arabicPeriod"/>
              <a:tabLst>
                <a:tab pos="502920" algn="l"/>
              </a:tabLst>
            </a:pPr>
            <a:r>
              <a:rPr sz="1400" dirty="0">
                <a:latin typeface="Times New Roman"/>
                <a:cs typeface="Times New Roman"/>
              </a:rPr>
              <a:t>Key</a:t>
            </a:r>
            <a:r>
              <a:rPr sz="1400" spc="-20" dirty="0">
                <a:latin typeface="Times New Roman"/>
                <a:cs typeface="Times New Roman"/>
              </a:rPr>
              <a:t> </a:t>
            </a:r>
            <a:r>
              <a:rPr sz="1400" spc="-10" dirty="0">
                <a:latin typeface="Times New Roman"/>
                <a:cs typeface="Times New Roman"/>
              </a:rPr>
              <a:t>Components</a:t>
            </a:r>
            <a:endParaRPr sz="1400" dirty="0">
              <a:latin typeface="Times New Roman"/>
              <a:cs typeface="Times New Roman"/>
            </a:endParaRPr>
          </a:p>
          <a:p>
            <a:pPr marL="502920" lvl="1" indent="-457200">
              <a:lnSpc>
                <a:spcPct val="100000"/>
              </a:lnSpc>
              <a:spcBef>
                <a:spcPts val="1310"/>
              </a:spcBef>
              <a:buAutoNum type="arabicPeriod"/>
              <a:tabLst>
                <a:tab pos="502920" algn="l"/>
              </a:tabLst>
            </a:pPr>
            <a:r>
              <a:rPr sz="1400" dirty="0">
                <a:latin typeface="Times New Roman"/>
                <a:cs typeface="Times New Roman"/>
              </a:rPr>
              <a:t>Power</a:t>
            </a:r>
            <a:r>
              <a:rPr sz="1400" spc="-20" dirty="0">
                <a:latin typeface="Times New Roman"/>
                <a:cs typeface="Times New Roman"/>
              </a:rPr>
              <a:t> </a:t>
            </a:r>
            <a:r>
              <a:rPr sz="1400" dirty="0">
                <a:latin typeface="Times New Roman"/>
                <a:cs typeface="Times New Roman"/>
              </a:rPr>
              <a:t>Supply</a:t>
            </a:r>
            <a:r>
              <a:rPr sz="1400" spc="-15" dirty="0">
                <a:latin typeface="Times New Roman"/>
                <a:cs typeface="Times New Roman"/>
              </a:rPr>
              <a:t> </a:t>
            </a:r>
            <a:r>
              <a:rPr sz="1400" spc="-10" dirty="0">
                <a:latin typeface="Times New Roman"/>
                <a:cs typeface="Times New Roman"/>
              </a:rPr>
              <a:t>Section</a:t>
            </a:r>
            <a:endParaRPr sz="1400" dirty="0">
              <a:latin typeface="Times New Roman"/>
              <a:cs typeface="Times New Roman"/>
            </a:endParaRPr>
          </a:p>
          <a:p>
            <a:pPr marL="502920" lvl="1" indent="-457200">
              <a:lnSpc>
                <a:spcPct val="100000"/>
              </a:lnSpc>
              <a:spcBef>
                <a:spcPts val="1380"/>
              </a:spcBef>
              <a:buAutoNum type="arabicPeriod"/>
              <a:tabLst>
                <a:tab pos="502920" algn="l"/>
                <a:tab pos="4723765" algn="l"/>
              </a:tabLst>
            </a:pPr>
            <a:r>
              <a:rPr lang="en-US" sz="2100" baseline="1984" dirty="0">
                <a:latin typeface="Times New Roman"/>
                <a:cs typeface="Times New Roman"/>
              </a:rPr>
              <a:t>ADC</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spc="-15" baseline="1984" dirty="0">
                <a:latin typeface="Times New Roman"/>
                <a:cs typeface="Times New Roman"/>
              </a:rPr>
              <a:t>-</a:t>
            </a:r>
            <a:r>
              <a:rPr lang="en-US" sz="2100" spc="-15"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spc="-15" baseline="1984" dirty="0">
                <a:latin typeface="Times New Roman"/>
                <a:cs typeface="Times New Roman"/>
              </a:rPr>
              <a:t>-</a:t>
            </a:r>
            <a:r>
              <a:rPr lang="en-US" sz="2100" spc="-15"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spc="-15" baseline="1984" dirty="0">
                <a:latin typeface="Times New Roman"/>
                <a:cs typeface="Times New Roman"/>
              </a:rPr>
              <a:t>-</a:t>
            </a:r>
            <a:r>
              <a:rPr lang="en-US" sz="2100" spc="-15"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spc="-30" baseline="1984" dirty="0">
                <a:latin typeface="Times New Roman"/>
                <a:cs typeface="Times New Roman"/>
              </a:rPr>
              <a:t>-</a:t>
            </a:r>
            <a:r>
              <a:rPr lang="en-US" sz="2100" spc="-3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baseline="1984" dirty="0">
                <a:latin typeface="Times New Roman"/>
                <a:cs typeface="Times New Roman"/>
              </a:rPr>
              <a:t>-</a:t>
            </a:r>
            <a:r>
              <a:rPr lang="en-US" sz="2100" baseline="1984" dirty="0">
                <a:latin typeface="Times New Roman"/>
                <a:cs typeface="Times New Roman"/>
              </a:rPr>
              <a:t> </a:t>
            </a:r>
            <a:r>
              <a:rPr sz="2100" spc="-75" baseline="1984" dirty="0">
                <a:latin typeface="Times New Roman"/>
                <a:cs typeface="Times New Roman"/>
              </a:rPr>
              <a:t>-</a:t>
            </a:r>
            <a:r>
              <a:rPr sz="2100" baseline="1984" dirty="0">
                <a:latin typeface="Times New Roman"/>
                <a:cs typeface="Times New Roman"/>
              </a:rPr>
              <a:t>	</a:t>
            </a:r>
            <a:r>
              <a:rPr sz="1400" spc="-25" dirty="0">
                <a:latin typeface="Times New Roman"/>
                <a:cs typeface="Times New Roman"/>
              </a:rPr>
              <a:t>11.</a:t>
            </a:r>
            <a:endParaRPr sz="1400" dirty="0">
              <a:latin typeface="Times New Roman"/>
              <a:cs typeface="Times New Roman"/>
            </a:endParaRPr>
          </a:p>
          <a:p>
            <a:pPr marL="502920" lvl="1" indent="-457200">
              <a:lnSpc>
                <a:spcPct val="100000"/>
              </a:lnSpc>
              <a:spcBef>
                <a:spcPts val="1250"/>
              </a:spcBef>
              <a:buAutoNum type="arabicPeriod"/>
              <a:tabLst>
                <a:tab pos="502920" algn="l"/>
              </a:tabLst>
            </a:pPr>
            <a:r>
              <a:rPr lang="en-US" sz="1400" dirty="0">
                <a:latin typeface="Times New Roman"/>
                <a:cs typeface="Times New Roman"/>
              </a:rPr>
              <a:t>Heart beat </a:t>
            </a:r>
            <a:r>
              <a:rPr lang="en-US" sz="1400" dirty="0" err="1">
                <a:latin typeface="Times New Roman"/>
                <a:cs typeface="Times New Roman"/>
              </a:rPr>
              <a:t>monitering</a:t>
            </a:r>
            <a:endParaRPr sz="1400" dirty="0">
              <a:latin typeface="Times New Roman"/>
              <a:cs typeface="Times New Roman"/>
            </a:endParaRPr>
          </a:p>
          <a:p>
            <a:pPr>
              <a:lnSpc>
                <a:spcPct val="100000"/>
              </a:lnSpc>
              <a:spcBef>
                <a:spcPts val="390"/>
              </a:spcBef>
            </a:pPr>
            <a:endParaRPr sz="1400" dirty="0">
              <a:latin typeface="Times New Roman"/>
              <a:cs typeface="Times New Roman"/>
            </a:endParaRPr>
          </a:p>
          <a:p>
            <a:pPr marL="12700">
              <a:lnSpc>
                <a:spcPct val="100000"/>
              </a:lnSpc>
              <a:spcBef>
                <a:spcPts val="5"/>
              </a:spcBef>
            </a:pPr>
            <a:r>
              <a:rPr sz="1400" dirty="0">
                <a:latin typeface="Times New Roman"/>
                <a:cs typeface="Times New Roman"/>
              </a:rPr>
              <a:t>5.</a:t>
            </a:r>
            <a:r>
              <a:rPr sz="1400" spc="360" dirty="0">
                <a:latin typeface="Times New Roman"/>
                <a:cs typeface="Times New Roman"/>
              </a:rPr>
              <a:t> </a:t>
            </a:r>
            <a:r>
              <a:rPr sz="1400" dirty="0">
                <a:latin typeface="Times New Roman"/>
                <a:cs typeface="Times New Roman"/>
              </a:rPr>
              <a:t>PCB</a:t>
            </a:r>
            <a:r>
              <a:rPr sz="1400" spc="-15" dirty="0">
                <a:latin typeface="Times New Roman"/>
                <a:cs typeface="Times New Roman"/>
              </a:rPr>
              <a:t> </a:t>
            </a:r>
            <a:r>
              <a:rPr sz="1400" dirty="0">
                <a:latin typeface="Times New Roman"/>
                <a:cs typeface="Times New Roman"/>
              </a:rPr>
              <a:t>DESIGN</a:t>
            </a:r>
            <a:r>
              <a:rPr sz="1400" spc="-5" dirty="0">
                <a:latin typeface="Times New Roman"/>
                <a:cs typeface="Times New Roman"/>
              </a:rPr>
              <a:t> </a:t>
            </a:r>
            <a:r>
              <a:rPr sz="1400" spc="-10" dirty="0">
                <a:latin typeface="Times New Roman"/>
                <a:cs typeface="Times New Roman"/>
              </a:rPr>
              <a:t>SECTION</a:t>
            </a:r>
            <a:endParaRPr sz="1400" dirty="0">
              <a:latin typeface="Times New Roman"/>
              <a:cs typeface="Times New Roman"/>
            </a:endParaRPr>
          </a:p>
        </p:txBody>
      </p:sp>
      <p:sp>
        <p:nvSpPr>
          <p:cNvPr id="26" name="object 26"/>
          <p:cNvSpPr/>
          <p:nvPr/>
        </p:nvSpPr>
        <p:spPr>
          <a:xfrm>
            <a:off x="3007486" y="5954821"/>
            <a:ext cx="2487295" cy="0"/>
          </a:xfrm>
          <a:custGeom>
            <a:avLst/>
            <a:gdLst/>
            <a:ahLst/>
            <a:cxnLst/>
            <a:rect l="l" t="t" r="r" b="b"/>
            <a:pathLst>
              <a:path w="2487295">
                <a:moveTo>
                  <a:pt x="0" y="0"/>
                </a:moveTo>
                <a:lnTo>
                  <a:pt x="2486861" y="0"/>
                </a:lnTo>
              </a:path>
            </a:pathLst>
          </a:custGeom>
          <a:ln w="13158">
            <a:solidFill>
              <a:srgbClr val="000000"/>
            </a:solidFill>
            <a:prstDash val="dash"/>
          </a:ln>
        </p:spPr>
        <p:txBody>
          <a:bodyPr wrap="square" lIns="0" tIns="0" rIns="0" bIns="0" rtlCol="0"/>
          <a:lstStyle/>
          <a:p>
            <a:endParaRPr/>
          </a:p>
        </p:txBody>
      </p:sp>
      <p:sp>
        <p:nvSpPr>
          <p:cNvPr id="27" name="object 27"/>
          <p:cNvSpPr txBox="1"/>
          <p:nvPr/>
        </p:nvSpPr>
        <p:spPr>
          <a:xfrm>
            <a:off x="937056" y="6160388"/>
            <a:ext cx="2052320" cy="239395"/>
          </a:xfrm>
          <a:prstGeom prst="rect">
            <a:avLst/>
          </a:prstGeom>
        </p:spPr>
        <p:txBody>
          <a:bodyPr vert="horz" wrap="square" lIns="0" tIns="13335" rIns="0" bIns="0" rtlCol="0">
            <a:spAutoFit/>
          </a:bodyPr>
          <a:lstStyle/>
          <a:p>
            <a:pPr marL="12700">
              <a:lnSpc>
                <a:spcPct val="100000"/>
              </a:lnSpc>
              <a:spcBef>
                <a:spcPts val="105"/>
              </a:spcBef>
            </a:pPr>
            <a:r>
              <a:rPr sz="1400" dirty="0">
                <a:latin typeface="Times New Roman"/>
                <a:cs typeface="Times New Roman"/>
              </a:rPr>
              <a:t>6.</a:t>
            </a:r>
            <a:r>
              <a:rPr sz="1400" spc="355" dirty="0">
                <a:latin typeface="Times New Roman"/>
                <a:cs typeface="Times New Roman"/>
              </a:rPr>
              <a:t> </a:t>
            </a:r>
            <a:r>
              <a:rPr sz="1400" dirty="0">
                <a:latin typeface="Times New Roman"/>
                <a:cs typeface="Times New Roman"/>
              </a:rPr>
              <a:t>WORKING</a:t>
            </a:r>
            <a:r>
              <a:rPr sz="1400" spc="-35" dirty="0">
                <a:latin typeface="Times New Roman"/>
                <a:cs typeface="Times New Roman"/>
              </a:rPr>
              <a:t> </a:t>
            </a:r>
            <a:r>
              <a:rPr sz="1400" spc="-10" dirty="0">
                <a:latin typeface="Times New Roman"/>
                <a:cs typeface="Times New Roman"/>
              </a:rPr>
              <a:t>PRINCIPLE</a:t>
            </a:r>
            <a:endParaRPr sz="1400">
              <a:latin typeface="Times New Roman"/>
              <a:cs typeface="Times New Roman"/>
            </a:endParaRPr>
          </a:p>
        </p:txBody>
      </p:sp>
      <p:sp>
        <p:nvSpPr>
          <p:cNvPr id="28" name="object 28"/>
          <p:cNvSpPr/>
          <p:nvPr/>
        </p:nvSpPr>
        <p:spPr>
          <a:xfrm>
            <a:off x="2978530" y="6311437"/>
            <a:ext cx="2546985" cy="0"/>
          </a:xfrm>
          <a:custGeom>
            <a:avLst/>
            <a:gdLst/>
            <a:ahLst/>
            <a:cxnLst/>
            <a:rect l="l" t="t" r="r" b="b"/>
            <a:pathLst>
              <a:path w="2546985">
                <a:moveTo>
                  <a:pt x="0" y="0"/>
                </a:moveTo>
                <a:lnTo>
                  <a:pt x="2546357" y="0"/>
                </a:lnTo>
              </a:path>
            </a:pathLst>
          </a:custGeom>
          <a:ln w="13158">
            <a:solidFill>
              <a:srgbClr val="000000"/>
            </a:solidFill>
            <a:prstDash val="dash"/>
          </a:ln>
        </p:spPr>
        <p:txBody>
          <a:bodyPr wrap="square" lIns="0" tIns="0" rIns="0" bIns="0" rtlCol="0"/>
          <a:lstStyle/>
          <a:p>
            <a:endParaRPr/>
          </a:p>
        </p:txBody>
      </p:sp>
      <p:sp>
        <p:nvSpPr>
          <p:cNvPr id="29" name="object 29"/>
          <p:cNvSpPr txBox="1"/>
          <p:nvPr/>
        </p:nvSpPr>
        <p:spPr>
          <a:xfrm>
            <a:off x="937056" y="6518529"/>
            <a:ext cx="1844039" cy="239395"/>
          </a:xfrm>
          <a:prstGeom prst="rect">
            <a:avLst/>
          </a:prstGeom>
        </p:spPr>
        <p:txBody>
          <a:bodyPr vert="horz" wrap="square" lIns="0" tIns="13335" rIns="0" bIns="0" rtlCol="0">
            <a:spAutoFit/>
          </a:bodyPr>
          <a:lstStyle/>
          <a:p>
            <a:pPr marL="12700">
              <a:lnSpc>
                <a:spcPct val="100000"/>
              </a:lnSpc>
              <a:spcBef>
                <a:spcPts val="105"/>
              </a:spcBef>
            </a:pPr>
            <a:r>
              <a:rPr sz="1400" dirty="0">
                <a:latin typeface="Times New Roman"/>
                <a:cs typeface="Times New Roman"/>
              </a:rPr>
              <a:t>7.</a:t>
            </a:r>
            <a:r>
              <a:rPr sz="1400" spc="395" dirty="0">
                <a:latin typeface="Times New Roman"/>
                <a:cs typeface="Times New Roman"/>
              </a:rPr>
              <a:t> </a:t>
            </a:r>
            <a:r>
              <a:rPr sz="1400" spc="-10" dirty="0">
                <a:latin typeface="Times New Roman"/>
                <a:cs typeface="Times New Roman"/>
              </a:rPr>
              <a:t>IMPLEMENTATION</a:t>
            </a:r>
            <a:endParaRPr sz="1400">
              <a:latin typeface="Times New Roman"/>
              <a:cs typeface="Times New Roman"/>
            </a:endParaRPr>
          </a:p>
        </p:txBody>
      </p:sp>
      <p:sp>
        <p:nvSpPr>
          <p:cNvPr id="30" name="object 30"/>
          <p:cNvSpPr/>
          <p:nvPr/>
        </p:nvSpPr>
        <p:spPr>
          <a:xfrm>
            <a:off x="2769742" y="6669578"/>
            <a:ext cx="2724785" cy="0"/>
          </a:xfrm>
          <a:custGeom>
            <a:avLst/>
            <a:gdLst/>
            <a:ahLst/>
            <a:cxnLst/>
            <a:rect l="l" t="t" r="r" b="b"/>
            <a:pathLst>
              <a:path w="2724785">
                <a:moveTo>
                  <a:pt x="0" y="0"/>
                </a:moveTo>
                <a:lnTo>
                  <a:pt x="2724368" y="0"/>
                </a:lnTo>
              </a:path>
            </a:pathLst>
          </a:custGeom>
          <a:ln w="13158">
            <a:solidFill>
              <a:srgbClr val="000000"/>
            </a:solidFill>
            <a:prstDash val="dash"/>
          </a:ln>
        </p:spPr>
        <p:txBody>
          <a:bodyPr wrap="square" lIns="0" tIns="0" rIns="0" bIns="0" rtlCol="0"/>
          <a:lstStyle/>
          <a:p>
            <a:endParaRPr/>
          </a:p>
        </p:txBody>
      </p:sp>
      <p:sp>
        <p:nvSpPr>
          <p:cNvPr id="31" name="object 31"/>
          <p:cNvSpPr txBox="1"/>
          <p:nvPr/>
        </p:nvSpPr>
        <p:spPr>
          <a:xfrm>
            <a:off x="937056" y="6875526"/>
            <a:ext cx="2085339" cy="239395"/>
          </a:xfrm>
          <a:prstGeom prst="rect">
            <a:avLst/>
          </a:prstGeom>
        </p:spPr>
        <p:txBody>
          <a:bodyPr vert="horz" wrap="square" lIns="0" tIns="13335" rIns="0" bIns="0" rtlCol="0">
            <a:spAutoFit/>
          </a:bodyPr>
          <a:lstStyle/>
          <a:p>
            <a:pPr marL="12700">
              <a:lnSpc>
                <a:spcPct val="100000"/>
              </a:lnSpc>
              <a:spcBef>
                <a:spcPts val="105"/>
              </a:spcBef>
            </a:pPr>
            <a:r>
              <a:rPr sz="1400" dirty="0">
                <a:latin typeface="Times New Roman"/>
                <a:cs typeface="Times New Roman"/>
              </a:rPr>
              <a:t>8.</a:t>
            </a:r>
            <a:r>
              <a:rPr sz="1400" spc="355" dirty="0">
                <a:latin typeface="Times New Roman"/>
                <a:cs typeface="Times New Roman"/>
              </a:rPr>
              <a:t> </a:t>
            </a:r>
            <a:r>
              <a:rPr sz="1400" dirty="0">
                <a:latin typeface="Times New Roman"/>
                <a:cs typeface="Times New Roman"/>
              </a:rPr>
              <a:t>LEARNING</a:t>
            </a:r>
            <a:r>
              <a:rPr sz="1400" spc="-10" dirty="0">
                <a:latin typeface="Times New Roman"/>
                <a:cs typeface="Times New Roman"/>
              </a:rPr>
              <a:t> OUTCOME</a:t>
            </a:r>
            <a:endParaRPr sz="1400">
              <a:latin typeface="Times New Roman"/>
              <a:cs typeface="Times New Roman"/>
            </a:endParaRPr>
          </a:p>
        </p:txBody>
      </p:sp>
      <p:sp>
        <p:nvSpPr>
          <p:cNvPr id="32" name="object 32"/>
          <p:cNvSpPr/>
          <p:nvPr/>
        </p:nvSpPr>
        <p:spPr>
          <a:xfrm>
            <a:off x="3012058" y="7026574"/>
            <a:ext cx="2487295" cy="0"/>
          </a:xfrm>
          <a:custGeom>
            <a:avLst/>
            <a:gdLst/>
            <a:ahLst/>
            <a:cxnLst/>
            <a:rect l="l" t="t" r="r" b="b"/>
            <a:pathLst>
              <a:path w="2487295">
                <a:moveTo>
                  <a:pt x="0" y="0"/>
                </a:moveTo>
                <a:lnTo>
                  <a:pt x="2486683" y="0"/>
                </a:lnTo>
              </a:path>
            </a:pathLst>
          </a:custGeom>
          <a:ln w="13158">
            <a:solidFill>
              <a:srgbClr val="000000"/>
            </a:solidFill>
            <a:prstDash val="dash"/>
          </a:ln>
        </p:spPr>
        <p:txBody>
          <a:bodyPr wrap="square" lIns="0" tIns="0" rIns="0" bIns="0" rtlCol="0"/>
          <a:lstStyle/>
          <a:p>
            <a:endParaRPr/>
          </a:p>
        </p:txBody>
      </p:sp>
      <p:sp>
        <p:nvSpPr>
          <p:cNvPr id="33" name="object 33"/>
          <p:cNvSpPr txBox="1"/>
          <p:nvPr/>
        </p:nvSpPr>
        <p:spPr>
          <a:xfrm>
            <a:off x="5648705" y="5803772"/>
            <a:ext cx="250825" cy="1311275"/>
          </a:xfrm>
          <a:prstGeom prst="rect">
            <a:avLst/>
          </a:prstGeom>
        </p:spPr>
        <p:txBody>
          <a:bodyPr vert="horz" wrap="square" lIns="0" tIns="13335" rIns="0" bIns="0" rtlCol="0">
            <a:spAutoFit/>
          </a:bodyPr>
          <a:lstStyle/>
          <a:p>
            <a:pPr marL="12700">
              <a:lnSpc>
                <a:spcPct val="100000"/>
              </a:lnSpc>
              <a:spcBef>
                <a:spcPts val="105"/>
              </a:spcBef>
            </a:pPr>
            <a:r>
              <a:rPr sz="1400" spc="-25" dirty="0">
                <a:latin typeface="Times New Roman"/>
                <a:cs typeface="Times New Roman"/>
              </a:rPr>
              <a:t>12.</a:t>
            </a:r>
            <a:endParaRPr sz="1400">
              <a:latin typeface="Times New Roman"/>
              <a:cs typeface="Times New Roman"/>
            </a:endParaRPr>
          </a:p>
          <a:p>
            <a:pPr marL="12700">
              <a:lnSpc>
                <a:spcPct val="100000"/>
              </a:lnSpc>
              <a:spcBef>
                <a:spcPts val="1125"/>
              </a:spcBef>
            </a:pPr>
            <a:r>
              <a:rPr sz="1400" spc="-25" dirty="0">
                <a:latin typeface="Times New Roman"/>
                <a:cs typeface="Times New Roman"/>
              </a:rPr>
              <a:t>13.</a:t>
            </a:r>
            <a:endParaRPr sz="1400">
              <a:latin typeface="Times New Roman"/>
              <a:cs typeface="Times New Roman"/>
            </a:endParaRPr>
          </a:p>
          <a:p>
            <a:pPr marL="12700">
              <a:lnSpc>
                <a:spcPct val="100000"/>
              </a:lnSpc>
              <a:spcBef>
                <a:spcPts val="1140"/>
              </a:spcBef>
            </a:pPr>
            <a:r>
              <a:rPr sz="1400" spc="-25" dirty="0">
                <a:latin typeface="Times New Roman"/>
                <a:cs typeface="Times New Roman"/>
              </a:rPr>
              <a:t>14.</a:t>
            </a:r>
            <a:endParaRPr sz="1400">
              <a:latin typeface="Times New Roman"/>
              <a:cs typeface="Times New Roman"/>
            </a:endParaRPr>
          </a:p>
          <a:p>
            <a:pPr marL="12700">
              <a:lnSpc>
                <a:spcPct val="100000"/>
              </a:lnSpc>
              <a:spcBef>
                <a:spcPts val="1130"/>
              </a:spcBef>
            </a:pPr>
            <a:r>
              <a:rPr sz="1400" spc="-25" dirty="0">
                <a:latin typeface="Times New Roman"/>
                <a:cs typeface="Times New Roman"/>
              </a:rPr>
              <a:t>15.</a:t>
            </a:r>
            <a:endParaRPr sz="1400">
              <a:latin typeface="Times New Roman"/>
              <a:cs typeface="Times New Roman"/>
            </a:endParaRPr>
          </a:p>
        </p:txBody>
      </p:sp>
      <p:sp>
        <p:nvSpPr>
          <p:cNvPr id="34" name="object 34"/>
          <p:cNvSpPr txBox="1"/>
          <p:nvPr/>
        </p:nvSpPr>
        <p:spPr>
          <a:xfrm>
            <a:off x="937056" y="7262621"/>
            <a:ext cx="4962525" cy="239395"/>
          </a:xfrm>
          <a:prstGeom prst="rect">
            <a:avLst/>
          </a:prstGeom>
        </p:spPr>
        <p:txBody>
          <a:bodyPr vert="horz" wrap="square" lIns="0" tIns="13335" rIns="0" bIns="0" rtlCol="0">
            <a:spAutoFit/>
          </a:bodyPr>
          <a:lstStyle/>
          <a:p>
            <a:pPr marL="12700">
              <a:lnSpc>
                <a:spcPct val="100000"/>
              </a:lnSpc>
              <a:spcBef>
                <a:spcPts val="105"/>
              </a:spcBef>
              <a:tabLst>
                <a:tab pos="4723765" algn="l"/>
              </a:tabLst>
            </a:pPr>
            <a:r>
              <a:rPr sz="1400" dirty="0">
                <a:latin typeface="Times New Roman"/>
                <a:cs typeface="Times New Roman"/>
              </a:rPr>
              <a:t>9.</a:t>
            </a:r>
            <a:r>
              <a:rPr sz="1400" spc="95" dirty="0">
                <a:latin typeface="Times New Roman"/>
                <a:cs typeface="Times New Roman"/>
              </a:rPr>
              <a:t>  </a:t>
            </a:r>
            <a:r>
              <a:rPr sz="1400" spc="-10" dirty="0">
                <a:latin typeface="Times New Roman"/>
                <a:cs typeface="Times New Roman"/>
              </a:rPr>
              <a:t>ADVANTAGES</a:t>
            </a:r>
            <a:r>
              <a:rPr sz="1400" spc="-15" dirty="0">
                <a:latin typeface="Times New Roman"/>
                <a:cs typeface="Times New Roman"/>
              </a:rPr>
              <a:t> </a:t>
            </a:r>
            <a:r>
              <a:rPr sz="1400" dirty="0">
                <a:latin typeface="Times New Roman"/>
                <a:cs typeface="Times New Roman"/>
              </a:rPr>
              <a:t>&amp;</a:t>
            </a:r>
            <a:r>
              <a:rPr sz="1400" spc="-40" dirty="0">
                <a:latin typeface="Times New Roman"/>
                <a:cs typeface="Times New Roman"/>
              </a:rPr>
              <a:t> </a:t>
            </a:r>
            <a:r>
              <a:rPr sz="1400" spc="-10" dirty="0">
                <a:latin typeface="Times New Roman"/>
                <a:cs typeface="Times New Roman"/>
              </a:rPr>
              <a:t>APPLICATIONS-</a:t>
            </a:r>
            <a:r>
              <a:rPr sz="1400" dirty="0">
                <a:latin typeface="Times New Roman"/>
                <a:cs typeface="Times New Roman"/>
              </a:rPr>
              <a:t>----</a:t>
            </a:r>
            <a:r>
              <a:rPr sz="1400" spc="-10" dirty="0">
                <a:latin typeface="Times New Roman"/>
                <a:cs typeface="Times New Roman"/>
              </a:rPr>
              <a:t>-</a:t>
            </a:r>
            <a:r>
              <a:rPr sz="1400" spc="-20" dirty="0">
                <a:latin typeface="Times New Roman"/>
                <a:cs typeface="Times New Roman"/>
              </a:rPr>
              <a:t>-</a:t>
            </a:r>
            <a:r>
              <a:rPr sz="1400" dirty="0">
                <a:latin typeface="Times New Roman"/>
                <a:cs typeface="Times New Roman"/>
              </a:rPr>
              <a:t>---------</a:t>
            </a:r>
            <a:r>
              <a:rPr sz="1400" spc="-20" dirty="0">
                <a:latin typeface="Times New Roman"/>
                <a:cs typeface="Times New Roman"/>
              </a:rPr>
              <a:t>-</a:t>
            </a:r>
            <a:r>
              <a:rPr sz="1400" dirty="0">
                <a:latin typeface="Times New Roman"/>
                <a:cs typeface="Times New Roman"/>
              </a:rPr>
              <a:t>------</a:t>
            </a:r>
            <a:r>
              <a:rPr sz="1400" spc="-10" dirty="0">
                <a:latin typeface="Times New Roman"/>
                <a:cs typeface="Times New Roman"/>
              </a:rPr>
              <a:t>-</a:t>
            </a:r>
            <a:r>
              <a:rPr sz="1400" dirty="0">
                <a:latin typeface="Times New Roman"/>
                <a:cs typeface="Times New Roman"/>
              </a:rPr>
              <a:t>---</a:t>
            </a:r>
            <a:r>
              <a:rPr sz="1400" spc="-50" dirty="0">
                <a:latin typeface="Times New Roman"/>
                <a:cs typeface="Times New Roman"/>
              </a:rPr>
              <a:t>-</a:t>
            </a:r>
            <a:r>
              <a:rPr sz="1400" dirty="0">
                <a:latin typeface="Times New Roman"/>
                <a:cs typeface="Times New Roman"/>
              </a:rPr>
              <a:t>	</a:t>
            </a:r>
            <a:r>
              <a:rPr sz="1400" spc="-25" dirty="0">
                <a:latin typeface="Times New Roman"/>
                <a:cs typeface="Times New Roman"/>
              </a:rPr>
              <a:t>16.</a:t>
            </a:r>
            <a:endParaRPr sz="1400">
              <a:latin typeface="Times New Roman"/>
              <a:cs typeface="Times New Roman"/>
            </a:endParaRPr>
          </a:p>
        </p:txBody>
      </p:sp>
      <p:sp>
        <p:nvSpPr>
          <p:cNvPr id="35" name="object 35"/>
          <p:cNvSpPr txBox="1"/>
          <p:nvPr/>
        </p:nvSpPr>
        <p:spPr>
          <a:xfrm>
            <a:off x="937056" y="7649717"/>
            <a:ext cx="1400175" cy="239395"/>
          </a:xfrm>
          <a:prstGeom prst="rect">
            <a:avLst/>
          </a:prstGeom>
        </p:spPr>
        <p:txBody>
          <a:bodyPr vert="horz" wrap="square" lIns="0" tIns="12700" rIns="0" bIns="0" rtlCol="0">
            <a:spAutoFit/>
          </a:bodyPr>
          <a:lstStyle/>
          <a:p>
            <a:pPr marL="12700">
              <a:lnSpc>
                <a:spcPct val="100000"/>
              </a:lnSpc>
              <a:spcBef>
                <a:spcPts val="100"/>
              </a:spcBef>
            </a:pPr>
            <a:r>
              <a:rPr sz="1400" spc="-10" dirty="0">
                <a:latin typeface="Times New Roman"/>
                <a:cs typeface="Times New Roman"/>
              </a:rPr>
              <a:t>10.CONCLUSION</a:t>
            </a:r>
            <a:endParaRPr sz="1400">
              <a:latin typeface="Times New Roman"/>
              <a:cs typeface="Times New Roman"/>
            </a:endParaRPr>
          </a:p>
        </p:txBody>
      </p:sp>
      <p:sp>
        <p:nvSpPr>
          <p:cNvPr id="36" name="object 36"/>
          <p:cNvSpPr/>
          <p:nvPr/>
        </p:nvSpPr>
        <p:spPr>
          <a:xfrm>
            <a:off x="2326258" y="7800766"/>
            <a:ext cx="3196590" cy="0"/>
          </a:xfrm>
          <a:custGeom>
            <a:avLst/>
            <a:gdLst/>
            <a:ahLst/>
            <a:cxnLst/>
            <a:rect l="l" t="t" r="r" b="b"/>
            <a:pathLst>
              <a:path w="3196590">
                <a:moveTo>
                  <a:pt x="0" y="0"/>
                </a:moveTo>
                <a:lnTo>
                  <a:pt x="3196527" y="0"/>
                </a:lnTo>
              </a:path>
            </a:pathLst>
          </a:custGeom>
          <a:ln w="13158">
            <a:solidFill>
              <a:srgbClr val="000000"/>
            </a:solidFill>
            <a:prstDash val="dash"/>
          </a:ln>
        </p:spPr>
        <p:txBody>
          <a:bodyPr wrap="square" lIns="0" tIns="0" rIns="0" bIns="0" rtlCol="0"/>
          <a:lstStyle/>
          <a:p>
            <a:endParaRPr/>
          </a:p>
        </p:txBody>
      </p:sp>
      <p:sp>
        <p:nvSpPr>
          <p:cNvPr id="37" name="object 37"/>
          <p:cNvSpPr txBox="1"/>
          <p:nvPr/>
        </p:nvSpPr>
        <p:spPr>
          <a:xfrm>
            <a:off x="5648705" y="7649717"/>
            <a:ext cx="250825"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Times New Roman"/>
                <a:cs typeface="Times New Roman"/>
              </a:rPr>
              <a:t>16.</a:t>
            </a:r>
            <a:endParaRPr sz="1400">
              <a:latin typeface="Times New Roman"/>
              <a:cs typeface="Times New Roman"/>
            </a:endParaRPr>
          </a:p>
        </p:txBody>
      </p:sp>
      <p:sp>
        <p:nvSpPr>
          <p:cNvPr id="38" name="object 38"/>
          <p:cNvSpPr txBox="1"/>
          <p:nvPr/>
        </p:nvSpPr>
        <p:spPr>
          <a:xfrm>
            <a:off x="937056" y="8038338"/>
            <a:ext cx="1372235" cy="239395"/>
          </a:xfrm>
          <a:prstGeom prst="rect">
            <a:avLst/>
          </a:prstGeom>
        </p:spPr>
        <p:txBody>
          <a:bodyPr vert="horz" wrap="square" lIns="0" tIns="12700" rIns="0" bIns="0" rtlCol="0">
            <a:spAutoFit/>
          </a:bodyPr>
          <a:lstStyle/>
          <a:p>
            <a:pPr marL="12700">
              <a:lnSpc>
                <a:spcPct val="100000"/>
              </a:lnSpc>
              <a:spcBef>
                <a:spcPts val="100"/>
              </a:spcBef>
            </a:pPr>
            <a:r>
              <a:rPr sz="1400" spc="-10" dirty="0">
                <a:latin typeface="Times New Roman"/>
                <a:cs typeface="Times New Roman"/>
              </a:rPr>
              <a:t>11.REFERENCES</a:t>
            </a:r>
            <a:endParaRPr sz="1400">
              <a:latin typeface="Times New Roman"/>
              <a:cs typeface="Times New Roman"/>
            </a:endParaRPr>
          </a:p>
        </p:txBody>
      </p:sp>
      <p:sp>
        <p:nvSpPr>
          <p:cNvPr id="39" name="object 39"/>
          <p:cNvSpPr/>
          <p:nvPr/>
        </p:nvSpPr>
        <p:spPr>
          <a:xfrm>
            <a:off x="2295779" y="8189386"/>
            <a:ext cx="3198495" cy="0"/>
          </a:xfrm>
          <a:custGeom>
            <a:avLst/>
            <a:gdLst/>
            <a:ahLst/>
            <a:cxnLst/>
            <a:rect l="l" t="t" r="r" b="b"/>
            <a:pathLst>
              <a:path w="3198495">
                <a:moveTo>
                  <a:pt x="0" y="0"/>
                </a:moveTo>
                <a:lnTo>
                  <a:pt x="3198310" y="0"/>
                </a:lnTo>
              </a:path>
            </a:pathLst>
          </a:custGeom>
          <a:ln w="13158">
            <a:solidFill>
              <a:srgbClr val="000000"/>
            </a:solidFill>
            <a:prstDash val="dash"/>
          </a:ln>
        </p:spPr>
        <p:txBody>
          <a:bodyPr wrap="square" lIns="0" tIns="0" rIns="0" bIns="0" rtlCol="0"/>
          <a:lstStyle/>
          <a:p>
            <a:endParaRPr/>
          </a:p>
        </p:txBody>
      </p:sp>
      <p:sp>
        <p:nvSpPr>
          <p:cNvPr id="40" name="object 40"/>
          <p:cNvSpPr txBox="1"/>
          <p:nvPr/>
        </p:nvSpPr>
        <p:spPr>
          <a:xfrm>
            <a:off x="5648705" y="8038338"/>
            <a:ext cx="250825"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Times New Roman"/>
                <a:cs typeface="Times New Roman"/>
              </a:rPr>
              <a:t>17.</a:t>
            </a:r>
            <a:endParaRPr sz="1400">
              <a:latin typeface="Times New Roman"/>
              <a:cs typeface="Times New Roman"/>
            </a:endParaRPr>
          </a:p>
        </p:txBody>
      </p:sp>
      <p:sp>
        <p:nvSpPr>
          <p:cNvPr id="41" name="object 41"/>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42" name="object 42"/>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2004" y="888238"/>
            <a:ext cx="5758815" cy="583942"/>
          </a:xfrm>
          <a:prstGeom prst="rect">
            <a:avLst/>
          </a:prstGeom>
        </p:spPr>
        <p:txBody>
          <a:bodyPr vert="horz" wrap="square" lIns="0" tIns="12700" rIns="0" bIns="0" rtlCol="0">
            <a:spAutoFit/>
          </a:bodyPr>
          <a:lstStyle/>
          <a:p>
            <a:pPr marR="513080" algn="ctr">
              <a:lnSpc>
                <a:spcPct val="100000"/>
              </a:lnSpc>
              <a:spcBef>
                <a:spcPts val="100"/>
              </a:spcBef>
            </a:pPr>
            <a:r>
              <a:rPr b="1" u="sng" spc="-10" dirty="0">
                <a:latin typeface="Times New Roman"/>
                <a:cs typeface="Times New Roman"/>
              </a:rPr>
              <a:t>ABSTRACT</a:t>
            </a:r>
            <a:endParaRPr u="sng" dirty="0">
              <a:latin typeface="Times New Roman"/>
              <a:cs typeface="Times New Roman"/>
            </a:endParaRPr>
          </a:p>
          <a:p>
            <a:pPr marL="12700" marR="5715" algn="just">
              <a:lnSpc>
                <a:spcPct val="103299"/>
              </a:lnSpc>
              <a:spcBef>
                <a:spcPts val="850"/>
              </a:spcBef>
            </a:pPr>
            <a:endParaRPr sz="1200" dirty="0">
              <a:latin typeface="Times New Roman"/>
              <a:cs typeface="Times New Roman"/>
            </a:endParaRPr>
          </a:p>
        </p:txBody>
      </p:sp>
      <p:sp>
        <p:nvSpPr>
          <p:cNvPr id="3" name="object 3"/>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3</a:t>
            </a:fld>
            <a:endParaRPr spc="-25" dirty="0"/>
          </a:p>
        </p:txBody>
      </p:sp>
      <p:sp>
        <p:nvSpPr>
          <p:cNvPr id="6" name="TextBox 5">
            <a:extLst>
              <a:ext uri="{FF2B5EF4-FFF2-40B4-BE49-F238E27FC236}">
                <a16:creationId xmlns:a16="http://schemas.microsoft.com/office/drawing/2014/main" id="{58B6DE3D-B967-4253-B947-B362827327C4}"/>
              </a:ext>
            </a:extLst>
          </p:cNvPr>
          <p:cNvSpPr txBox="1"/>
          <p:nvPr/>
        </p:nvSpPr>
        <p:spPr>
          <a:xfrm>
            <a:off x="659129" y="1483751"/>
            <a:ext cx="6238241" cy="3105145"/>
          </a:xfrm>
          <a:prstGeom prst="rect">
            <a:avLst/>
          </a:prstGeom>
          <a:noFill/>
        </p:spPr>
        <p:txBody>
          <a:bodyPr wrap="square">
            <a:spAutoFit/>
          </a:bodyPr>
          <a:lstStyle/>
          <a:p>
            <a:pPr algn="just">
              <a:lnSpc>
                <a:spcPct val="150000"/>
              </a:lnSpc>
            </a:pPr>
            <a:r>
              <a:rPr lang="en-US" sz="1200" dirty="0"/>
              <a:t>Heart Beat Monitoring System is a healthcare-based project designed to measure and monitor a person's heart rate in real time. The system uses a heartbeat sensor to detect pulse signals from the human body and processes the data through a microcontroller. The measured heart rate is displayed on a screen and can be continuously monitored for any abnormal changes. This system helps in the early detection of irregular heartbeats and provides quick information about a person's cardiovascular condition. It is especially useful for patients, elderly individuals, athletes, and healthcare professionals who require regular heart rate monitoring. The project is cost-effective, easy to use, and portable, making it suitable for both home and clinical environments. By providing accurate and real-time heart rate data, the Heart Beat Monitoring System contributes to improved health monitoring and preventive healthcare practices.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2004" y="888238"/>
            <a:ext cx="5759450" cy="6251007"/>
          </a:xfrm>
          <a:prstGeom prst="rect">
            <a:avLst/>
          </a:prstGeom>
        </p:spPr>
        <p:txBody>
          <a:bodyPr vert="horz" wrap="square" lIns="0" tIns="12700" rIns="0" bIns="0" rtlCol="0">
            <a:spAutoFit/>
          </a:bodyPr>
          <a:lstStyle/>
          <a:p>
            <a:pPr marR="220979" algn="ctr">
              <a:lnSpc>
                <a:spcPct val="100000"/>
              </a:lnSpc>
              <a:spcBef>
                <a:spcPts val="100"/>
              </a:spcBef>
            </a:pPr>
            <a:r>
              <a:rPr sz="1600" b="1" u="sng" spc="-10" dirty="0">
                <a:latin typeface="Times New Roman"/>
                <a:cs typeface="Times New Roman"/>
              </a:rPr>
              <a:t>ACKNOWLEDGEMENT</a:t>
            </a:r>
            <a:endParaRPr sz="1600" u="sng" dirty="0">
              <a:latin typeface="Times New Roman"/>
              <a:cs typeface="Times New Roman"/>
            </a:endParaRPr>
          </a:p>
          <a:p>
            <a:pPr marL="12700" marR="6350" algn="just">
              <a:lnSpc>
                <a:spcPct val="103299"/>
              </a:lnSpc>
              <a:spcBef>
                <a:spcPts val="850"/>
              </a:spcBef>
            </a:pPr>
            <a:r>
              <a:rPr lang="en-US" dirty="0"/>
              <a:t> </a:t>
            </a:r>
          </a:p>
          <a:p>
            <a:pPr marL="12700" marR="6350" algn="just">
              <a:lnSpc>
                <a:spcPct val="150000"/>
              </a:lnSpc>
              <a:spcBef>
                <a:spcPts val="850"/>
              </a:spcBef>
            </a:pPr>
            <a:r>
              <a:rPr lang="en-US" sz="1200" dirty="0"/>
              <a:t>Heart Beat Monitoring System is a healthcare monitoring project developed to measure and track a person's heart rate accurately in real time. The system uses a heartbeat sensor to detect pulse signals generated by the human body and converts them into readable data.</a:t>
            </a:r>
          </a:p>
          <a:p>
            <a:pPr marL="12700" marR="6350" algn="just">
              <a:lnSpc>
                <a:spcPct val="150000"/>
              </a:lnSpc>
              <a:spcBef>
                <a:spcPts val="850"/>
              </a:spcBef>
            </a:pPr>
            <a:r>
              <a:rPr lang="en-US" sz="1200" dirty="0"/>
              <a:t>Heart Beat Monitoring System is a healthcare monitoring project developed to measure and track a person's heart rate accurately in real time. The system uses a heartbeat sensor to detect pulse signals generated by the human body and converts them into readable data.</a:t>
            </a:r>
          </a:p>
          <a:p>
            <a:pPr marL="12700" marR="6350" algn="just">
              <a:lnSpc>
                <a:spcPct val="150000"/>
              </a:lnSpc>
              <a:spcBef>
                <a:spcPts val="850"/>
              </a:spcBef>
            </a:pPr>
            <a:r>
              <a:rPr lang="en-US" sz="1200" dirty="0"/>
              <a:t>Heart Beat Monitoring System is a healthcare monitoring project developed to measure and track a person's heart rate accurately in real time. The system uses a heartbeat sensor to detect pulse signals generated by the human body and converts them into readable data.</a:t>
            </a:r>
          </a:p>
          <a:p>
            <a:pPr marL="12700" marR="6350" algn="just">
              <a:lnSpc>
                <a:spcPct val="150000"/>
              </a:lnSpc>
              <a:spcBef>
                <a:spcPts val="850"/>
              </a:spcBef>
            </a:pPr>
            <a:r>
              <a:rPr lang="en-US" sz="1200" dirty="0"/>
              <a:t>The project is designed to be portable, cost-effective, and easy to operate. Due to its simple design and reliable performance, it can be used in homes, clinics, hospitals, and fitness centers for continuous heart rate monitoring and health management.</a:t>
            </a:r>
          </a:p>
          <a:p>
            <a:pPr marL="12700" marR="6350" algn="just">
              <a:lnSpc>
                <a:spcPct val="150000"/>
              </a:lnSpc>
              <a:spcBef>
                <a:spcPts val="850"/>
              </a:spcBef>
            </a:pPr>
            <a:r>
              <a:rPr lang="en-US" sz="1200" dirty="0"/>
              <a:t>The project is designed to be portable, cost-effective, and easy to operate. Due to its simple design and reliable performance, it can be used in homes, clinics, hospitals, and fitness centers for continuous heart rate monitoring and health management.</a:t>
            </a:r>
            <a:endParaRPr sz="1200" dirty="0">
              <a:latin typeface="Times New Roman"/>
              <a:cs typeface="Times New Roman"/>
            </a:endParaRPr>
          </a:p>
        </p:txBody>
      </p:sp>
      <p:sp>
        <p:nvSpPr>
          <p:cNvPr id="4" name="object 4"/>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4395" y="1308100"/>
            <a:ext cx="5807710" cy="319959"/>
          </a:xfrm>
          <a:prstGeom prst="rect">
            <a:avLst/>
          </a:prstGeom>
        </p:spPr>
        <p:txBody>
          <a:bodyPr vert="horz" wrap="square" lIns="0" tIns="12065" rIns="0" bIns="0" rtlCol="0">
            <a:spAutoFit/>
          </a:bodyPr>
          <a:lstStyle/>
          <a:p>
            <a:pPr marL="12700">
              <a:lnSpc>
                <a:spcPct val="100000"/>
              </a:lnSpc>
              <a:spcBef>
                <a:spcPts val="95"/>
              </a:spcBef>
            </a:pPr>
            <a:r>
              <a:rPr sz="2000" b="1" u="sng" dirty="0">
                <a:latin typeface="Times New Roman"/>
                <a:cs typeface="Times New Roman"/>
              </a:rPr>
              <a:t>1.</a:t>
            </a:r>
            <a:r>
              <a:rPr sz="2000" b="1" u="sng" spc="185" dirty="0">
                <a:latin typeface="Times New Roman"/>
                <a:cs typeface="Times New Roman"/>
              </a:rPr>
              <a:t> </a:t>
            </a:r>
            <a:r>
              <a:rPr sz="1600" b="1" u="sng" spc="-10" dirty="0">
                <a:latin typeface="Times New Roman"/>
                <a:cs typeface="Times New Roman"/>
              </a:rPr>
              <a:t>INTRODUCTION</a:t>
            </a:r>
            <a:endParaRPr sz="1600" u="sng" dirty="0">
              <a:latin typeface="Times New Roman"/>
              <a:cs typeface="Times New Roman"/>
            </a:endParaRPr>
          </a:p>
        </p:txBody>
      </p:sp>
      <p:sp>
        <p:nvSpPr>
          <p:cNvPr id="3" name="object 3"/>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5</a:t>
            </a:fld>
            <a:endParaRPr spc="-25" dirty="0"/>
          </a:p>
        </p:txBody>
      </p:sp>
      <p:sp>
        <p:nvSpPr>
          <p:cNvPr id="6" name="TextBox 5">
            <a:extLst>
              <a:ext uri="{FF2B5EF4-FFF2-40B4-BE49-F238E27FC236}">
                <a16:creationId xmlns:a16="http://schemas.microsoft.com/office/drawing/2014/main" id="{AEAD626C-0C41-410F-A267-836702DD3B60}"/>
              </a:ext>
            </a:extLst>
          </p:cNvPr>
          <p:cNvSpPr txBox="1"/>
          <p:nvPr/>
        </p:nvSpPr>
        <p:spPr>
          <a:xfrm>
            <a:off x="615950" y="1807496"/>
            <a:ext cx="6324600" cy="5598136"/>
          </a:xfrm>
          <a:prstGeom prst="rect">
            <a:avLst/>
          </a:prstGeom>
          <a:noFill/>
        </p:spPr>
        <p:txBody>
          <a:bodyPr wrap="square">
            <a:spAutoFit/>
          </a:bodyPr>
          <a:lstStyle/>
          <a:p>
            <a:pPr algn="just">
              <a:lnSpc>
                <a:spcPct val="150000"/>
              </a:lnSpc>
            </a:pPr>
            <a:r>
              <a:rPr lang="en-US" sz="1200" dirty="0"/>
              <a:t>Heart Beat Monitoring System is an important healthcare monitoring solution that helps measure and observe a person's heart rate in real time. The heartbeat rate is one of the most significant indicators of a person's health condition, as it reflects the functioning of the cardiovascular system. Regular monitoring of heart rate can help in the early detection of various heart-related problems and can assist in maintaining overall health.</a:t>
            </a:r>
          </a:p>
          <a:p>
            <a:pPr algn="just">
              <a:lnSpc>
                <a:spcPct val="150000"/>
              </a:lnSpc>
            </a:pPr>
            <a:r>
              <a:rPr lang="en-US" sz="1200" dirty="0"/>
              <a:t>With the advancement of sensor technology and embedded systems, heart rate monitoring has become more accurate, portable, and affordable. A Heart Beat Monitoring System typically uses a heartbeat sensor to detect pulse signals from the human body. These signals are then processed by a microcontroller, which calculates the heart rate in beats per minute (BPM) and displays the result on a screen or monitoring device.</a:t>
            </a:r>
          </a:p>
          <a:p>
            <a:pPr algn="just">
              <a:lnSpc>
                <a:spcPct val="150000"/>
              </a:lnSpc>
            </a:pPr>
            <a:r>
              <a:rPr lang="en-US" sz="1200" dirty="0"/>
              <a:t>The system is widely used in hospitals, clinics, fitness centers, and home healthcare applications. It is particularly beneficial for patients with heart conditions, elderly individuals, athletes, and people who require continuous health monitoring. Real-time monitoring enables users and healthcare professionals to take immediate action if any abnormal heart rate patterns are detected.</a:t>
            </a:r>
          </a:p>
          <a:p>
            <a:pPr algn="just">
              <a:lnSpc>
                <a:spcPct val="150000"/>
              </a:lnSpc>
            </a:pPr>
            <a:r>
              <a:rPr lang="en-US" sz="1200" dirty="0"/>
              <a:t>The main objective of this project is to develop a reliable, cost-effective, and user-friendly heart rate monitoring system that provides accurate measurements and supports preventive healthcare. By offering continuous monitoring and quick access to vital health information, the system contributes to improved patient care and better health management.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2004" y="1179322"/>
            <a:ext cx="5758815" cy="289182"/>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2.</a:t>
            </a:r>
            <a:r>
              <a:rPr sz="1600" b="1" spc="185" dirty="0">
                <a:latin typeface="Times New Roman"/>
                <a:cs typeface="Times New Roman"/>
              </a:rPr>
              <a:t> </a:t>
            </a:r>
            <a:r>
              <a:rPr b="1" spc="-10" dirty="0">
                <a:latin typeface="Times New Roman"/>
                <a:cs typeface="Times New Roman"/>
              </a:rPr>
              <a:t>OBJECTIVE</a:t>
            </a:r>
            <a:endParaRPr dirty="0">
              <a:latin typeface="Times New Roman"/>
              <a:cs typeface="Times New Roman"/>
            </a:endParaRPr>
          </a:p>
        </p:txBody>
      </p:sp>
      <p:sp>
        <p:nvSpPr>
          <p:cNvPr id="3" name="object 3"/>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6</a:t>
            </a:fld>
            <a:endParaRPr spc="-25" dirty="0"/>
          </a:p>
        </p:txBody>
      </p:sp>
      <p:sp>
        <p:nvSpPr>
          <p:cNvPr id="6" name="TextBox 5">
            <a:extLst>
              <a:ext uri="{FF2B5EF4-FFF2-40B4-BE49-F238E27FC236}">
                <a16:creationId xmlns:a16="http://schemas.microsoft.com/office/drawing/2014/main" id="{94B427A5-C97A-4509-8340-3638BEDDEBD6}"/>
              </a:ext>
            </a:extLst>
          </p:cNvPr>
          <p:cNvSpPr txBox="1"/>
          <p:nvPr/>
        </p:nvSpPr>
        <p:spPr>
          <a:xfrm>
            <a:off x="654050" y="1993899"/>
            <a:ext cx="6477001" cy="542533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400" dirty="0"/>
              <a:t>To design and develop a system capable of measuring heart rate accurately in real time.</a:t>
            </a:r>
          </a:p>
          <a:p>
            <a:pPr marL="285750" indent="-285750" algn="just">
              <a:lnSpc>
                <a:spcPct val="150000"/>
              </a:lnSpc>
              <a:buFont typeface="Arial" panose="020B0604020202020204" pitchFamily="34" charset="0"/>
              <a:buChar char="•"/>
            </a:pPr>
            <a:r>
              <a:rPr lang="en-US" sz="1400" dirty="0"/>
              <a:t>To monitor and display the heartbeat rate in beats per minute (BPM) using a heartbeat sensor and microcontroller.</a:t>
            </a:r>
          </a:p>
          <a:p>
            <a:pPr marL="285750" indent="-285750" algn="just">
              <a:lnSpc>
                <a:spcPct val="150000"/>
              </a:lnSpc>
              <a:buFont typeface="Arial" panose="020B0604020202020204" pitchFamily="34" charset="0"/>
              <a:buChar char="•"/>
            </a:pPr>
            <a:r>
              <a:rPr lang="en-US" sz="1400" dirty="0"/>
              <a:t>To provide continuous observation of heart activity for health monitoring purposes.</a:t>
            </a:r>
          </a:p>
          <a:p>
            <a:pPr marL="285750" indent="-285750" algn="just">
              <a:lnSpc>
                <a:spcPct val="150000"/>
              </a:lnSpc>
              <a:buFont typeface="Arial" panose="020B0604020202020204" pitchFamily="34" charset="0"/>
              <a:buChar char="•"/>
            </a:pPr>
            <a:r>
              <a:rPr lang="en-US" sz="1400" dirty="0"/>
              <a:t>To detect abnormal heart rate conditions and help in the early identification of potential cardiovascular problems.</a:t>
            </a:r>
          </a:p>
          <a:p>
            <a:pPr marL="285750" indent="-285750" algn="just">
              <a:lnSpc>
                <a:spcPct val="150000"/>
              </a:lnSpc>
              <a:buFont typeface="Arial" panose="020B0604020202020204" pitchFamily="34" charset="0"/>
              <a:buChar char="•"/>
            </a:pPr>
            <a:r>
              <a:rPr lang="en-US" sz="1400" dirty="0"/>
              <a:t>To develop a portable, user-friendly, and cost-effective monitoring device that can be used in homes, hospitals, and clinics.</a:t>
            </a:r>
          </a:p>
          <a:p>
            <a:pPr marL="285750" indent="-285750" algn="just">
              <a:lnSpc>
                <a:spcPct val="150000"/>
              </a:lnSpc>
              <a:buFont typeface="Arial" panose="020B0604020202020204" pitchFamily="34" charset="0"/>
              <a:buChar char="•"/>
            </a:pPr>
            <a:r>
              <a:rPr lang="en-US" sz="1400" dirty="0"/>
              <a:t>To improve healthcare management by providing quick and reliable heart rate information.</a:t>
            </a:r>
          </a:p>
          <a:p>
            <a:pPr marL="285750" indent="-285750" algn="just">
              <a:lnSpc>
                <a:spcPct val="150000"/>
              </a:lnSpc>
              <a:buFont typeface="Arial" panose="020B0604020202020204" pitchFamily="34" charset="0"/>
              <a:buChar char="•"/>
            </a:pPr>
            <a:r>
              <a:rPr lang="en-US" sz="1400" dirty="0"/>
              <a:t>To reduce the need for frequent manual pulse checking and increase monitoring efficiency.</a:t>
            </a:r>
          </a:p>
          <a:p>
            <a:pPr marL="285750" indent="-285750" algn="just">
              <a:lnSpc>
                <a:spcPct val="150000"/>
              </a:lnSpc>
              <a:buFont typeface="Arial" panose="020B0604020202020204" pitchFamily="34" charset="0"/>
              <a:buChar char="•"/>
            </a:pPr>
            <a:r>
              <a:rPr lang="en-US" sz="1400" dirty="0"/>
              <a:t>To promote preventive healthcare by enabling regular heart rate monitoring and timely medical attention when required</a:t>
            </a:r>
            <a:r>
              <a:rPr lang="en-US" sz="2400"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7309" y="1230616"/>
            <a:ext cx="5759450" cy="289182"/>
          </a:xfrm>
          <a:prstGeom prst="rect">
            <a:avLst/>
          </a:prstGeom>
        </p:spPr>
        <p:txBody>
          <a:bodyPr vert="horz" wrap="square" lIns="0" tIns="12065" rIns="0" bIns="0" rtlCol="0">
            <a:spAutoFit/>
          </a:bodyPr>
          <a:lstStyle/>
          <a:p>
            <a:pPr marL="240665" indent="-227965">
              <a:lnSpc>
                <a:spcPct val="100000"/>
              </a:lnSpc>
              <a:spcBef>
                <a:spcPts val="95"/>
              </a:spcBef>
              <a:buAutoNum type="arabicPeriod" startAt="3"/>
              <a:tabLst>
                <a:tab pos="240665" algn="l"/>
              </a:tabLst>
            </a:pPr>
            <a:r>
              <a:rPr b="1" spc="-10" dirty="0">
                <a:latin typeface="Times New Roman"/>
                <a:cs typeface="Times New Roman"/>
              </a:rPr>
              <a:t>METHODOLOGY</a:t>
            </a:r>
            <a:endParaRPr dirty="0">
              <a:latin typeface="Times New Roman"/>
              <a:cs typeface="Times New Roman"/>
            </a:endParaRPr>
          </a:p>
        </p:txBody>
      </p:sp>
      <p:sp>
        <p:nvSpPr>
          <p:cNvPr id="3" name="object 3"/>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7</a:t>
            </a:fld>
            <a:endParaRPr spc="-25" dirty="0"/>
          </a:p>
        </p:txBody>
      </p:sp>
      <p:sp>
        <p:nvSpPr>
          <p:cNvPr id="6" name="TextBox 5">
            <a:extLst>
              <a:ext uri="{FF2B5EF4-FFF2-40B4-BE49-F238E27FC236}">
                <a16:creationId xmlns:a16="http://schemas.microsoft.com/office/drawing/2014/main" id="{3FDF6666-5ABE-4B15-9445-CDA15767CE0A}"/>
              </a:ext>
            </a:extLst>
          </p:cNvPr>
          <p:cNvSpPr txBox="1"/>
          <p:nvPr/>
        </p:nvSpPr>
        <p:spPr>
          <a:xfrm>
            <a:off x="604264" y="1917700"/>
            <a:ext cx="6526786" cy="5442516"/>
          </a:xfrm>
          <a:prstGeom prst="rect">
            <a:avLst/>
          </a:prstGeom>
          <a:noFill/>
        </p:spPr>
        <p:txBody>
          <a:bodyPr wrap="square">
            <a:spAutoFit/>
          </a:bodyPr>
          <a:lstStyle/>
          <a:p>
            <a:pPr algn="just">
              <a:lnSpc>
                <a:spcPct val="150000"/>
              </a:lnSpc>
            </a:pPr>
            <a:r>
              <a:rPr lang="en-US" sz="1200" dirty="0"/>
              <a:t>The methodology of the Heart Beat Monitoring System begins with the collection of pulse signals from the human body using a heartbeat sensor. The sensor is placed on the fingertip or any suitable body part where blood flow can be easily detected. As blood circulates through the veins, the sensor captures variations in blood volume and generates corresponding electrical signals.</a:t>
            </a:r>
          </a:p>
          <a:p>
            <a:pPr algn="just">
              <a:lnSpc>
                <a:spcPct val="150000"/>
              </a:lnSpc>
            </a:pPr>
            <a:r>
              <a:rPr lang="en-US" sz="1200" dirty="0"/>
              <a:t>The generated signals are then transmitted to a microcontroller for processing. The microcontroller receives the analog signals from the heartbeat sensor and converts them into digital data. It analyzes the pulse signals and calculates the heart rate in terms of beats per minute (BPM).</a:t>
            </a:r>
          </a:p>
          <a:p>
            <a:pPr algn="just">
              <a:lnSpc>
                <a:spcPct val="150000"/>
              </a:lnSpc>
            </a:pPr>
            <a:r>
              <a:rPr lang="en-US" sz="1200" dirty="0"/>
              <a:t>After processing the data, the calculated heart rate is displayed on an LCD or other display module. This enables users to view their heart rate instantly and continuously. The display provides a simple and effective way to monitor cardiovascular activity in real time.</a:t>
            </a:r>
          </a:p>
          <a:p>
            <a:pPr algn="just">
              <a:lnSpc>
                <a:spcPct val="150000"/>
              </a:lnSpc>
            </a:pPr>
            <a:r>
              <a:rPr lang="en-US" sz="1200" dirty="0"/>
              <a:t>The system continuously monitors the heartbeat and updates the displayed BPM value at regular intervals. If the heart rate falls below or rises above the normal range, the system can be configured to generate an alert or warning signal, allowing timely attention to potential health issues.</a:t>
            </a:r>
          </a:p>
          <a:p>
            <a:pPr algn="just">
              <a:lnSpc>
                <a:spcPct val="150000"/>
              </a:lnSpc>
            </a:pPr>
            <a:r>
              <a:rPr lang="en-US" sz="1200" dirty="0"/>
              <a:t>Finally, the entire system is tested under different conditions to ensure accuracy, reliability, and proper functioning. The collected results are analyzed and compared with standard heart rate measurements to evaluate the performance of the Heart Beat Monitoring System</a:t>
            </a:r>
            <a:r>
              <a:rPr lang="en-US"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2004" y="1351143"/>
            <a:ext cx="5756910" cy="533479"/>
          </a:xfrm>
          <a:prstGeom prst="rect">
            <a:avLst/>
          </a:prstGeom>
        </p:spPr>
        <p:txBody>
          <a:bodyPr vert="horz" wrap="square" lIns="0" tIns="27940" rIns="0" bIns="0" rtlCol="0">
            <a:spAutoFit/>
          </a:bodyPr>
          <a:lstStyle/>
          <a:p>
            <a:pPr marL="240665" indent="-227965">
              <a:lnSpc>
                <a:spcPct val="100000"/>
              </a:lnSpc>
              <a:spcBef>
                <a:spcPts val="220"/>
              </a:spcBef>
              <a:buSzPct val="88888"/>
              <a:buAutoNum type="arabicPeriod" startAt="4"/>
              <a:tabLst>
                <a:tab pos="240665" algn="l"/>
              </a:tabLst>
            </a:pPr>
            <a:r>
              <a:rPr sz="1800" b="1" dirty="0">
                <a:latin typeface="Times New Roman"/>
                <a:cs typeface="Times New Roman"/>
              </a:rPr>
              <a:t>SYSTEM</a:t>
            </a:r>
            <a:r>
              <a:rPr sz="1800" b="1" spc="-50" dirty="0">
                <a:latin typeface="Times New Roman"/>
                <a:cs typeface="Times New Roman"/>
              </a:rPr>
              <a:t> </a:t>
            </a:r>
            <a:r>
              <a:rPr sz="1800" b="1" spc="-10" dirty="0">
                <a:latin typeface="Times New Roman"/>
                <a:cs typeface="Times New Roman"/>
              </a:rPr>
              <a:t>DESIGN</a:t>
            </a:r>
            <a:endParaRPr sz="1800" dirty="0">
              <a:latin typeface="Times New Roman"/>
              <a:cs typeface="Times New Roman"/>
            </a:endParaRPr>
          </a:p>
          <a:p>
            <a:pPr marL="278765" lvl="1" indent="-266065">
              <a:lnSpc>
                <a:spcPct val="100000"/>
              </a:lnSpc>
              <a:spcBef>
                <a:spcPts val="100"/>
              </a:spcBef>
              <a:buAutoNum type="arabicPeriod"/>
              <a:tabLst>
                <a:tab pos="278765" algn="l"/>
              </a:tabLst>
            </a:pPr>
            <a:r>
              <a:rPr sz="1400" b="1" dirty="0">
                <a:latin typeface="Times New Roman"/>
                <a:cs typeface="Times New Roman"/>
              </a:rPr>
              <a:t>Key</a:t>
            </a:r>
            <a:r>
              <a:rPr sz="1400" b="1" spc="-5" dirty="0">
                <a:latin typeface="Times New Roman"/>
                <a:cs typeface="Times New Roman"/>
              </a:rPr>
              <a:t> </a:t>
            </a:r>
            <a:r>
              <a:rPr sz="1400" b="1" spc="-10" dirty="0">
                <a:latin typeface="Times New Roman"/>
                <a:cs typeface="Times New Roman"/>
              </a:rPr>
              <a:t>Components</a:t>
            </a:r>
            <a:endParaRPr sz="1400" dirty="0">
              <a:latin typeface="Times New Roman"/>
              <a:cs typeface="Times New Roman"/>
            </a:endParaRPr>
          </a:p>
        </p:txBody>
      </p:sp>
      <p:sp>
        <p:nvSpPr>
          <p:cNvPr id="3" name="object 3"/>
          <p:cNvSpPr txBox="1"/>
          <p:nvPr/>
        </p:nvSpPr>
        <p:spPr>
          <a:xfrm>
            <a:off x="1130604" y="5814440"/>
            <a:ext cx="5526405" cy="946413"/>
          </a:xfrm>
          <a:prstGeom prst="rect">
            <a:avLst/>
          </a:prstGeom>
        </p:spPr>
        <p:txBody>
          <a:bodyPr vert="horz" wrap="square" lIns="0" tIns="12700" rIns="0" bIns="0" rtlCol="0">
            <a:spAutoFit/>
          </a:bodyPr>
          <a:lstStyle/>
          <a:p>
            <a:pPr>
              <a:lnSpc>
                <a:spcPct val="100000"/>
              </a:lnSpc>
              <a:spcBef>
                <a:spcPts val="140"/>
              </a:spcBef>
            </a:pPr>
            <a:endParaRPr sz="1200" dirty="0">
              <a:latin typeface="Times New Roman"/>
              <a:cs typeface="Times New Roman"/>
            </a:endParaRPr>
          </a:p>
          <a:p>
            <a:pPr marL="240665" indent="-227965">
              <a:lnSpc>
                <a:spcPct val="100000"/>
              </a:lnSpc>
              <a:spcBef>
                <a:spcPts val="5"/>
              </a:spcBef>
              <a:buFont typeface="Symbol"/>
              <a:buChar char=""/>
              <a:tabLst>
                <a:tab pos="240665" algn="l"/>
              </a:tabLst>
            </a:pPr>
            <a:r>
              <a:rPr sz="1200" b="1" dirty="0">
                <a:latin typeface="Times New Roman"/>
                <a:cs typeface="Times New Roman"/>
              </a:rPr>
              <a:t>7805</a:t>
            </a:r>
            <a:r>
              <a:rPr sz="1200" b="1" spc="-35" dirty="0">
                <a:latin typeface="Times New Roman"/>
                <a:cs typeface="Times New Roman"/>
              </a:rPr>
              <a:t> </a:t>
            </a:r>
            <a:r>
              <a:rPr sz="1200" b="1" dirty="0">
                <a:latin typeface="Times New Roman"/>
                <a:cs typeface="Times New Roman"/>
              </a:rPr>
              <a:t>Voltage</a:t>
            </a:r>
            <a:r>
              <a:rPr sz="1200" b="1" spc="-35" dirty="0">
                <a:latin typeface="Times New Roman"/>
                <a:cs typeface="Times New Roman"/>
              </a:rPr>
              <a:t> </a:t>
            </a:r>
            <a:r>
              <a:rPr sz="1200" b="1" dirty="0">
                <a:latin typeface="Times New Roman"/>
                <a:cs typeface="Times New Roman"/>
              </a:rPr>
              <a:t>Regulator</a:t>
            </a:r>
            <a:r>
              <a:rPr sz="1200" b="1" spc="-30" dirty="0">
                <a:latin typeface="Times New Roman"/>
                <a:cs typeface="Times New Roman"/>
              </a:rPr>
              <a:t> </a:t>
            </a:r>
            <a:r>
              <a:rPr sz="1200" b="1" spc="-25" dirty="0">
                <a:latin typeface="Times New Roman"/>
                <a:cs typeface="Times New Roman"/>
              </a:rPr>
              <a:t>IC</a:t>
            </a:r>
            <a:endParaRPr sz="1200" dirty="0">
              <a:latin typeface="Times New Roman"/>
              <a:cs typeface="Times New Roman"/>
            </a:endParaRPr>
          </a:p>
          <a:p>
            <a:pPr marL="240665" marR="5080">
              <a:lnSpc>
                <a:spcPts val="1490"/>
              </a:lnSpc>
              <a:spcBef>
                <a:spcPts val="40"/>
              </a:spcBef>
            </a:pPr>
            <a:r>
              <a:rPr sz="1200" dirty="0">
                <a:latin typeface="Times New Roman"/>
                <a:cs typeface="Times New Roman"/>
              </a:rPr>
              <a:t>This</a:t>
            </a:r>
            <a:r>
              <a:rPr sz="1200" spc="5" dirty="0">
                <a:latin typeface="Times New Roman"/>
                <a:cs typeface="Times New Roman"/>
              </a:rPr>
              <a:t> </a:t>
            </a:r>
            <a:r>
              <a:rPr sz="1200" dirty="0">
                <a:latin typeface="Times New Roman"/>
                <a:cs typeface="Times New Roman"/>
              </a:rPr>
              <a:t>component</a:t>
            </a:r>
            <a:r>
              <a:rPr sz="1200" spc="10" dirty="0">
                <a:latin typeface="Times New Roman"/>
                <a:cs typeface="Times New Roman"/>
              </a:rPr>
              <a:t> </a:t>
            </a:r>
            <a:r>
              <a:rPr sz="1200" dirty="0">
                <a:latin typeface="Times New Roman"/>
                <a:cs typeface="Times New Roman"/>
              </a:rPr>
              <a:t>provides</a:t>
            </a:r>
            <a:r>
              <a:rPr sz="1200" spc="20" dirty="0">
                <a:latin typeface="Times New Roman"/>
                <a:cs typeface="Times New Roman"/>
              </a:rPr>
              <a:t> </a:t>
            </a:r>
            <a:r>
              <a:rPr sz="1200" dirty="0">
                <a:latin typeface="Times New Roman"/>
                <a:cs typeface="Times New Roman"/>
              </a:rPr>
              <a:t>a stable</a:t>
            </a:r>
            <a:r>
              <a:rPr sz="1200" spc="5" dirty="0">
                <a:latin typeface="Times New Roman"/>
                <a:cs typeface="Times New Roman"/>
              </a:rPr>
              <a:t> </a:t>
            </a:r>
            <a:r>
              <a:rPr sz="1200" dirty="0">
                <a:latin typeface="Times New Roman"/>
                <a:cs typeface="Times New Roman"/>
              </a:rPr>
              <a:t>+5V</a:t>
            </a:r>
            <a:r>
              <a:rPr sz="1200" spc="5" dirty="0">
                <a:latin typeface="Times New Roman"/>
                <a:cs typeface="Times New Roman"/>
              </a:rPr>
              <a:t> </a:t>
            </a:r>
            <a:r>
              <a:rPr sz="1200" dirty="0">
                <a:latin typeface="Times New Roman"/>
                <a:cs typeface="Times New Roman"/>
              </a:rPr>
              <a:t>DC</a:t>
            </a:r>
            <a:r>
              <a:rPr sz="1200" spc="10" dirty="0">
                <a:latin typeface="Times New Roman"/>
                <a:cs typeface="Times New Roman"/>
              </a:rPr>
              <a:t> </a:t>
            </a:r>
            <a:r>
              <a:rPr sz="1200" dirty="0">
                <a:latin typeface="Times New Roman"/>
                <a:cs typeface="Times New Roman"/>
              </a:rPr>
              <a:t>output</a:t>
            </a:r>
            <a:r>
              <a:rPr sz="1200" spc="20" dirty="0">
                <a:latin typeface="Times New Roman"/>
                <a:cs typeface="Times New Roman"/>
              </a:rPr>
              <a:t> </a:t>
            </a:r>
            <a:r>
              <a:rPr sz="1200" dirty="0">
                <a:latin typeface="Times New Roman"/>
                <a:cs typeface="Times New Roman"/>
              </a:rPr>
              <a:t>from</a:t>
            </a:r>
            <a:r>
              <a:rPr sz="1200" spc="1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higher input</a:t>
            </a:r>
            <a:r>
              <a:rPr sz="1200" spc="10" dirty="0">
                <a:latin typeface="Times New Roman"/>
                <a:cs typeface="Times New Roman"/>
              </a:rPr>
              <a:t> </a:t>
            </a:r>
            <a:r>
              <a:rPr sz="1200" dirty="0">
                <a:latin typeface="Times New Roman"/>
                <a:cs typeface="Times New Roman"/>
              </a:rPr>
              <a:t>voltage </a:t>
            </a:r>
            <a:r>
              <a:rPr sz="1200" spc="-10" dirty="0">
                <a:latin typeface="Times New Roman"/>
                <a:cs typeface="Times New Roman"/>
              </a:rPr>
              <a:t>source. </a:t>
            </a:r>
            <a:r>
              <a:rPr sz="1200" dirty="0">
                <a:latin typeface="Times New Roman"/>
                <a:cs typeface="Times New Roman"/>
              </a:rPr>
              <a:t>It</a:t>
            </a:r>
            <a:r>
              <a:rPr sz="1200" spc="-30" dirty="0">
                <a:latin typeface="Times New Roman"/>
                <a:cs typeface="Times New Roman"/>
              </a:rPr>
              <a:t> </a:t>
            </a:r>
            <a:r>
              <a:rPr sz="1200" dirty="0">
                <a:latin typeface="Times New Roman"/>
                <a:cs typeface="Times New Roman"/>
              </a:rPr>
              <a:t>ensures</a:t>
            </a:r>
            <a:r>
              <a:rPr sz="1200" spc="-35"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timer</a:t>
            </a:r>
            <a:r>
              <a:rPr sz="1200" spc="-25" dirty="0">
                <a:latin typeface="Times New Roman"/>
                <a:cs typeface="Times New Roman"/>
              </a:rPr>
              <a:t> </a:t>
            </a:r>
            <a:r>
              <a:rPr sz="1200" dirty="0">
                <a:latin typeface="Times New Roman"/>
                <a:cs typeface="Times New Roman"/>
              </a:rPr>
              <a:t>IC</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other</a:t>
            </a:r>
            <a:r>
              <a:rPr sz="1200" spc="-35" dirty="0">
                <a:latin typeface="Times New Roman"/>
                <a:cs typeface="Times New Roman"/>
              </a:rPr>
              <a:t> </a:t>
            </a:r>
            <a:r>
              <a:rPr sz="1200" spc="-10" dirty="0">
                <a:latin typeface="Times New Roman"/>
                <a:cs typeface="Times New Roman"/>
              </a:rPr>
              <a:t>components</a:t>
            </a:r>
            <a:r>
              <a:rPr sz="1200" spc="-35" dirty="0">
                <a:latin typeface="Times New Roman"/>
                <a:cs typeface="Times New Roman"/>
              </a:rPr>
              <a:t> </a:t>
            </a:r>
            <a:r>
              <a:rPr sz="1200" dirty="0">
                <a:latin typeface="Times New Roman"/>
                <a:cs typeface="Times New Roman"/>
              </a:rPr>
              <a:t>receive</a:t>
            </a:r>
            <a:r>
              <a:rPr sz="1200" spc="-3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constant</a:t>
            </a:r>
            <a:r>
              <a:rPr sz="1200" spc="-2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safe</a:t>
            </a:r>
            <a:r>
              <a:rPr sz="1200" spc="-35" dirty="0">
                <a:latin typeface="Times New Roman"/>
                <a:cs typeface="Times New Roman"/>
              </a:rPr>
              <a:t> </a:t>
            </a:r>
            <a:r>
              <a:rPr sz="1200" spc="-10" dirty="0">
                <a:latin typeface="Times New Roman"/>
                <a:cs typeface="Times New Roman"/>
              </a:rPr>
              <a:t>operating</a:t>
            </a:r>
            <a:endParaRPr sz="1200" dirty="0">
              <a:latin typeface="Times New Roman"/>
              <a:cs typeface="Times New Roman"/>
            </a:endParaRPr>
          </a:p>
          <a:p>
            <a:pPr marL="240665">
              <a:lnSpc>
                <a:spcPts val="1430"/>
              </a:lnSpc>
            </a:pPr>
            <a:r>
              <a:rPr sz="1200" spc="-10" dirty="0">
                <a:latin typeface="Times New Roman"/>
                <a:cs typeface="Times New Roman"/>
              </a:rPr>
              <a:t>voltage.</a:t>
            </a:r>
            <a:endParaRPr sz="1200" dirty="0">
              <a:latin typeface="Times New Roman"/>
              <a:cs typeface="Times New Roman"/>
            </a:endParaRPr>
          </a:p>
        </p:txBody>
      </p:sp>
      <p:sp>
        <p:nvSpPr>
          <p:cNvPr id="4" name="object 4"/>
          <p:cNvSpPr txBox="1"/>
          <p:nvPr/>
        </p:nvSpPr>
        <p:spPr>
          <a:xfrm>
            <a:off x="2883535" y="9030715"/>
            <a:ext cx="203962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Fig</a:t>
            </a:r>
            <a:r>
              <a:rPr sz="1200" spc="-25" dirty="0">
                <a:latin typeface="Times New Roman"/>
                <a:cs typeface="Times New Roman"/>
              </a:rPr>
              <a:t> </a:t>
            </a:r>
            <a:r>
              <a:rPr sz="1200" dirty="0">
                <a:latin typeface="Times New Roman"/>
                <a:cs typeface="Times New Roman"/>
              </a:rPr>
              <a:t>2:7805</a:t>
            </a:r>
            <a:r>
              <a:rPr sz="1200" spc="-20" dirty="0">
                <a:latin typeface="Times New Roman"/>
                <a:cs typeface="Times New Roman"/>
              </a:rPr>
              <a:t> </a:t>
            </a:r>
            <a:r>
              <a:rPr sz="1200" dirty="0">
                <a:latin typeface="Times New Roman"/>
                <a:cs typeface="Times New Roman"/>
              </a:rPr>
              <a:t>Voltage</a:t>
            </a:r>
            <a:r>
              <a:rPr sz="1200" spc="-30" dirty="0">
                <a:latin typeface="Times New Roman"/>
                <a:cs typeface="Times New Roman"/>
              </a:rPr>
              <a:t> </a:t>
            </a:r>
            <a:r>
              <a:rPr sz="1200" dirty="0">
                <a:latin typeface="Times New Roman"/>
                <a:cs typeface="Times New Roman"/>
              </a:rPr>
              <a:t>Regulator</a:t>
            </a:r>
            <a:r>
              <a:rPr sz="1200" spc="-20" dirty="0">
                <a:latin typeface="Times New Roman"/>
                <a:cs typeface="Times New Roman"/>
              </a:rPr>
              <a:t> </a:t>
            </a:r>
            <a:r>
              <a:rPr sz="1200" spc="-25" dirty="0">
                <a:latin typeface="Times New Roman"/>
                <a:cs typeface="Times New Roman"/>
              </a:rPr>
              <a:t>IC</a:t>
            </a:r>
            <a:endParaRPr sz="1200">
              <a:latin typeface="Times New Roman"/>
              <a:cs typeface="Times New Roman"/>
            </a:endParaRPr>
          </a:p>
        </p:txBody>
      </p:sp>
      <p:pic>
        <p:nvPicPr>
          <p:cNvPr id="5" name="object 5"/>
          <p:cNvPicPr/>
          <p:nvPr/>
        </p:nvPicPr>
        <p:blipFill>
          <a:blip r:embed="rId2" cstate="print"/>
          <a:stretch>
            <a:fillRect/>
          </a:stretch>
        </p:blipFill>
        <p:spPr>
          <a:xfrm>
            <a:off x="2605638" y="7250079"/>
            <a:ext cx="2904256" cy="1513758"/>
          </a:xfrm>
          <a:prstGeom prst="rect">
            <a:avLst/>
          </a:prstGeom>
        </p:spPr>
      </p:pic>
      <p:sp>
        <p:nvSpPr>
          <p:cNvPr id="7" name="object 7"/>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8</a:t>
            </a:fld>
            <a:endParaRPr spc="-25" dirty="0"/>
          </a:p>
        </p:txBody>
      </p:sp>
      <p:sp>
        <p:nvSpPr>
          <p:cNvPr id="10" name="TextBox 9">
            <a:extLst>
              <a:ext uri="{FF2B5EF4-FFF2-40B4-BE49-F238E27FC236}">
                <a16:creationId xmlns:a16="http://schemas.microsoft.com/office/drawing/2014/main" id="{5DAC9750-4CFA-457A-966F-AA763A1F6DF1}"/>
              </a:ext>
            </a:extLst>
          </p:cNvPr>
          <p:cNvSpPr txBox="1"/>
          <p:nvPr/>
        </p:nvSpPr>
        <p:spPr>
          <a:xfrm>
            <a:off x="727282" y="1921481"/>
            <a:ext cx="6175168" cy="830997"/>
          </a:xfrm>
          <a:prstGeom prst="rect">
            <a:avLst/>
          </a:prstGeom>
          <a:noFill/>
        </p:spPr>
        <p:txBody>
          <a:bodyPr wrap="square">
            <a:spAutoFit/>
          </a:bodyPr>
          <a:lstStyle/>
          <a:p>
            <a:pPr marL="171450" indent="-171450">
              <a:buFont typeface="Arial" panose="020B0604020202020204" pitchFamily="34" charset="0"/>
              <a:buChar char="•"/>
            </a:pPr>
            <a:r>
              <a:rPr lang="en-US" sz="1200" dirty="0"/>
              <a:t>The 8051 microcontroller consists of a CPU, memory (RAM and ROM), I/O ports, timers/counters, serial communication interface, and an interrupt system. These components work together to process data, control peripherals, and execute embedded applications efficiently.</a:t>
            </a:r>
            <a:endParaRPr lang="en-IN" sz="1200" dirty="0"/>
          </a:p>
        </p:txBody>
      </p:sp>
      <p:pic>
        <p:nvPicPr>
          <p:cNvPr id="12" name="Picture 11">
            <a:extLst>
              <a:ext uri="{FF2B5EF4-FFF2-40B4-BE49-F238E27FC236}">
                <a16:creationId xmlns:a16="http://schemas.microsoft.com/office/drawing/2014/main" id="{A3754025-2545-4537-A047-C3CBD7C8D0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7049" y="2921546"/>
            <a:ext cx="3712845" cy="26260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30604" y="1208277"/>
            <a:ext cx="5526405" cy="734060"/>
          </a:xfrm>
          <a:prstGeom prst="rect">
            <a:avLst/>
          </a:prstGeom>
        </p:spPr>
        <p:txBody>
          <a:bodyPr vert="horz" wrap="square" lIns="0" tIns="12700" rIns="0" bIns="0" rtlCol="0">
            <a:spAutoFit/>
          </a:bodyPr>
          <a:lstStyle/>
          <a:p>
            <a:pPr marL="240665" indent="-227965" algn="just">
              <a:lnSpc>
                <a:spcPts val="1410"/>
              </a:lnSpc>
              <a:spcBef>
                <a:spcPts val="100"/>
              </a:spcBef>
              <a:buFont typeface="Symbol"/>
              <a:buChar char=""/>
              <a:tabLst>
                <a:tab pos="240665" algn="l"/>
              </a:tabLst>
            </a:pPr>
            <a:r>
              <a:rPr sz="1200" b="1" spc="-10" dirty="0">
                <a:latin typeface="Times New Roman"/>
                <a:cs typeface="Times New Roman"/>
              </a:rPr>
              <a:t>Resistors</a:t>
            </a:r>
            <a:endParaRPr sz="1200">
              <a:latin typeface="Times New Roman"/>
              <a:cs typeface="Times New Roman"/>
            </a:endParaRPr>
          </a:p>
          <a:p>
            <a:pPr marL="240665" marR="5080" algn="just">
              <a:lnSpc>
                <a:spcPts val="1380"/>
              </a:lnSpc>
              <a:spcBef>
                <a:spcPts val="65"/>
              </a:spcBef>
            </a:pPr>
            <a:r>
              <a:rPr sz="1200" dirty="0">
                <a:latin typeface="Times New Roman"/>
                <a:cs typeface="Times New Roman"/>
              </a:rPr>
              <a:t>Resistors</a:t>
            </a:r>
            <a:r>
              <a:rPr sz="1200" spc="110" dirty="0">
                <a:latin typeface="Times New Roman"/>
                <a:cs typeface="Times New Roman"/>
              </a:rPr>
              <a:t> </a:t>
            </a:r>
            <a:r>
              <a:rPr sz="1200" dirty="0">
                <a:latin typeface="Times New Roman"/>
                <a:cs typeface="Times New Roman"/>
              </a:rPr>
              <a:t>are</a:t>
            </a:r>
            <a:r>
              <a:rPr sz="1200" spc="100" dirty="0">
                <a:latin typeface="Times New Roman"/>
                <a:cs typeface="Times New Roman"/>
              </a:rPr>
              <a:t> </a:t>
            </a:r>
            <a:r>
              <a:rPr sz="1200" dirty="0">
                <a:latin typeface="Times New Roman"/>
                <a:cs typeface="Times New Roman"/>
              </a:rPr>
              <a:t>used</a:t>
            </a:r>
            <a:r>
              <a:rPr sz="1200" spc="110" dirty="0">
                <a:latin typeface="Times New Roman"/>
                <a:cs typeface="Times New Roman"/>
              </a:rPr>
              <a:t> </a:t>
            </a:r>
            <a:r>
              <a:rPr sz="1200" dirty="0">
                <a:latin typeface="Times New Roman"/>
                <a:cs typeface="Times New Roman"/>
              </a:rPr>
              <a:t>to</a:t>
            </a:r>
            <a:r>
              <a:rPr sz="1200" spc="120" dirty="0">
                <a:latin typeface="Times New Roman"/>
                <a:cs typeface="Times New Roman"/>
              </a:rPr>
              <a:t> </a:t>
            </a:r>
            <a:r>
              <a:rPr sz="1200" dirty="0">
                <a:latin typeface="Times New Roman"/>
                <a:cs typeface="Times New Roman"/>
              </a:rPr>
              <a:t>control</a:t>
            </a:r>
            <a:r>
              <a:rPr sz="1200" spc="110" dirty="0">
                <a:latin typeface="Times New Roman"/>
                <a:cs typeface="Times New Roman"/>
              </a:rPr>
              <a:t> </a:t>
            </a:r>
            <a:r>
              <a:rPr sz="1200" dirty="0">
                <a:latin typeface="Times New Roman"/>
                <a:cs typeface="Times New Roman"/>
              </a:rPr>
              <a:t>current</a:t>
            </a:r>
            <a:r>
              <a:rPr sz="1200" spc="110" dirty="0">
                <a:latin typeface="Times New Roman"/>
                <a:cs typeface="Times New Roman"/>
              </a:rPr>
              <a:t> </a:t>
            </a:r>
            <a:r>
              <a:rPr sz="1200" dirty="0">
                <a:latin typeface="Times New Roman"/>
                <a:cs typeface="Times New Roman"/>
              </a:rPr>
              <a:t>flow</a:t>
            </a:r>
            <a:r>
              <a:rPr sz="1200" spc="105" dirty="0">
                <a:latin typeface="Times New Roman"/>
                <a:cs typeface="Times New Roman"/>
              </a:rPr>
              <a:t> </a:t>
            </a:r>
            <a:r>
              <a:rPr sz="1200" dirty="0">
                <a:latin typeface="Times New Roman"/>
                <a:cs typeface="Times New Roman"/>
              </a:rPr>
              <a:t>in</a:t>
            </a:r>
            <a:r>
              <a:rPr sz="1200" spc="114" dirty="0">
                <a:latin typeface="Times New Roman"/>
                <a:cs typeface="Times New Roman"/>
              </a:rPr>
              <a:t> </a:t>
            </a:r>
            <a:r>
              <a:rPr sz="1200" dirty="0">
                <a:latin typeface="Times New Roman"/>
                <a:cs typeface="Times New Roman"/>
              </a:rPr>
              <a:t>the</a:t>
            </a:r>
            <a:r>
              <a:rPr sz="1200" spc="114" dirty="0">
                <a:latin typeface="Times New Roman"/>
                <a:cs typeface="Times New Roman"/>
              </a:rPr>
              <a:t> </a:t>
            </a:r>
            <a:r>
              <a:rPr sz="1200" dirty="0">
                <a:latin typeface="Times New Roman"/>
                <a:cs typeface="Times New Roman"/>
              </a:rPr>
              <a:t>circuit</a:t>
            </a:r>
            <a:r>
              <a:rPr sz="1200" spc="125" dirty="0">
                <a:latin typeface="Times New Roman"/>
                <a:cs typeface="Times New Roman"/>
              </a:rPr>
              <a:t> </a:t>
            </a:r>
            <a:r>
              <a:rPr sz="1200" dirty="0">
                <a:latin typeface="Times New Roman"/>
                <a:cs typeface="Times New Roman"/>
              </a:rPr>
              <a:t>and</a:t>
            </a:r>
            <a:r>
              <a:rPr sz="1200" spc="105" dirty="0">
                <a:latin typeface="Times New Roman"/>
                <a:cs typeface="Times New Roman"/>
              </a:rPr>
              <a:t> </a:t>
            </a:r>
            <a:r>
              <a:rPr sz="1200" dirty="0">
                <a:latin typeface="Times New Roman"/>
                <a:cs typeface="Times New Roman"/>
              </a:rPr>
              <a:t>form</a:t>
            </a:r>
            <a:r>
              <a:rPr sz="1200" spc="120" dirty="0">
                <a:latin typeface="Times New Roman"/>
                <a:cs typeface="Times New Roman"/>
              </a:rPr>
              <a:t> </a:t>
            </a:r>
            <a:r>
              <a:rPr sz="1200" dirty="0">
                <a:latin typeface="Times New Roman"/>
                <a:cs typeface="Times New Roman"/>
              </a:rPr>
              <a:t>part</a:t>
            </a:r>
            <a:r>
              <a:rPr sz="1200" spc="105" dirty="0">
                <a:latin typeface="Times New Roman"/>
                <a:cs typeface="Times New Roman"/>
              </a:rPr>
              <a:t> </a:t>
            </a:r>
            <a:r>
              <a:rPr sz="1200" dirty="0">
                <a:latin typeface="Times New Roman"/>
                <a:cs typeface="Times New Roman"/>
              </a:rPr>
              <a:t>of</a:t>
            </a:r>
            <a:r>
              <a:rPr sz="1200" spc="114" dirty="0">
                <a:latin typeface="Times New Roman"/>
                <a:cs typeface="Times New Roman"/>
              </a:rPr>
              <a:t> </a:t>
            </a:r>
            <a:r>
              <a:rPr sz="1200" dirty="0">
                <a:latin typeface="Times New Roman"/>
                <a:cs typeface="Times New Roman"/>
              </a:rPr>
              <a:t>the</a:t>
            </a:r>
            <a:r>
              <a:rPr sz="1200" spc="100" dirty="0">
                <a:latin typeface="Times New Roman"/>
                <a:cs typeface="Times New Roman"/>
              </a:rPr>
              <a:t> </a:t>
            </a:r>
            <a:r>
              <a:rPr sz="1200" spc="-10" dirty="0">
                <a:latin typeface="Times New Roman"/>
                <a:cs typeface="Times New Roman"/>
              </a:rPr>
              <a:t>timing </a:t>
            </a:r>
            <a:r>
              <a:rPr sz="1200" dirty="0">
                <a:latin typeface="Times New Roman"/>
                <a:cs typeface="Times New Roman"/>
              </a:rPr>
              <a:t>network.</a:t>
            </a:r>
            <a:r>
              <a:rPr sz="1200" spc="130" dirty="0">
                <a:latin typeface="Times New Roman"/>
                <a:cs typeface="Times New Roman"/>
              </a:rPr>
              <a:t> </a:t>
            </a:r>
            <a:r>
              <a:rPr sz="1200" dirty="0">
                <a:latin typeface="Times New Roman"/>
                <a:cs typeface="Times New Roman"/>
              </a:rPr>
              <a:t>They</a:t>
            </a:r>
            <a:r>
              <a:rPr sz="1200" spc="135" dirty="0">
                <a:latin typeface="Times New Roman"/>
                <a:cs typeface="Times New Roman"/>
              </a:rPr>
              <a:t> </a:t>
            </a:r>
            <a:r>
              <a:rPr sz="1200" dirty="0">
                <a:latin typeface="Times New Roman"/>
                <a:cs typeface="Times New Roman"/>
              </a:rPr>
              <a:t>determine</a:t>
            </a:r>
            <a:r>
              <a:rPr sz="1200" spc="130" dirty="0">
                <a:latin typeface="Times New Roman"/>
                <a:cs typeface="Times New Roman"/>
              </a:rPr>
              <a:t> </a:t>
            </a:r>
            <a:r>
              <a:rPr sz="1200" dirty="0">
                <a:latin typeface="Times New Roman"/>
                <a:cs typeface="Times New Roman"/>
              </a:rPr>
              <a:t>the</a:t>
            </a:r>
            <a:r>
              <a:rPr sz="1200" spc="130" dirty="0">
                <a:latin typeface="Times New Roman"/>
                <a:cs typeface="Times New Roman"/>
              </a:rPr>
              <a:t> </a:t>
            </a:r>
            <a:r>
              <a:rPr sz="1200" dirty="0">
                <a:latin typeface="Times New Roman"/>
                <a:cs typeface="Times New Roman"/>
              </a:rPr>
              <a:t>charging</a:t>
            </a:r>
            <a:r>
              <a:rPr sz="1200" spc="135" dirty="0">
                <a:latin typeface="Times New Roman"/>
                <a:cs typeface="Times New Roman"/>
              </a:rPr>
              <a:t> </a:t>
            </a:r>
            <a:r>
              <a:rPr sz="1200" dirty="0">
                <a:latin typeface="Times New Roman"/>
                <a:cs typeface="Times New Roman"/>
              </a:rPr>
              <a:t>and</a:t>
            </a:r>
            <a:r>
              <a:rPr sz="1200" spc="135" dirty="0">
                <a:latin typeface="Times New Roman"/>
                <a:cs typeface="Times New Roman"/>
              </a:rPr>
              <a:t> </a:t>
            </a:r>
            <a:r>
              <a:rPr sz="1200" dirty="0">
                <a:latin typeface="Times New Roman"/>
                <a:cs typeface="Times New Roman"/>
              </a:rPr>
              <a:t>discharging</a:t>
            </a:r>
            <a:r>
              <a:rPr sz="1200" spc="135" dirty="0">
                <a:latin typeface="Times New Roman"/>
                <a:cs typeface="Times New Roman"/>
              </a:rPr>
              <a:t> </a:t>
            </a:r>
            <a:r>
              <a:rPr sz="1200" dirty="0">
                <a:latin typeface="Times New Roman"/>
                <a:cs typeface="Times New Roman"/>
              </a:rPr>
              <a:t>rate</a:t>
            </a:r>
            <a:r>
              <a:rPr sz="1200" spc="130" dirty="0">
                <a:latin typeface="Times New Roman"/>
                <a:cs typeface="Times New Roman"/>
              </a:rPr>
              <a:t> </a:t>
            </a:r>
            <a:r>
              <a:rPr sz="1200" dirty="0">
                <a:latin typeface="Times New Roman"/>
                <a:cs typeface="Times New Roman"/>
              </a:rPr>
              <a:t>of</a:t>
            </a:r>
            <a:r>
              <a:rPr sz="1200" spc="130" dirty="0">
                <a:latin typeface="Times New Roman"/>
                <a:cs typeface="Times New Roman"/>
              </a:rPr>
              <a:t> </a:t>
            </a:r>
            <a:r>
              <a:rPr sz="1200" dirty="0">
                <a:latin typeface="Times New Roman"/>
                <a:cs typeface="Times New Roman"/>
              </a:rPr>
              <a:t>the</a:t>
            </a:r>
            <a:r>
              <a:rPr sz="1200" spc="130" dirty="0">
                <a:latin typeface="Times New Roman"/>
                <a:cs typeface="Times New Roman"/>
              </a:rPr>
              <a:t> </a:t>
            </a:r>
            <a:r>
              <a:rPr sz="1200" dirty="0">
                <a:latin typeface="Times New Roman"/>
                <a:cs typeface="Times New Roman"/>
              </a:rPr>
              <a:t>capacitor,</a:t>
            </a:r>
            <a:r>
              <a:rPr sz="1200" spc="130" dirty="0">
                <a:latin typeface="Times New Roman"/>
                <a:cs typeface="Times New Roman"/>
              </a:rPr>
              <a:t> </a:t>
            </a:r>
            <a:r>
              <a:rPr sz="1200" spc="-10" dirty="0">
                <a:latin typeface="Times New Roman"/>
                <a:cs typeface="Times New Roman"/>
              </a:rPr>
              <a:t>which </a:t>
            </a:r>
            <a:r>
              <a:rPr sz="1200" dirty="0">
                <a:latin typeface="Times New Roman"/>
                <a:cs typeface="Times New Roman"/>
              </a:rPr>
              <a:t>directly</a:t>
            </a:r>
            <a:r>
              <a:rPr sz="1200" spc="-35" dirty="0">
                <a:latin typeface="Times New Roman"/>
                <a:cs typeface="Times New Roman"/>
              </a:rPr>
              <a:t> </a:t>
            </a:r>
            <a:r>
              <a:rPr sz="1200" dirty="0">
                <a:latin typeface="Times New Roman"/>
                <a:cs typeface="Times New Roman"/>
              </a:rPr>
              <a:t>affects</a:t>
            </a:r>
            <a:r>
              <a:rPr sz="1200" spc="-4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output</a:t>
            </a:r>
            <a:r>
              <a:rPr sz="1200" spc="-30" dirty="0">
                <a:latin typeface="Times New Roman"/>
                <a:cs typeface="Times New Roman"/>
              </a:rPr>
              <a:t> </a:t>
            </a:r>
            <a:r>
              <a:rPr sz="1200" spc="-10" dirty="0">
                <a:latin typeface="Times New Roman"/>
                <a:cs typeface="Times New Roman"/>
              </a:rPr>
              <a:t>frequency.</a:t>
            </a:r>
            <a:endParaRPr sz="1200">
              <a:latin typeface="Times New Roman"/>
              <a:cs typeface="Times New Roman"/>
            </a:endParaRPr>
          </a:p>
        </p:txBody>
      </p:sp>
      <p:sp>
        <p:nvSpPr>
          <p:cNvPr id="3" name="object 3"/>
          <p:cNvSpPr txBox="1"/>
          <p:nvPr/>
        </p:nvSpPr>
        <p:spPr>
          <a:xfrm>
            <a:off x="1130604" y="3165475"/>
            <a:ext cx="5527675" cy="1211580"/>
          </a:xfrm>
          <a:prstGeom prst="rect">
            <a:avLst/>
          </a:prstGeom>
        </p:spPr>
        <p:txBody>
          <a:bodyPr vert="horz" wrap="square" lIns="0" tIns="12700" rIns="0" bIns="0" rtlCol="0">
            <a:spAutoFit/>
          </a:bodyPr>
          <a:lstStyle/>
          <a:p>
            <a:pPr marR="116839" algn="ctr">
              <a:lnSpc>
                <a:spcPct val="100000"/>
              </a:lnSpc>
              <a:spcBef>
                <a:spcPts val="100"/>
              </a:spcBef>
            </a:pPr>
            <a:r>
              <a:rPr sz="1200" dirty="0">
                <a:latin typeface="Times New Roman"/>
                <a:cs typeface="Times New Roman"/>
              </a:rPr>
              <a:t>Fig</a:t>
            </a:r>
            <a:r>
              <a:rPr sz="1200" spc="-15" dirty="0">
                <a:latin typeface="Times New Roman"/>
                <a:cs typeface="Times New Roman"/>
              </a:rPr>
              <a:t> </a:t>
            </a:r>
            <a:r>
              <a:rPr sz="1200" dirty="0">
                <a:latin typeface="Times New Roman"/>
                <a:cs typeface="Times New Roman"/>
              </a:rPr>
              <a:t>3:</a:t>
            </a:r>
            <a:r>
              <a:rPr sz="1200" spc="-15" dirty="0">
                <a:latin typeface="Times New Roman"/>
                <a:cs typeface="Times New Roman"/>
              </a:rPr>
              <a:t> </a:t>
            </a:r>
            <a:r>
              <a:rPr sz="1200" spc="-10" dirty="0">
                <a:latin typeface="Times New Roman"/>
                <a:cs typeface="Times New Roman"/>
              </a:rPr>
              <a:t>Resistors</a:t>
            </a:r>
            <a:endParaRPr sz="1200">
              <a:latin typeface="Times New Roman"/>
              <a:cs typeface="Times New Roman"/>
            </a:endParaRPr>
          </a:p>
          <a:p>
            <a:pPr>
              <a:lnSpc>
                <a:spcPct val="100000"/>
              </a:lnSpc>
              <a:spcBef>
                <a:spcPts val="610"/>
              </a:spcBef>
            </a:pPr>
            <a:endParaRPr sz="1200">
              <a:latin typeface="Times New Roman"/>
              <a:cs typeface="Times New Roman"/>
            </a:endParaRPr>
          </a:p>
          <a:p>
            <a:pPr marL="240665" indent="-227965" algn="just">
              <a:lnSpc>
                <a:spcPct val="100000"/>
              </a:lnSpc>
              <a:buFont typeface="Symbol"/>
              <a:buChar char=""/>
              <a:tabLst>
                <a:tab pos="240665" algn="l"/>
              </a:tabLst>
            </a:pPr>
            <a:r>
              <a:rPr sz="1200" b="1" spc="-10" dirty="0">
                <a:latin typeface="Times New Roman"/>
                <a:cs typeface="Times New Roman"/>
              </a:rPr>
              <a:t>Capacitor</a:t>
            </a:r>
            <a:endParaRPr sz="1200">
              <a:latin typeface="Times New Roman"/>
              <a:cs typeface="Times New Roman"/>
            </a:endParaRPr>
          </a:p>
          <a:p>
            <a:pPr marL="240665" marR="5080" algn="just">
              <a:lnSpc>
                <a:spcPct val="103299"/>
              </a:lnSpc>
            </a:pP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capacitor</a:t>
            </a:r>
            <a:r>
              <a:rPr sz="1200" spc="-3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main</a:t>
            </a:r>
            <a:r>
              <a:rPr sz="1200" spc="-20" dirty="0">
                <a:latin typeface="Times New Roman"/>
                <a:cs typeface="Times New Roman"/>
              </a:rPr>
              <a:t> </a:t>
            </a:r>
            <a:r>
              <a:rPr sz="1200" dirty="0">
                <a:latin typeface="Times New Roman"/>
                <a:cs typeface="Times New Roman"/>
              </a:rPr>
              <a:t>timing</a:t>
            </a:r>
            <a:r>
              <a:rPr sz="1200" spc="-35" dirty="0">
                <a:latin typeface="Times New Roman"/>
                <a:cs typeface="Times New Roman"/>
              </a:rPr>
              <a:t> </a:t>
            </a:r>
            <a:r>
              <a:rPr sz="1200" spc="-10" dirty="0">
                <a:latin typeface="Times New Roman"/>
                <a:cs typeface="Times New Roman"/>
              </a:rPr>
              <a:t>element.</a:t>
            </a:r>
            <a:r>
              <a:rPr sz="1200" spc="-30" dirty="0">
                <a:latin typeface="Times New Roman"/>
                <a:cs typeface="Times New Roman"/>
              </a:rPr>
              <a:t> </a:t>
            </a:r>
            <a:r>
              <a:rPr sz="1200" dirty="0">
                <a:latin typeface="Times New Roman"/>
                <a:cs typeface="Times New Roman"/>
              </a:rPr>
              <a:t>It</a:t>
            </a:r>
            <a:r>
              <a:rPr sz="1200" spc="-30" dirty="0">
                <a:latin typeface="Times New Roman"/>
                <a:cs typeface="Times New Roman"/>
              </a:rPr>
              <a:t> </a:t>
            </a:r>
            <a:r>
              <a:rPr sz="1200" spc="-10" dirty="0">
                <a:latin typeface="Times New Roman"/>
                <a:cs typeface="Times New Roman"/>
              </a:rPr>
              <a:t>repeatedly</a:t>
            </a:r>
            <a:r>
              <a:rPr sz="1200" spc="-30" dirty="0">
                <a:latin typeface="Times New Roman"/>
                <a:cs typeface="Times New Roman"/>
              </a:rPr>
              <a:t> </a:t>
            </a:r>
            <a:r>
              <a:rPr sz="1200" spc="-10" dirty="0">
                <a:latin typeface="Times New Roman"/>
                <a:cs typeface="Times New Roman"/>
              </a:rPr>
              <a:t>charges</a:t>
            </a:r>
            <a:r>
              <a:rPr sz="1200" spc="-2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discharges</a:t>
            </a:r>
            <a:r>
              <a:rPr sz="1200" spc="-30" dirty="0">
                <a:latin typeface="Times New Roman"/>
                <a:cs typeface="Times New Roman"/>
              </a:rPr>
              <a:t> </a:t>
            </a:r>
            <a:r>
              <a:rPr sz="1200" spc="-10" dirty="0">
                <a:latin typeface="Times New Roman"/>
                <a:cs typeface="Times New Roman"/>
              </a:rPr>
              <a:t>between </a:t>
            </a:r>
            <a:r>
              <a:rPr sz="1200" dirty="0">
                <a:latin typeface="Times New Roman"/>
                <a:cs typeface="Times New Roman"/>
              </a:rPr>
              <a:t>specific</a:t>
            </a:r>
            <a:r>
              <a:rPr sz="1200" spc="60" dirty="0">
                <a:latin typeface="Times New Roman"/>
                <a:cs typeface="Times New Roman"/>
              </a:rPr>
              <a:t> </a:t>
            </a:r>
            <a:r>
              <a:rPr sz="1200" dirty="0">
                <a:latin typeface="Times New Roman"/>
                <a:cs typeface="Times New Roman"/>
              </a:rPr>
              <a:t>voltage</a:t>
            </a:r>
            <a:r>
              <a:rPr sz="1200" spc="60" dirty="0">
                <a:latin typeface="Times New Roman"/>
                <a:cs typeface="Times New Roman"/>
              </a:rPr>
              <a:t> </a:t>
            </a:r>
            <a:r>
              <a:rPr sz="1200" dirty="0">
                <a:latin typeface="Times New Roman"/>
                <a:cs typeface="Times New Roman"/>
              </a:rPr>
              <a:t>levels,</a:t>
            </a:r>
            <a:r>
              <a:rPr sz="1200" spc="65" dirty="0">
                <a:latin typeface="Times New Roman"/>
                <a:cs typeface="Times New Roman"/>
              </a:rPr>
              <a:t> </a:t>
            </a:r>
            <a:r>
              <a:rPr sz="1200" dirty="0">
                <a:latin typeface="Times New Roman"/>
                <a:cs typeface="Times New Roman"/>
              </a:rPr>
              <a:t>causing</a:t>
            </a:r>
            <a:r>
              <a:rPr sz="1200" spc="65"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timer</a:t>
            </a:r>
            <a:r>
              <a:rPr sz="1200" spc="55" dirty="0">
                <a:latin typeface="Times New Roman"/>
                <a:cs typeface="Times New Roman"/>
              </a:rPr>
              <a:t> </a:t>
            </a:r>
            <a:r>
              <a:rPr sz="1200" dirty="0">
                <a:latin typeface="Times New Roman"/>
                <a:cs typeface="Times New Roman"/>
              </a:rPr>
              <a:t>IC</a:t>
            </a:r>
            <a:r>
              <a:rPr sz="1200" spc="65" dirty="0">
                <a:latin typeface="Times New Roman"/>
                <a:cs typeface="Times New Roman"/>
              </a:rPr>
              <a:t> </a:t>
            </a:r>
            <a:r>
              <a:rPr sz="1200" dirty="0">
                <a:latin typeface="Times New Roman"/>
                <a:cs typeface="Times New Roman"/>
              </a:rPr>
              <a:t>to</a:t>
            </a:r>
            <a:r>
              <a:rPr sz="1200" spc="65" dirty="0">
                <a:latin typeface="Times New Roman"/>
                <a:cs typeface="Times New Roman"/>
              </a:rPr>
              <a:t> </a:t>
            </a:r>
            <a:r>
              <a:rPr sz="1200" dirty="0">
                <a:latin typeface="Times New Roman"/>
                <a:cs typeface="Times New Roman"/>
              </a:rPr>
              <a:t>switch</a:t>
            </a:r>
            <a:r>
              <a:rPr sz="1200" spc="60" dirty="0">
                <a:latin typeface="Times New Roman"/>
                <a:cs typeface="Times New Roman"/>
              </a:rPr>
              <a:t> </a:t>
            </a:r>
            <a:r>
              <a:rPr sz="1200" dirty="0">
                <a:latin typeface="Times New Roman"/>
                <a:cs typeface="Times New Roman"/>
              </a:rPr>
              <a:t>its</a:t>
            </a:r>
            <a:r>
              <a:rPr sz="1200" spc="65" dirty="0">
                <a:latin typeface="Times New Roman"/>
                <a:cs typeface="Times New Roman"/>
              </a:rPr>
              <a:t> </a:t>
            </a:r>
            <a:r>
              <a:rPr sz="1200" dirty="0">
                <a:latin typeface="Times New Roman"/>
                <a:cs typeface="Times New Roman"/>
              </a:rPr>
              <a:t>output</a:t>
            </a:r>
            <a:r>
              <a:rPr sz="1200" spc="65" dirty="0">
                <a:latin typeface="Times New Roman"/>
                <a:cs typeface="Times New Roman"/>
              </a:rPr>
              <a:t> </a:t>
            </a:r>
            <a:r>
              <a:rPr sz="1200" dirty="0">
                <a:latin typeface="Times New Roman"/>
                <a:cs typeface="Times New Roman"/>
              </a:rPr>
              <a:t>state</a:t>
            </a:r>
            <a:r>
              <a:rPr sz="1200" spc="60" dirty="0">
                <a:latin typeface="Times New Roman"/>
                <a:cs typeface="Times New Roman"/>
              </a:rPr>
              <a:t> </a:t>
            </a:r>
            <a:r>
              <a:rPr sz="1200" dirty="0">
                <a:latin typeface="Times New Roman"/>
                <a:cs typeface="Times New Roman"/>
              </a:rPr>
              <a:t>and</a:t>
            </a:r>
            <a:r>
              <a:rPr sz="1200" spc="65" dirty="0">
                <a:latin typeface="Times New Roman"/>
                <a:cs typeface="Times New Roman"/>
              </a:rPr>
              <a:t> </a:t>
            </a:r>
            <a:r>
              <a:rPr sz="1200" dirty="0">
                <a:latin typeface="Times New Roman"/>
                <a:cs typeface="Times New Roman"/>
              </a:rPr>
              <a:t>generate</a:t>
            </a:r>
            <a:r>
              <a:rPr sz="1200" spc="70" dirty="0">
                <a:latin typeface="Times New Roman"/>
                <a:cs typeface="Times New Roman"/>
              </a:rPr>
              <a:t> </a:t>
            </a:r>
            <a:r>
              <a:rPr sz="1200" spc="-50" dirty="0">
                <a:latin typeface="Times New Roman"/>
                <a:cs typeface="Times New Roman"/>
              </a:rPr>
              <a:t>a </a:t>
            </a:r>
            <a:r>
              <a:rPr sz="1200" dirty="0">
                <a:latin typeface="Times New Roman"/>
                <a:cs typeface="Times New Roman"/>
              </a:rPr>
              <a:t>square</a:t>
            </a:r>
            <a:r>
              <a:rPr sz="1200" spc="-50" dirty="0">
                <a:latin typeface="Times New Roman"/>
                <a:cs typeface="Times New Roman"/>
              </a:rPr>
              <a:t> </a:t>
            </a:r>
            <a:r>
              <a:rPr sz="1200" spc="-10" dirty="0">
                <a:latin typeface="Times New Roman"/>
                <a:cs typeface="Times New Roman"/>
              </a:rPr>
              <a:t>wave.</a:t>
            </a:r>
            <a:endParaRPr sz="1200">
              <a:latin typeface="Times New Roman"/>
              <a:cs typeface="Times New Roman"/>
            </a:endParaRPr>
          </a:p>
        </p:txBody>
      </p:sp>
      <p:sp>
        <p:nvSpPr>
          <p:cNvPr id="4" name="object 4"/>
          <p:cNvSpPr txBox="1"/>
          <p:nvPr/>
        </p:nvSpPr>
        <p:spPr>
          <a:xfrm>
            <a:off x="1130604" y="6248780"/>
            <a:ext cx="5527675" cy="1040765"/>
          </a:xfrm>
          <a:prstGeom prst="rect">
            <a:avLst/>
          </a:prstGeom>
        </p:spPr>
        <p:txBody>
          <a:bodyPr vert="horz" wrap="square" lIns="0" tIns="12700" rIns="0" bIns="0" rtlCol="0">
            <a:spAutoFit/>
          </a:bodyPr>
          <a:lstStyle/>
          <a:p>
            <a:pPr marR="160655" algn="ctr">
              <a:lnSpc>
                <a:spcPct val="100000"/>
              </a:lnSpc>
              <a:spcBef>
                <a:spcPts val="100"/>
              </a:spcBef>
            </a:pPr>
            <a:r>
              <a:rPr sz="1200" dirty="0">
                <a:latin typeface="Times New Roman"/>
                <a:cs typeface="Times New Roman"/>
              </a:rPr>
              <a:t>Fig</a:t>
            </a:r>
            <a:r>
              <a:rPr sz="1200" spc="-15" dirty="0">
                <a:latin typeface="Times New Roman"/>
                <a:cs typeface="Times New Roman"/>
              </a:rPr>
              <a:t> </a:t>
            </a:r>
            <a:r>
              <a:rPr sz="1200" dirty="0">
                <a:latin typeface="Times New Roman"/>
                <a:cs typeface="Times New Roman"/>
              </a:rPr>
              <a:t>4:</a:t>
            </a:r>
            <a:r>
              <a:rPr sz="1200" spc="-15" dirty="0">
                <a:latin typeface="Times New Roman"/>
                <a:cs typeface="Times New Roman"/>
              </a:rPr>
              <a:t> </a:t>
            </a:r>
            <a:r>
              <a:rPr sz="1200" spc="-10" dirty="0">
                <a:latin typeface="Times New Roman"/>
                <a:cs typeface="Times New Roman"/>
              </a:rPr>
              <a:t>Capacitor</a:t>
            </a:r>
            <a:endParaRPr sz="1200">
              <a:latin typeface="Times New Roman"/>
              <a:cs typeface="Times New Roman"/>
            </a:endParaRPr>
          </a:p>
          <a:p>
            <a:pPr>
              <a:lnSpc>
                <a:spcPct val="100000"/>
              </a:lnSpc>
              <a:spcBef>
                <a:spcPts val="765"/>
              </a:spcBef>
            </a:pPr>
            <a:endParaRPr sz="1200">
              <a:latin typeface="Times New Roman"/>
              <a:cs typeface="Times New Roman"/>
            </a:endParaRPr>
          </a:p>
          <a:p>
            <a:pPr marL="240665" indent="-227965">
              <a:lnSpc>
                <a:spcPct val="100000"/>
              </a:lnSpc>
              <a:buFont typeface="Symbol"/>
              <a:buChar char=""/>
              <a:tabLst>
                <a:tab pos="240665" algn="l"/>
              </a:tabLst>
            </a:pPr>
            <a:r>
              <a:rPr sz="1200" b="1" spc="-25" dirty="0">
                <a:latin typeface="Times New Roman"/>
                <a:cs typeface="Times New Roman"/>
              </a:rPr>
              <a:t>LED</a:t>
            </a:r>
            <a:endParaRPr sz="1200">
              <a:latin typeface="Times New Roman"/>
              <a:cs typeface="Times New Roman"/>
            </a:endParaRPr>
          </a:p>
          <a:p>
            <a:pPr marL="240665" marR="5080">
              <a:lnSpc>
                <a:spcPts val="1490"/>
              </a:lnSpc>
              <a:spcBef>
                <a:spcPts val="50"/>
              </a:spcBef>
            </a:pPr>
            <a:r>
              <a:rPr sz="1200" dirty="0">
                <a:latin typeface="Times New Roman"/>
                <a:cs typeface="Times New Roman"/>
              </a:rPr>
              <a:t>The</a:t>
            </a:r>
            <a:r>
              <a:rPr sz="1200" spc="-60" dirty="0">
                <a:latin typeface="Times New Roman"/>
                <a:cs typeface="Times New Roman"/>
              </a:rPr>
              <a:t> </a:t>
            </a:r>
            <a:r>
              <a:rPr sz="1200" spc="-10" dirty="0">
                <a:latin typeface="Times New Roman"/>
                <a:cs typeface="Times New Roman"/>
              </a:rPr>
              <a:t>LED</a:t>
            </a:r>
            <a:r>
              <a:rPr sz="1200" spc="-60" dirty="0">
                <a:latin typeface="Times New Roman"/>
                <a:cs typeface="Times New Roman"/>
              </a:rPr>
              <a:t> </a:t>
            </a:r>
            <a:r>
              <a:rPr sz="1200" spc="-10" dirty="0">
                <a:latin typeface="Times New Roman"/>
                <a:cs typeface="Times New Roman"/>
              </a:rPr>
              <a:t>indicates</a:t>
            </a:r>
            <a:r>
              <a:rPr sz="1200" spc="-50"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spc="-10" dirty="0">
                <a:latin typeface="Times New Roman"/>
                <a:cs typeface="Times New Roman"/>
              </a:rPr>
              <a:t>presence</a:t>
            </a:r>
            <a:r>
              <a:rPr sz="1200" spc="-60"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power</a:t>
            </a:r>
            <a:r>
              <a:rPr sz="1200" spc="-60" dirty="0">
                <a:latin typeface="Times New Roman"/>
                <a:cs typeface="Times New Roman"/>
              </a:rPr>
              <a:t> </a:t>
            </a:r>
            <a:r>
              <a:rPr sz="1200" dirty="0">
                <a:latin typeface="Times New Roman"/>
                <a:cs typeface="Times New Roman"/>
              </a:rPr>
              <a:t>supply</a:t>
            </a:r>
            <a:r>
              <a:rPr sz="1200" spc="-50" dirty="0">
                <a:latin typeface="Times New Roman"/>
                <a:cs typeface="Times New Roman"/>
              </a:rPr>
              <a:t> </a:t>
            </a:r>
            <a:r>
              <a:rPr sz="1200" dirty="0">
                <a:latin typeface="Times New Roman"/>
                <a:cs typeface="Times New Roman"/>
              </a:rPr>
              <a:t>in</a:t>
            </a:r>
            <a:r>
              <a:rPr sz="1200" spc="-55"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spc="-10" dirty="0">
                <a:latin typeface="Times New Roman"/>
                <a:cs typeface="Times New Roman"/>
              </a:rPr>
              <a:t>circuit.</a:t>
            </a:r>
            <a:r>
              <a:rPr sz="1200" spc="-50" dirty="0">
                <a:latin typeface="Times New Roman"/>
                <a:cs typeface="Times New Roman"/>
              </a:rPr>
              <a:t> </a:t>
            </a:r>
            <a:r>
              <a:rPr sz="1200" spc="-10" dirty="0">
                <a:latin typeface="Times New Roman"/>
                <a:cs typeface="Times New Roman"/>
              </a:rPr>
              <a:t>It</a:t>
            </a:r>
            <a:r>
              <a:rPr sz="1200" spc="-55" dirty="0">
                <a:latin typeface="Times New Roman"/>
                <a:cs typeface="Times New Roman"/>
              </a:rPr>
              <a:t> </a:t>
            </a:r>
            <a:r>
              <a:rPr sz="1200" dirty="0">
                <a:latin typeface="Times New Roman"/>
                <a:cs typeface="Times New Roman"/>
              </a:rPr>
              <a:t>glows</a:t>
            </a:r>
            <a:r>
              <a:rPr sz="1200" spc="-55" dirty="0">
                <a:latin typeface="Times New Roman"/>
                <a:cs typeface="Times New Roman"/>
              </a:rPr>
              <a:t> </a:t>
            </a:r>
            <a:r>
              <a:rPr sz="1200" spc="-10" dirty="0">
                <a:latin typeface="Times New Roman"/>
                <a:cs typeface="Times New Roman"/>
              </a:rPr>
              <a:t>when</a:t>
            </a:r>
            <a:r>
              <a:rPr sz="1200" spc="-50" dirty="0">
                <a:latin typeface="Times New Roman"/>
                <a:cs typeface="Times New Roman"/>
              </a:rPr>
              <a:t> </a:t>
            </a:r>
            <a:r>
              <a:rPr sz="1200" dirty="0">
                <a:latin typeface="Times New Roman"/>
                <a:cs typeface="Times New Roman"/>
              </a:rPr>
              <a:t>the</a:t>
            </a:r>
            <a:r>
              <a:rPr sz="1200" spc="-60" dirty="0">
                <a:latin typeface="Times New Roman"/>
                <a:cs typeface="Times New Roman"/>
              </a:rPr>
              <a:t> </a:t>
            </a:r>
            <a:r>
              <a:rPr sz="1200" spc="-10" dirty="0">
                <a:latin typeface="Times New Roman"/>
                <a:cs typeface="Times New Roman"/>
              </a:rPr>
              <a:t>circuit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powered</a:t>
            </a:r>
            <a:r>
              <a:rPr sz="1200" spc="-30" dirty="0">
                <a:latin typeface="Times New Roman"/>
                <a:cs typeface="Times New Roman"/>
              </a:rPr>
              <a:t> </a:t>
            </a:r>
            <a:r>
              <a:rPr sz="1200" spc="-25" dirty="0">
                <a:latin typeface="Times New Roman"/>
                <a:cs typeface="Times New Roman"/>
              </a:rPr>
              <a:t>ON.</a:t>
            </a:r>
            <a:endParaRPr sz="1200">
              <a:latin typeface="Times New Roman"/>
              <a:cs typeface="Times New Roman"/>
            </a:endParaRPr>
          </a:p>
        </p:txBody>
      </p:sp>
      <p:sp>
        <p:nvSpPr>
          <p:cNvPr id="5" name="object 5"/>
          <p:cNvSpPr txBox="1"/>
          <p:nvPr/>
        </p:nvSpPr>
        <p:spPr>
          <a:xfrm>
            <a:off x="3416934" y="8972803"/>
            <a:ext cx="7200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Fig</a:t>
            </a:r>
            <a:r>
              <a:rPr sz="1200" spc="-15" dirty="0">
                <a:latin typeface="Times New Roman"/>
                <a:cs typeface="Times New Roman"/>
              </a:rPr>
              <a:t> </a:t>
            </a:r>
            <a:r>
              <a:rPr sz="1200" dirty="0">
                <a:latin typeface="Times New Roman"/>
                <a:cs typeface="Times New Roman"/>
              </a:rPr>
              <a:t>5:</a:t>
            </a:r>
            <a:r>
              <a:rPr sz="1200" spc="-15" dirty="0">
                <a:latin typeface="Times New Roman"/>
                <a:cs typeface="Times New Roman"/>
              </a:rPr>
              <a:t> </a:t>
            </a:r>
            <a:r>
              <a:rPr sz="1200" spc="-25" dirty="0">
                <a:latin typeface="Times New Roman"/>
                <a:cs typeface="Times New Roman"/>
              </a:rPr>
              <a:t>LED</a:t>
            </a:r>
            <a:endParaRPr sz="1200">
              <a:latin typeface="Times New Roman"/>
              <a:cs typeface="Times New Roman"/>
            </a:endParaRPr>
          </a:p>
        </p:txBody>
      </p:sp>
      <p:pic>
        <p:nvPicPr>
          <p:cNvPr id="6" name="object 6"/>
          <p:cNvPicPr/>
          <p:nvPr/>
        </p:nvPicPr>
        <p:blipFill>
          <a:blip r:embed="rId2" cstate="print"/>
          <a:stretch>
            <a:fillRect/>
          </a:stretch>
        </p:blipFill>
        <p:spPr>
          <a:xfrm>
            <a:off x="2930883" y="2233164"/>
            <a:ext cx="1655183" cy="826295"/>
          </a:xfrm>
          <a:prstGeom prst="rect">
            <a:avLst/>
          </a:prstGeom>
        </p:spPr>
      </p:pic>
      <p:pic>
        <p:nvPicPr>
          <p:cNvPr id="7" name="object 7"/>
          <p:cNvPicPr/>
          <p:nvPr/>
        </p:nvPicPr>
        <p:blipFill>
          <a:blip r:embed="rId3" cstate="print"/>
          <a:stretch>
            <a:fillRect/>
          </a:stretch>
        </p:blipFill>
        <p:spPr>
          <a:xfrm>
            <a:off x="2618104" y="4529994"/>
            <a:ext cx="2321560" cy="1487365"/>
          </a:xfrm>
          <a:prstGeom prst="rect">
            <a:avLst/>
          </a:prstGeom>
        </p:spPr>
      </p:pic>
      <p:pic>
        <p:nvPicPr>
          <p:cNvPr id="8" name="object 8"/>
          <p:cNvPicPr/>
          <p:nvPr/>
        </p:nvPicPr>
        <p:blipFill>
          <a:blip r:embed="rId4" cstate="print"/>
          <a:stretch>
            <a:fillRect/>
          </a:stretch>
        </p:blipFill>
        <p:spPr>
          <a:xfrm>
            <a:off x="2533323" y="7462081"/>
            <a:ext cx="2744488" cy="1375014"/>
          </a:xfrm>
          <a:prstGeom prst="rect">
            <a:avLst/>
          </a:prstGeom>
        </p:spPr>
      </p:pic>
      <p:sp>
        <p:nvSpPr>
          <p:cNvPr id="9" name="object 9"/>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30604" y="1092453"/>
            <a:ext cx="5526405" cy="775335"/>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200" b="1" dirty="0">
                <a:latin typeface="Times New Roman"/>
                <a:cs typeface="Times New Roman"/>
              </a:rPr>
              <a:t>Molex</a:t>
            </a:r>
            <a:r>
              <a:rPr sz="1200" b="1" spc="-40" dirty="0">
                <a:latin typeface="Times New Roman"/>
                <a:cs typeface="Times New Roman"/>
              </a:rPr>
              <a:t> </a:t>
            </a:r>
            <a:r>
              <a:rPr sz="1200" b="1" spc="-10" dirty="0">
                <a:latin typeface="Times New Roman"/>
                <a:cs typeface="Times New Roman"/>
              </a:rPr>
              <a:t>Connector</a:t>
            </a:r>
            <a:endParaRPr sz="1200">
              <a:latin typeface="Times New Roman"/>
              <a:cs typeface="Times New Roman"/>
            </a:endParaRPr>
          </a:p>
          <a:p>
            <a:pPr marL="240665" marR="5080">
              <a:lnSpc>
                <a:spcPts val="1490"/>
              </a:lnSpc>
              <a:spcBef>
                <a:spcPts val="45"/>
              </a:spcBef>
            </a:pP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Molex</a:t>
            </a:r>
            <a:r>
              <a:rPr sz="1200" spc="95" dirty="0">
                <a:latin typeface="Times New Roman"/>
                <a:cs typeface="Times New Roman"/>
              </a:rPr>
              <a:t> </a:t>
            </a:r>
            <a:r>
              <a:rPr sz="1200" dirty="0">
                <a:latin typeface="Times New Roman"/>
                <a:cs typeface="Times New Roman"/>
              </a:rPr>
              <a:t>connector</a:t>
            </a:r>
            <a:r>
              <a:rPr sz="1200" spc="90" dirty="0">
                <a:latin typeface="Times New Roman"/>
                <a:cs typeface="Times New Roman"/>
              </a:rPr>
              <a:t> </a:t>
            </a:r>
            <a:r>
              <a:rPr sz="1200" dirty="0">
                <a:latin typeface="Times New Roman"/>
                <a:cs typeface="Times New Roman"/>
              </a:rPr>
              <a:t>is</a:t>
            </a:r>
            <a:r>
              <a:rPr sz="1200" spc="100" dirty="0">
                <a:latin typeface="Times New Roman"/>
                <a:cs typeface="Times New Roman"/>
              </a:rPr>
              <a:t> </a:t>
            </a:r>
            <a:r>
              <a:rPr sz="1200" dirty="0">
                <a:latin typeface="Times New Roman"/>
                <a:cs typeface="Times New Roman"/>
              </a:rPr>
              <a:t>used</a:t>
            </a:r>
            <a:r>
              <a:rPr sz="1200" spc="85" dirty="0">
                <a:latin typeface="Times New Roman"/>
                <a:cs typeface="Times New Roman"/>
              </a:rPr>
              <a:t> </a:t>
            </a:r>
            <a:r>
              <a:rPr sz="1200" dirty="0">
                <a:latin typeface="Times New Roman"/>
                <a:cs typeface="Times New Roman"/>
              </a:rPr>
              <a:t>for</a:t>
            </a:r>
            <a:r>
              <a:rPr sz="1200" spc="85" dirty="0">
                <a:latin typeface="Times New Roman"/>
                <a:cs typeface="Times New Roman"/>
              </a:rPr>
              <a:t> </a:t>
            </a:r>
            <a:r>
              <a:rPr sz="1200" dirty="0">
                <a:latin typeface="Times New Roman"/>
                <a:cs typeface="Times New Roman"/>
              </a:rPr>
              <a:t>providing</a:t>
            </a:r>
            <a:r>
              <a:rPr sz="1200" spc="90" dirty="0">
                <a:latin typeface="Times New Roman"/>
                <a:cs typeface="Times New Roman"/>
              </a:rPr>
              <a:t> </a:t>
            </a:r>
            <a:r>
              <a:rPr sz="1200" dirty="0">
                <a:latin typeface="Times New Roman"/>
                <a:cs typeface="Times New Roman"/>
              </a:rPr>
              <a:t>a</a:t>
            </a:r>
            <a:r>
              <a:rPr sz="1200" spc="90" dirty="0">
                <a:latin typeface="Times New Roman"/>
                <a:cs typeface="Times New Roman"/>
              </a:rPr>
              <a:t> </a:t>
            </a:r>
            <a:r>
              <a:rPr sz="1200" dirty="0">
                <a:latin typeface="Times New Roman"/>
                <a:cs typeface="Times New Roman"/>
              </a:rPr>
              <a:t>reliable</a:t>
            </a:r>
            <a:r>
              <a:rPr sz="1200" spc="85" dirty="0">
                <a:latin typeface="Times New Roman"/>
                <a:cs typeface="Times New Roman"/>
              </a:rPr>
              <a:t> </a:t>
            </a:r>
            <a:r>
              <a:rPr sz="1200" dirty="0">
                <a:latin typeface="Times New Roman"/>
                <a:cs typeface="Times New Roman"/>
              </a:rPr>
              <a:t>external</a:t>
            </a:r>
            <a:r>
              <a:rPr sz="1200" spc="100" dirty="0">
                <a:latin typeface="Times New Roman"/>
                <a:cs typeface="Times New Roman"/>
              </a:rPr>
              <a:t> </a:t>
            </a:r>
            <a:r>
              <a:rPr sz="1200" dirty="0">
                <a:latin typeface="Times New Roman"/>
                <a:cs typeface="Times New Roman"/>
              </a:rPr>
              <a:t>connection</a:t>
            </a:r>
            <a:r>
              <a:rPr sz="1200" spc="95" dirty="0">
                <a:latin typeface="Times New Roman"/>
                <a:cs typeface="Times New Roman"/>
              </a:rPr>
              <a:t> </a:t>
            </a:r>
            <a:r>
              <a:rPr sz="1200" dirty="0">
                <a:latin typeface="Times New Roman"/>
                <a:cs typeface="Times New Roman"/>
              </a:rPr>
              <a:t>for</a:t>
            </a:r>
            <a:r>
              <a:rPr sz="1200" spc="80" dirty="0">
                <a:latin typeface="Times New Roman"/>
                <a:cs typeface="Times New Roman"/>
              </a:rPr>
              <a:t> </a:t>
            </a:r>
            <a:r>
              <a:rPr sz="1200" spc="-10" dirty="0">
                <a:latin typeface="Times New Roman"/>
                <a:cs typeface="Times New Roman"/>
              </a:rPr>
              <a:t>power </a:t>
            </a:r>
            <a:r>
              <a:rPr sz="1200" dirty="0">
                <a:latin typeface="Times New Roman"/>
                <a:cs typeface="Times New Roman"/>
              </a:rPr>
              <a:t>input</a:t>
            </a:r>
            <a:r>
              <a:rPr sz="1200" spc="-45"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output</a:t>
            </a:r>
            <a:r>
              <a:rPr sz="1200" spc="-45" dirty="0">
                <a:latin typeface="Times New Roman"/>
                <a:cs typeface="Times New Roman"/>
              </a:rPr>
              <a:t> </a:t>
            </a:r>
            <a:r>
              <a:rPr sz="1200" dirty="0">
                <a:latin typeface="Times New Roman"/>
                <a:cs typeface="Times New Roman"/>
              </a:rPr>
              <a:t>signals.</a:t>
            </a:r>
            <a:r>
              <a:rPr sz="1200" spc="-40" dirty="0">
                <a:latin typeface="Times New Roman"/>
                <a:cs typeface="Times New Roman"/>
              </a:rPr>
              <a:t> </a:t>
            </a:r>
            <a:r>
              <a:rPr sz="1200" dirty="0">
                <a:latin typeface="Times New Roman"/>
                <a:cs typeface="Times New Roman"/>
              </a:rPr>
              <a:t>It</a:t>
            </a:r>
            <a:r>
              <a:rPr sz="1200" spc="-45" dirty="0">
                <a:latin typeface="Times New Roman"/>
                <a:cs typeface="Times New Roman"/>
              </a:rPr>
              <a:t> </a:t>
            </a:r>
            <a:r>
              <a:rPr sz="1200" spc="-10" dirty="0">
                <a:latin typeface="Times New Roman"/>
                <a:cs typeface="Times New Roman"/>
              </a:rPr>
              <a:t>ensures</a:t>
            </a:r>
            <a:r>
              <a:rPr sz="1200" spc="-40" dirty="0">
                <a:latin typeface="Times New Roman"/>
                <a:cs typeface="Times New Roman"/>
              </a:rPr>
              <a:t> </a:t>
            </a:r>
            <a:r>
              <a:rPr sz="1200" dirty="0">
                <a:latin typeface="Times New Roman"/>
                <a:cs typeface="Times New Roman"/>
              </a:rPr>
              <a:t>secure</a:t>
            </a:r>
            <a:r>
              <a:rPr sz="1200" spc="-5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detachable</a:t>
            </a:r>
            <a:r>
              <a:rPr sz="1200" spc="-45" dirty="0">
                <a:latin typeface="Times New Roman"/>
                <a:cs typeface="Times New Roman"/>
              </a:rPr>
              <a:t> </a:t>
            </a:r>
            <a:r>
              <a:rPr sz="1200" dirty="0">
                <a:latin typeface="Times New Roman"/>
                <a:cs typeface="Times New Roman"/>
              </a:rPr>
              <a:t>wiring,</a:t>
            </a:r>
            <a:r>
              <a:rPr sz="1200" spc="-45" dirty="0">
                <a:latin typeface="Times New Roman"/>
                <a:cs typeface="Times New Roman"/>
              </a:rPr>
              <a:t> </a:t>
            </a:r>
            <a:r>
              <a:rPr sz="1200" spc="-10" dirty="0">
                <a:latin typeface="Times New Roman"/>
                <a:cs typeface="Times New Roman"/>
              </a:rPr>
              <a:t>making</a:t>
            </a:r>
            <a:r>
              <a:rPr sz="1200" spc="-5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circuit</a:t>
            </a:r>
            <a:r>
              <a:rPr sz="1200" spc="-45" dirty="0">
                <a:latin typeface="Times New Roman"/>
                <a:cs typeface="Times New Roman"/>
              </a:rPr>
              <a:t> </a:t>
            </a:r>
            <a:r>
              <a:rPr sz="1200" spc="-20" dirty="0">
                <a:latin typeface="Times New Roman"/>
                <a:cs typeface="Times New Roman"/>
              </a:rPr>
              <a:t>easy</a:t>
            </a:r>
            <a:endParaRPr sz="1200">
              <a:latin typeface="Times New Roman"/>
              <a:cs typeface="Times New Roman"/>
            </a:endParaRPr>
          </a:p>
          <a:p>
            <a:pPr marL="240665">
              <a:lnSpc>
                <a:spcPct val="100000"/>
              </a:lnSpc>
            </a:pP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connect,</a:t>
            </a:r>
            <a:r>
              <a:rPr sz="1200" spc="-30" dirty="0">
                <a:latin typeface="Times New Roman"/>
                <a:cs typeface="Times New Roman"/>
              </a:rPr>
              <a:t> </a:t>
            </a:r>
            <a:r>
              <a:rPr sz="1200" dirty="0">
                <a:latin typeface="Times New Roman"/>
                <a:cs typeface="Times New Roman"/>
              </a:rPr>
              <a:t>disconnect,</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maintain.</a:t>
            </a:r>
            <a:endParaRPr sz="1200">
              <a:latin typeface="Times New Roman"/>
              <a:cs typeface="Times New Roman"/>
            </a:endParaRPr>
          </a:p>
        </p:txBody>
      </p:sp>
      <p:sp>
        <p:nvSpPr>
          <p:cNvPr id="3" name="object 3"/>
          <p:cNvSpPr txBox="1"/>
          <p:nvPr/>
        </p:nvSpPr>
        <p:spPr>
          <a:xfrm>
            <a:off x="1130604" y="2968878"/>
            <a:ext cx="5523865" cy="1057275"/>
          </a:xfrm>
          <a:prstGeom prst="rect">
            <a:avLst/>
          </a:prstGeom>
        </p:spPr>
        <p:txBody>
          <a:bodyPr vert="horz" wrap="square" lIns="0" tIns="12700" rIns="0" bIns="0" rtlCol="0">
            <a:spAutoFit/>
          </a:bodyPr>
          <a:lstStyle/>
          <a:p>
            <a:pPr marR="209550" algn="ctr">
              <a:lnSpc>
                <a:spcPct val="100000"/>
              </a:lnSpc>
              <a:spcBef>
                <a:spcPts val="100"/>
              </a:spcBef>
            </a:pPr>
            <a:r>
              <a:rPr sz="1200" dirty="0">
                <a:latin typeface="Times New Roman"/>
                <a:cs typeface="Times New Roman"/>
              </a:rPr>
              <a:t>Fig</a:t>
            </a:r>
            <a:r>
              <a:rPr sz="1200" spc="-20" dirty="0">
                <a:latin typeface="Times New Roman"/>
                <a:cs typeface="Times New Roman"/>
              </a:rPr>
              <a:t> </a:t>
            </a:r>
            <a:r>
              <a:rPr sz="1200" dirty="0">
                <a:latin typeface="Times New Roman"/>
                <a:cs typeface="Times New Roman"/>
              </a:rPr>
              <a:t>6:</a:t>
            </a:r>
            <a:r>
              <a:rPr sz="1200" spc="-20" dirty="0">
                <a:latin typeface="Times New Roman"/>
                <a:cs typeface="Times New Roman"/>
              </a:rPr>
              <a:t> </a:t>
            </a:r>
            <a:r>
              <a:rPr sz="1200" dirty="0">
                <a:latin typeface="Times New Roman"/>
                <a:cs typeface="Times New Roman"/>
              </a:rPr>
              <a:t>Molex</a:t>
            </a:r>
            <a:r>
              <a:rPr sz="1200" spc="-20" dirty="0">
                <a:latin typeface="Times New Roman"/>
                <a:cs typeface="Times New Roman"/>
              </a:rPr>
              <a:t> </a:t>
            </a:r>
            <a:r>
              <a:rPr sz="1200" spc="-10" dirty="0">
                <a:latin typeface="Times New Roman"/>
                <a:cs typeface="Times New Roman"/>
              </a:rPr>
              <a:t>Connector</a:t>
            </a:r>
            <a:endParaRPr sz="1200">
              <a:latin typeface="Times New Roman"/>
              <a:cs typeface="Times New Roman"/>
            </a:endParaRPr>
          </a:p>
          <a:p>
            <a:pPr>
              <a:lnSpc>
                <a:spcPct val="100000"/>
              </a:lnSpc>
              <a:spcBef>
                <a:spcPts val="885"/>
              </a:spcBef>
            </a:pPr>
            <a:endParaRPr sz="1200">
              <a:latin typeface="Times New Roman"/>
              <a:cs typeface="Times New Roman"/>
            </a:endParaRPr>
          </a:p>
          <a:p>
            <a:pPr marL="240665" indent="-227965">
              <a:lnSpc>
                <a:spcPct val="100000"/>
              </a:lnSpc>
              <a:buFont typeface="Symbol"/>
              <a:buChar char=""/>
              <a:tabLst>
                <a:tab pos="240665" algn="l"/>
              </a:tabLst>
            </a:pPr>
            <a:r>
              <a:rPr sz="1200" b="1" spc="-10" dirty="0">
                <a:latin typeface="Times New Roman"/>
                <a:cs typeface="Times New Roman"/>
              </a:rPr>
              <a:t>Switch</a:t>
            </a:r>
            <a:endParaRPr sz="1200">
              <a:latin typeface="Times New Roman"/>
              <a:cs typeface="Times New Roman"/>
            </a:endParaRPr>
          </a:p>
          <a:p>
            <a:pPr marL="240665" marR="5080">
              <a:lnSpc>
                <a:spcPct val="103299"/>
              </a:lnSpc>
            </a:pP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switch</a:t>
            </a:r>
            <a:r>
              <a:rPr sz="1200" spc="5"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used to</a:t>
            </a:r>
            <a:r>
              <a:rPr sz="1200" spc="10" dirty="0">
                <a:latin typeface="Times New Roman"/>
                <a:cs typeface="Times New Roman"/>
              </a:rPr>
              <a:t> </a:t>
            </a:r>
            <a:r>
              <a:rPr sz="1200" dirty="0">
                <a:latin typeface="Times New Roman"/>
                <a:cs typeface="Times New Roman"/>
              </a:rPr>
              <a:t>control the</a:t>
            </a:r>
            <a:r>
              <a:rPr sz="1200" spc="5" dirty="0">
                <a:latin typeface="Times New Roman"/>
                <a:cs typeface="Times New Roman"/>
              </a:rPr>
              <a:t> </a:t>
            </a:r>
            <a:r>
              <a:rPr sz="1200" dirty="0">
                <a:latin typeface="Times New Roman"/>
                <a:cs typeface="Times New Roman"/>
              </a:rPr>
              <a:t>power</a:t>
            </a:r>
            <a:r>
              <a:rPr sz="1200" spc="-5" dirty="0">
                <a:latin typeface="Times New Roman"/>
                <a:cs typeface="Times New Roman"/>
              </a:rPr>
              <a:t> </a:t>
            </a:r>
            <a:r>
              <a:rPr sz="1200" dirty="0">
                <a:latin typeface="Times New Roman"/>
                <a:cs typeface="Times New Roman"/>
              </a:rPr>
              <a:t>supply</a:t>
            </a:r>
            <a:r>
              <a:rPr sz="1200" spc="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circuit.</a:t>
            </a:r>
            <a:r>
              <a:rPr sz="1200" spc="10" dirty="0">
                <a:latin typeface="Times New Roman"/>
                <a:cs typeface="Times New Roman"/>
              </a:rPr>
              <a:t> </a:t>
            </a:r>
            <a:r>
              <a:rPr sz="1200" dirty="0">
                <a:latin typeface="Times New Roman"/>
                <a:cs typeface="Times New Roman"/>
              </a:rPr>
              <a:t>It</a:t>
            </a:r>
            <a:r>
              <a:rPr sz="1200" spc="5" dirty="0">
                <a:latin typeface="Times New Roman"/>
                <a:cs typeface="Times New Roman"/>
              </a:rPr>
              <a:t> </a:t>
            </a:r>
            <a:r>
              <a:rPr sz="1200" dirty="0">
                <a:latin typeface="Times New Roman"/>
                <a:cs typeface="Times New Roman"/>
              </a:rPr>
              <a:t>allows</a:t>
            </a:r>
            <a:r>
              <a:rPr sz="1200" spc="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 to</a:t>
            </a:r>
            <a:r>
              <a:rPr sz="1200" spc="5" dirty="0">
                <a:latin typeface="Times New Roman"/>
                <a:cs typeface="Times New Roman"/>
              </a:rPr>
              <a:t> </a:t>
            </a:r>
            <a:r>
              <a:rPr sz="1200" spc="-20" dirty="0">
                <a:latin typeface="Times New Roman"/>
                <a:cs typeface="Times New Roman"/>
              </a:rPr>
              <a:t>turn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OFF</a:t>
            </a:r>
            <a:r>
              <a:rPr sz="1200" spc="-30" dirty="0">
                <a:latin typeface="Times New Roman"/>
                <a:cs typeface="Times New Roman"/>
              </a:rPr>
              <a:t> </a:t>
            </a:r>
            <a:r>
              <a:rPr sz="1200" dirty="0">
                <a:latin typeface="Times New Roman"/>
                <a:cs typeface="Times New Roman"/>
              </a:rPr>
              <a:t>safely</a:t>
            </a:r>
            <a:r>
              <a:rPr sz="1200" spc="-25" dirty="0">
                <a:latin typeface="Times New Roman"/>
                <a:cs typeface="Times New Roman"/>
              </a:rPr>
              <a:t> </a:t>
            </a:r>
            <a:r>
              <a:rPr sz="1200" dirty="0">
                <a:latin typeface="Times New Roman"/>
                <a:cs typeface="Times New Roman"/>
              </a:rPr>
              <a:t>without</a:t>
            </a:r>
            <a:r>
              <a:rPr sz="1200" spc="-25" dirty="0">
                <a:latin typeface="Times New Roman"/>
                <a:cs typeface="Times New Roman"/>
              </a:rPr>
              <a:t> </a:t>
            </a:r>
            <a:r>
              <a:rPr sz="1200" dirty="0">
                <a:latin typeface="Times New Roman"/>
                <a:cs typeface="Times New Roman"/>
              </a:rPr>
              <a:t>disconnecting</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power</a:t>
            </a:r>
            <a:r>
              <a:rPr sz="1200" spc="-20" dirty="0">
                <a:latin typeface="Times New Roman"/>
                <a:cs typeface="Times New Roman"/>
              </a:rPr>
              <a:t> </a:t>
            </a:r>
            <a:r>
              <a:rPr sz="1200" spc="-10" dirty="0">
                <a:latin typeface="Times New Roman"/>
                <a:cs typeface="Times New Roman"/>
              </a:rPr>
              <a:t>source.</a:t>
            </a:r>
            <a:endParaRPr sz="1200">
              <a:latin typeface="Times New Roman"/>
              <a:cs typeface="Times New Roman"/>
            </a:endParaRPr>
          </a:p>
        </p:txBody>
      </p:sp>
      <p:sp>
        <p:nvSpPr>
          <p:cNvPr id="4" name="object 4"/>
          <p:cNvSpPr txBox="1"/>
          <p:nvPr/>
        </p:nvSpPr>
        <p:spPr>
          <a:xfrm>
            <a:off x="3455034" y="5898260"/>
            <a:ext cx="84772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Fig</a:t>
            </a:r>
            <a:r>
              <a:rPr sz="1200" spc="-15" dirty="0">
                <a:latin typeface="Times New Roman"/>
                <a:cs typeface="Times New Roman"/>
              </a:rPr>
              <a:t> </a:t>
            </a:r>
            <a:r>
              <a:rPr sz="1200" dirty="0">
                <a:latin typeface="Times New Roman"/>
                <a:cs typeface="Times New Roman"/>
              </a:rPr>
              <a:t>7:</a:t>
            </a:r>
            <a:r>
              <a:rPr sz="1200" spc="-15" dirty="0">
                <a:latin typeface="Times New Roman"/>
                <a:cs typeface="Times New Roman"/>
              </a:rPr>
              <a:t> </a:t>
            </a:r>
            <a:r>
              <a:rPr sz="1200" spc="-10" dirty="0">
                <a:latin typeface="Times New Roman"/>
                <a:cs typeface="Times New Roman"/>
              </a:rPr>
              <a:t>Switch</a:t>
            </a:r>
            <a:endParaRPr sz="1200">
              <a:latin typeface="Times New Roman"/>
              <a:cs typeface="Times New Roman"/>
            </a:endParaRPr>
          </a:p>
        </p:txBody>
      </p:sp>
      <p:sp>
        <p:nvSpPr>
          <p:cNvPr id="5" name="object 5"/>
          <p:cNvSpPr txBox="1"/>
          <p:nvPr/>
        </p:nvSpPr>
        <p:spPr>
          <a:xfrm>
            <a:off x="1130604" y="6542912"/>
            <a:ext cx="5527040" cy="774065"/>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200" b="1" dirty="0">
                <a:latin typeface="Times New Roman"/>
                <a:cs typeface="Times New Roman"/>
              </a:rPr>
              <a:t>PCB</a:t>
            </a:r>
            <a:r>
              <a:rPr sz="1200" b="1" spc="-30" dirty="0">
                <a:latin typeface="Times New Roman"/>
                <a:cs typeface="Times New Roman"/>
              </a:rPr>
              <a:t> </a:t>
            </a:r>
            <a:r>
              <a:rPr sz="1200" b="1" spc="-10" dirty="0">
                <a:latin typeface="Times New Roman"/>
                <a:cs typeface="Times New Roman"/>
              </a:rPr>
              <a:t>Board</a:t>
            </a:r>
            <a:endParaRPr sz="1200">
              <a:latin typeface="Times New Roman"/>
              <a:cs typeface="Times New Roman"/>
            </a:endParaRPr>
          </a:p>
          <a:p>
            <a:pPr marL="240665">
              <a:lnSpc>
                <a:spcPct val="100000"/>
              </a:lnSpc>
              <a:spcBef>
                <a:spcPts val="35"/>
              </a:spcBef>
            </a:pP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PCB</a:t>
            </a:r>
            <a:r>
              <a:rPr sz="1200" spc="-45" dirty="0">
                <a:latin typeface="Times New Roman"/>
                <a:cs typeface="Times New Roman"/>
              </a:rPr>
              <a:t> </a:t>
            </a:r>
            <a:r>
              <a:rPr sz="1200" dirty="0">
                <a:latin typeface="Times New Roman"/>
                <a:cs typeface="Times New Roman"/>
              </a:rPr>
              <a:t>board</a:t>
            </a:r>
            <a:r>
              <a:rPr sz="1200" spc="-50" dirty="0">
                <a:latin typeface="Times New Roman"/>
                <a:cs typeface="Times New Roman"/>
              </a:rPr>
              <a:t> </a:t>
            </a:r>
            <a:r>
              <a:rPr sz="1200" dirty="0">
                <a:latin typeface="Times New Roman"/>
                <a:cs typeface="Times New Roman"/>
              </a:rPr>
              <a:t>provides</a:t>
            </a:r>
            <a:r>
              <a:rPr sz="1200" spc="-3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stable</a:t>
            </a:r>
            <a:r>
              <a:rPr sz="1200" spc="-50" dirty="0">
                <a:latin typeface="Times New Roman"/>
                <a:cs typeface="Times New Roman"/>
              </a:rPr>
              <a:t> </a:t>
            </a:r>
            <a:r>
              <a:rPr sz="1200" dirty="0">
                <a:latin typeface="Times New Roman"/>
                <a:cs typeface="Times New Roman"/>
              </a:rPr>
              <a:t>base</a:t>
            </a:r>
            <a:r>
              <a:rPr sz="1200" spc="-55" dirty="0">
                <a:latin typeface="Times New Roman"/>
                <a:cs typeface="Times New Roman"/>
              </a:rPr>
              <a:t> </a:t>
            </a:r>
            <a:r>
              <a:rPr sz="1200" dirty="0">
                <a:latin typeface="Times New Roman"/>
                <a:cs typeface="Times New Roman"/>
              </a:rPr>
              <a:t>for</a:t>
            </a:r>
            <a:r>
              <a:rPr sz="1200" spc="-55" dirty="0">
                <a:latin typeface="Times New Roman"/>
                <a:cs typeface="Times New Roman"/>
              </a:rPr>
              <a:t> </a:t>
            </a:r>
            <a:r>
              <a:rPr sz="1200" dirty="0">
                <a:latin typeface="Times New Roman"/>
                <a:cs typeface="Times New Roman"/>
              </a:rPr>
              <a:t>mounting</a:t>
            </a:r>
            <a:r>
              <a:rPr sz="1200" spc="-45" dirty="0">
                <a:latin typeface="Times New Roman"/>
                <a:cs typeface="Times New Roman"/>
              </a:rPr>
              <a:t> </a:t>
            </a:r>
            <a:r>
              <a:rPr sz="1200" dirty="0">
                <a:latin typeface="Times New Roman"/>
                <a:cs typeface="Times New Roman"/>
              </a:rPr>
              <a:t>all</a:t>
            </a:r>
            <a:r>
              <a:rPr sz="1200" spc="-45" dirty="0">
                <a:latin typeface="Times New Roman"/>
                <a:cs typeface="Times New Roman"/>
              </a:rPr>
              <a:t> </a:t>
            </a:r>
            <a:r>
              <a:rPr sz="1200" spc="-10" dirty="0">
                <a:latin typeface="Times New Roman"/>
                <a:cs typeface="Times New Roman"/>
              </a:rPr>
              <a:t>components</a:t>
            </a:r>
            <a:r>
              <a:rPr sz="1200" spc="-4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ensures</a:t>
            </a:r>
            <a:r>
              <a:rPr sz="1200" spc="-45" dirty="0">
                <a:latin typeface="Times New Roman"/>
                <a:cs typeface="Times New Roman"/>
              </a:rPr>
              <a:t> </a:t>
            </a:r>
            <a:r>
              <a:rPr sz="1200" spc="-10" dirty="0">
                <a:latin typeface="Times New Roman"/>
                <a:cs typeface="Times New Roman"/>
              </a:rPr>
              <a:t>proper</a:t>
            </a:r>
            <a:endParaRPr sz="1200">
              <a:latin typeface="Times New Roman"/>
              <a:cs typeface="Times New Roman"/>
            </a:endParaRPr>
          </a:p>
          <a:p>
            <a:pPr marL="240665" marR="5080">
              <a:lnSpc>
                <a:spcPct val="103299"/>
              </a:lnSpc>
              <a:spcBef>
                <a:spcPts val="5"/>
              </a:spcBef>
            </a:pPr>
            <a:r>
              <a:rPr sz="1200" dirty="0">
                <a:latin typeface="Times New Roman"/>
                <a:cs typeface="Times New Roman"/>
              </a:rPr>
              <a:t>electrical</a:t>
            </a:r>
            <a:r>
              <a:rPr sz="1200" spc="385" dirty="0">
                <a:latin typeface="Times New Roman"/>
                <a:cs typeface="Times New Roman"/>
              </a:rPr>
              <a:t> </a:t>
            </a:r>
            <a:r>
              <a:rPr sz="1200" dirty="0">
                <a:latin typeface="Times New Roman"/>
                <a:cs typeface="Times New Roman"/>
              </a:rPr>
              <a:t>connections</a:t>
            </a:r>
            <a:r>
              <a:rPr sz="1200" spc="385" dirty="0">
                <a:latin typeface="Times New Roman"/>
                <a:cs typeface="Times New Roman"/>
              </a:rPr>
              <a:t> </a:t>
            </a:r>
            <a:r>
              <a:rPr sz="1200" dirty="0">
                <a:latin typeface="Times New Roman"/>
                <a:cs typeface="Times New Roman"/>
              </a:rPr>
              <a:t>through</a:t>
            </a:r>
            <a:r>
              <a:rPr sz="1200" spc="385" dirty="0">
                <a:latin typeface="Times New Roman"/>
                <a:cs typeface="Times New Roman"/>
              </a:rPr>
              <a:t> </a:t>
            </a:r>
            <a:r>
              <a:rPr sz="1200" dirty="0">
                <a:latin typeface="Times New Roman"/>
                <a:cs typeface="Times New Roman"/>
              </a:rPr>
              <a:t>copper</a:t>
            </a:r>
            <a:r>
              <a:rPr sz="1200" spc="385" dirty="0">
                <a:latin typeface="Times New Roman"/>
                <a:cs typeface="Times New Roman"/>
              </a:rPr>
              <a:t> </a:t>
            </a:r>
            <a:r>
              <a:rPr sz="1200" dirty="0">
                <a:latin typeface="Times New Roman"/>
                <a:cs typeface="Times New Roman"/>
              </a:rPr>
              <a:t>tracks.</a:t>
            </a:r>
            <a:r>
              <a:rPr sz="1200" spc="395" dirty="0">
                <a:latin typeface="Times New Roman"/>
                <a:cs typeface="Times New Roman"/>
              </a:rPr>
              <a:t> </a:t>
            </a:r>
            <a:r>
              <a:rPr sz="1200" dirty="0">
                <a:latin typeface="Times New Roman"/>
                <a:cs typeface="Times New Roman"/>
              </a:rPr>
              <a:t>It</a:t>
            </a:r>
            <a:r>
              <a:rPr sz="1200" spc="385" dirty="0">
                <a:latin typeface="Times New Roman"/>
                <a:cs typeface="Times New Roman"/>
              </a:rPr>
              <a:t> </a:t>
            </a:r>
            <a:r>
              <a:rPr sz="1200" dirty="0">
                <a:latin typeface="Times New Roman"/>
                <a:cs typeface="Times New Roman"/>
              </a:rPr>
              <a:t>reduces</a:t>
            </a:r>
            <a:r>
              <a:rPr sz="1200" spc="395" dirty="0">
                <a:latin typeface="Times New Roman"/>
                <a:cs typeface="Times New Roman"/>
              </a:rPr>
              <a:t> </a:t>
            </a:r>
            <a:r>
              <a:rPr sz="1200" dirty="0">
                <a:latin typeface="Times New Roman"/>
                <a:cs typeface="Times New Roman"/>
              </a:rPr>
              <a:t>wiring</a:t>
            </a:r>
            <a:r>
              <a:rPr sz="1200" spc="385" dirty="0">
                <a:latin typeface="Times New Roman"/>
                <a:cs typeface="Times New Roman"/>
              </a:rPr>
              <a:t> </a:t>
            </a:r>
            <a:r>
              <a:rPr sz="1200" dirty="0">
                <a:latin typeface="Times New Roman"/>
                <a:cs typeface="Times New Roman"/>
              </a:rPr>
              <a:t>complexity</a:t>
            </a:r>
            <a:r>
              <a:rPr sz="1200" spc="385" dirty="0">
                <a:latin typeface="Times New Roman"/>
                <a:cs typeface="Times New Roman"/>
              </a:rPr>
              <a:t> </a:t>
            </a:r>
            <a:r>
              <a:rPr sz="1200" spc="-25" dirty="0">
                <a:latin typeface="Times New Roman"/>
                <a:cs typeface="Times New Roman"/>
              </a:rPr>
              <a:t>and </a:t>
            </a:r>
            <a:r>
              <a:rPr sz="1200" dirty="0">
                <a:latin typeface="Times New Roman"/>
                <a:cs typeface="Times New Roman"/>
              </a:rPr>
              <a:t>improves</a:t>
            </a:r>
            <a:r>
              <a:rPr sz="1200" spc="-4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overall</a:t>
            </a:r>
            <a:r>
              <a:rPr sz="1200" spc="-35" dirty="0">
                <a:latin typeface="Times New Roman"/>
                <a:cs typeface="Times New Roman"/>
              </a:rPr>
              <a:t> </a:t>
            </a:r>
            <a:r>
              <a:rPr sz="1200" dirty="0">
                <a:latin typeface="Times New Roman"/>
                <a:cs typeface="Times New Roman"/>
              </a:rPr>
              <a:t>reliability</a:t>
            </a:r>
            <a:r>
              <a:rPr sz="1200" spc="-4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circuit.</a:t>
            </a:r>
            <a:endParaRPr sz="1200">
              <a:latin typeface="Times New Roman"/>
              <a:cs typeface="Times New Roman"/>
            </a:endParaRPr>
          </a:p>
        </p:txBody>
      </p:sp>
      <p:sp>
        <p:nvSpPr>
          <p:cNvPr id="6" name="object 6"/>
          <p:cNvSpPr txBox="1"/>
          <p:nvPr/>
        </p:nvSpPr>
        <p:spPr>
          <a:xfrm>
            <a:off x="3607689" y="8838691"/>
            <a:ext cx="11214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Fig</a:t>
            </a:r>
            <a:r>
              <a:rPr sz="1200" spc="-10" dirty="0">
                <a:latin typeface="Times New Roman"/>
                <a:cs typeface="Times New Roman"/>
              </a:rPr>
              <a:t> </a:t>
            </a:r>
            <a:r>
              <a:rPr sz="1200" dirty="0">
                <a:latin typeface="Times New Roman"/>
                <a:cs typeface="Times New Roman"/>
              </a:rPr>
              <a:t>8:</a:t>
            </a:r>
            <a:r>
              <a:rPr sz="1200" spc="-10" dirty="0">
                <a:latin typeface="Times New Roman"/>
                <a:cs typeface="Times New Roman"/>
              </a:rPr>
              <a:t> </a:t>
            </a:r>
            <a:r>
              <a:rPr sz="1200" dirty="0">
                <a:latin typeface="Times New Roman"/>
                <a:cs typeface="Times New Roman"/>
              </a:rPr>
              <a:t>PCB</a:t>
            </a:r>
            <a:r>
              <a:rPr sz="1200" spc="-10" dirty="0">
                <a:latin typeface="Times New Roman"/>
                <a:cs typeface="Times New Roman"/>
              </a:rPr>
              <a:t> Board</a:t>
            </a:r>
            <a:endParaRPr sz="1200">
              <a:latin typeface="Times New Roman"/>
              <a:cs typeface="Times New Roman"/>
            </a:endParaRPr>
          </a:p>
        </p:txBody>
      </p:sp>
      <p:pic>
        <p:nvPicPr>
          <p:cNvPr id="7" name="object 7"/>
          <p:cNvPicPr/>
          <p:nvPr/>
        </p:nvPicPr>
        <p:blipFill>
          <a:blip r:embed="rId2" cstate="print"/>
          <a:stretch>
            <a:fillRect/>
          </a:stretch>
        </p:blipFill>
        <p:spPr>
          <a:xfrm>
            <a:off x="3526963" y="2011565"/>
            <a:ext cx="665018" cy="602575"/>
          </a:xfrm>
          <a:prstGeom prst="rect">
            <a:avLst/>
          </a:prstGeom>
        </p:spPr>
      </p:pic>
      <p:pic>
        <p:nvPicPr>
          <p:cNvPr id="8" name="object 8"/>
          <p:cNvPicPr/>
          <p:nvPr/>
        </p:nvPicPr>
        <p:blipFill>
          <a:blip r:embed="rId3" cstate="print"/>
          <a:stretch>
            <a:fillRect/>
          </a:stretch>
        </p:blipFill>
        <p:spPr>
          <a:xfrm>
            <a:off x="3422005" y="7440548"/>
            <a:ext cx="1512579" cy="1349278"/>
          </a:xfrm>
          <a:prstGeom prst="rect">
            <a:avLst/>
          </a:prstGeom>
        </p:spPr>
      </p:pic>
      <p:pic>
        <p:nvPicPr>
          <p:cNvPr id="9" name="object 9"/>
          <p:cNvPicPr/>
          <p:nvPr/>
        </p:nvPicPr>
        <p:blipFill>
          <a:blip r:embed="rId4" cstate="print"/>
          <a:stretch>
            <a:fillRect/>
          </a:stretch>
        </p:blipFill>
        <p:spPr>
          <a:xfrm>
            <a:off x="2358389" y="4229603"/>
            <a:ext cx="2843530" cy="1532259"/>
          </a:xfrm>
          <a:prstGeom prst="rect">
            <a:avLst/>
          </a:prstGeom>
        </p:spPr>
      </p:pic>
      <p:sp>
        <p:nvSpPr>
          <p:cNvPr id="10" name="object 10"/>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10</a:t>
            </a:fld>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13121" y="1188131"/>
            <a:ext cx="5758815" cy="2171620"/>
          </a:xfrm>
          <a:prstGeom prst="rect">
            <a:avLst/>
          </a:prstGeom>
        </p:spPr>
        <p:txBody>
          <a:bodyPr vert="horz" wrap="square" lIns="0" tIns="103505" rIns="0" bIns="0" rtlCol="0">
            <a:spAutoFit/>
          </a:bodyPr>
          <a:lstStyle/>
          <a:p>
            <a:pPr marL="12700" algn="just">
              <a:lnSpc>
                <a:spcPct val="100000"/>
              </a:lnSpc>
              <a:spcBef>
                <a:spcPts val="815"/>
              </a:spcBef>
            </a:pPr>
            <a:r>
              <a:rPr lang="en-US" sz="1400" dirty="0">
                <a:latin typeface="Times New Roman"/>
                <a:cs typeface="Times New Roman"/>
              </a:rPr>
              <a:t>The</a:t>
            </a:r>
            <a:r>
              <a:rPr lang="en-US" sz="1400" spc="-35" dirty="0">
                <a:latin typeface="Times New Roman"/>
                <a:cs typeface="Times New Roman"/>
              </a:rPr>
              <a:t> </a:t>
            </a:r>
            <a:r>
              <a:rPr lang="en-US" sz="1400" dirty="0">
                <a:latin typeface="Times New Roman"/>
                <a:cs typeface="Times New Roman"/>
              </a:rPr>
              <a:t>system</a:t>
            </a:r>
            <a:r>
              <a:rPr lang="en-US" sz="1400" spc="-20" dirty="0">
                <a:latin typeface="Times New Roman"/>
                <a:cs typeface="Times New Roman"/>
              </a:rPr>
              <a:t> </a:t>
            </a:r>
            <a:r>
              <a:rPr lang="en-US" sz="1400" dirty="0">
                <a:latin typeface="Times New Roman"/>
                <a:cs typeface="Times New Roman"/>
              </a:rPr>
              <a:t>design</a:t>
            </a:r>
            <a:r>
              <a:rPr lang="en-US" sz="1400" spc="-20" dirty="0">
                <a:latin typeface="Times New Roman"/>
                <a:cs typeface="Times New Roman"/>
              </a:rPr>
              <a:t> </a:t>
            </a:r>
            <a:r>
              <a:rPr lang="en-US" sz="1400" dirty="0">
                <a:latin typeface="Times New Roman"/>
                <a:cs typeface="Times New Roman"/>
              </a:rPr>
              <a:t>of</a:t>
            </a:r>
            <a:r>
              <a:rPr lang="en-US" sz="1400" spc="-20" dirty="0">
                <a:latin typeface="Times New Roman"/>
                <a:cs typeface="Times New Roman"/>
              </a:rPr>
              <a:t> </a:t>
            </a:r>
            <a:r>
              <a:rPr lang="en-US" sz="1400" dirty="0">
                <a:latin typeface="Times New Roman"/>
                <a:cs typeface="Times New Roman"/>
              </a:rPr>
              <a:t>the</a:t>
            </a:r>
            <a:r>
              <a:rPr lang="en-US" sz="1400" spc="-10" dirty="0">
                <a:latin typeface="Times New Roman"/>
                <a:cs typeface="Times New Roman"/>
              </a:rPr>
              <a:t> Radar  </a:t>
            </a:r>
            <a:r>
              <a:rPr lang="en-US" sz="1400" b="1" dirty="0">
                <a:latin typeface="Times New Roman"/>
                <a:cs typeface="Times New Roman"/>
              </a:rPr>
              <a:t> </a:t>
            </a:r>
            <a:r>
              <a:rPr lang="en-US" sz="1400" dirty="0">
                <a:latin typeface="Times New Roman"/>
                <a:cs typeface="Times New Roman"/>
              </a:rPr>
              <a:t>Surveillance</a:t>
            </a:r>
            <a:r>
              <a:rPr lang="en-US" sz="1400" b="1" dirty="0">
                <a:latin typeface="Times New Roman"/>
                <a:cs typeface="Times New Roman"/>
              </a:rPr>
              <a:t> </a:t>
            </a:r>
            <a:r>
              <a:rPr lang="en-US" sz="1400" spc="-10" dirty="0">
                <a:latin typeface="Times New Roman"/>
                <a:cs typeface="Times New Roman"/>
              </a:rPr>
              <a:t>System</a:t>
            </a:r>
            <a:r>
              <a:rPr lang="en-US" sz="1400" spc="-25" dirty="0">
                <a:latin typeface="Times New Roman"/>
                <a:cs typeface="Times New Roman"/>
              </a:rPr>
              <a:t> </a:t>
            </a:r>
            <a:r>
              <a:rPr lang="en-US" sz="1400" dirty="0">
                <a:latin typeface="Times New Roman"/>
                <a:cs typeface="Times New Roman"/>
              </a:rPr>
              <a:t>consists</a:t>
            </a:r>
            <a:r>
              <a:rPr lang="en-US" sz="1400" spc="-20" dirty="0">
                <a:latin typeface="Times New Roman"/>
                <a:cs typeface="Times New Roman"/>
              </a:rPr>
              <a:t> </a:t>
            </a:r>
            <a:r>
              <a:rPr lang="en-US" sz="1400" dirty="0">
                <a:latin typeface="Times New Roman"/>
                <a:cs typeface="Times New Roman"/>
              </a:rPr>
              <a:t>of</a:t>
            </a:r>
            <a:r>
              <a:rPr lang="en-US" sz="1400" spc="-20" dirty="0">
                <a:latin typeface="Times New Roman"/>
                <a:cs typeface="Times New Roman"/>
              </a:rPr>
              <a:t> </a:t>
            </a:r>
            <a:r>
              <a:rPr lang="en-US" sz="1400" dirty="0">
                <a:latin typeface="Times New Roman"/>
                <a:cs typeface="Times New Roman"/>
              </a:rPr>
              <a:t>three</a:t>
            </a:r>
            <a:r>
              <a:rPr lang="en-US" sz="1400" spc="-25" dirty="0">
                <a:latin typeface="Times New Roman"/>
                <a:cs typeface="Times New Roman"/>
              </a:rPr>
              <a:t> </a:t>
            </a:r>
            <a:r>
              <a:rPr lang="en-US" sz="1400" dirty="0">
                <a:latin typeface="Times New Roman"/>
                <a:cs typeface="Times New Roman"/>
              </a:rPr>
              <a:t>main</a:t>
            </a:r>
            <a:r>
              <a:rPr lang="en-US" sz="1400" spc="-20" dirty="0">
                <a:latin typeface="Times New Roman"/>
                <a:cs typeface="Times New Roman"/>
              </a:rPr>
              <a:t> </a:t>
            </a:r>
            <a:r>
              <a:rPr lang="en-US" sz="1400" spc="-10" dirty="0">
                <a:latin typeface="Times New Roman"/>
                <a:cs typeface="Times New Roman"/>
              </a:rPr>
              <a:t>sections:</a:t>
            </a:r>
            <a:endParaRPr lang="en-US" sz="1400" dirty="0">
              <a:latin typeface="Times New Roman"/>
              <a:cs typeface="Times New Roman"/>
            </a:endParaRPr>
          </a:p>
          <a:p>
            <a:pPr marL="278765" lvl="1" indent="-266065" algn="just">
              <a:lnSpc>
                <a:spcPct val="100000"/>
              </a:lnSpc>
              <a:spcBef>
                <a:spcPts val="844"/>
              </a:spcBef>
              <a:buAutoNum type="arabicPeriod" startAt="2"/>
              <a:tabLst>
                <a:tab pos="278765" algn="l"/>
              </a:tabLst>
            </a:pPr>
            <a:r>
              <a:rPr sz="1400" b="1" dirty="0">
                <a:latin typeface="Times New Roman"/>
                <a:cs typeface="Times New Roman"/>
              </a:rPr>
              <a:t>Power</a:t>
            </a:r>
            <a:r>
              <a:rPr sz="1400" b="1" spc="-30" dirty="0">
                <a:latin typeface="Times New Roman"/>
                <a:cs typeface="Times New Roman"/>
              </a:rPr>
              <a:t> </a:t>
            </a:r>
            <a:r>
              <a:rPr sz="1400" b="1" dirty="0">
                <a:latin typeface="Times New Roman"/>
                <a:cs typeface="Times New Roman"/>
              </a:rPr>
              <a:t>Supply</a:t>
            </a:r>
            <a:r>
              <a:rPr sz="1400" b="1" spc="-30" dirty="0">
                <a:latin typeface="Times New Roman"/>
                <a:cs typeface="Times New Roman"/>
              </a:rPr>
              <a:t> </a:t>
            </a:r>
            <a:r>
              <a:rPr sz="1400" b="1" spc="-10" dirty="0">
                <a:latin typeface="Times New Roman"/>
                <a:cs typeface="Times New Roman"/>
              </a:rPr>
              <a:t>Section</a:t>
            </a:r>
            <a:endParaRPr sz="1400" dirty="0">
              <a:latin typeface="Times New Roman"/>
              <a:cs typeface="Times New Roman"/>
            </a:endParaRPr>
          </a:p>
          <a:p>
            <a:pPr marL="12700" marR="6985" algn="just">
              <a:lnSpc>
                <a:spcPct val="103499"/>
              </a:lnSpc>
              <a:spcBef>
                <a:spcPts val="5"/>
              </a:spcBef>
            </a:pPr>
            <a:r>
              <a:rPr sz="1400" dirty="0">
                <a:latin typeface="Times New Roman"/>
                <a:cs typeface="Times New Roman"/>
              </a:rPr>
              <a:t>The</a:t>
            </a:r>
            <a:r>
              <a:rPr sz="1400" spc="15" dirty="0">
                <a:latin typeface="Times New Roman"/>
                <a:cs typeface="Times New Roman"/>
              </a:rPr>
              <a:t> </a:t>
            </a:r>
            <a:r>
              <a:rPr sz="1400" dirty="0">
                <a:latin typeface="Times New Roman"/>
                <a:cs typeface="Times New Roman"/>
              </a:rPr>
              <a:t>power</a:t>
            </a:r>
            <a:r>
              <a:rPr sz="1400" spc="15" dirty="0">
                <a:latin typeface="Times New Roman"/>
                <a:cs typeface="Times New Roman"/>
              </a:rPr>
              <a:t> </a:t>
            </a:r>
            <a:r>
              <a:rPr sz="1400" dirty="0">
                <a:latin typeface="Times New Roman"/>
                <a:cs typeface="Times New Roman"/>
              </a:rPr>
              <a:t>supply</a:t>
            </a:r>
            <a:r>
              <a:rPr sz="1400" spc="25" dirty="0">
                <a:latin typeface="Times New Roman"/>
                <a:cs typeface="Times New Roman"/>
              </a:rPr>
              <a:t> </a:t>
            </a:r>
            <a:r>
              <a:rPr sz="1400" dirty="0">
                <a:latin typeface="Times New Roman"/>
                <a:cs typeface="Times New Roman"/>
              </a:rPr>
              <a:t>section</a:t>
            </a:r>
            <a:r>
              <a:rPr sz="1400" spc="20" dirty="0">
                <a:latin typeface="Times New Roman"/>
                <a:cs typeface="Times New Roman"/>
              </a:rPr>
              <a:t> </a:t>
            </a:r>
            <a:r>
              <a:rPr sz="1400" dirty="0">
                <a:latin typeface="Times New Roman"/>
                <a:cs typeface="Times New Roman"/>
              </a:rPr>
              <a:t>provides</a:t>
            </a:r>
            <a:r>
              <a:rPr sz="1400" spc="25" dirty="0">
                <a:latin typeface="Times New Roman"/>
                <a:cs typeface="Times New Roman"/>
              </a:rPr>
              <a:t> </a:t>
            </a:r>
            <a:r>
              <a:rPr sz="1400" dirty="0">
                <a:latin typeface="Times New Roman"/>
                <a:cs typeface="Times New Roman"/>
              </a:rPr>
              <a:t>a</a:t>
            </a:r>
            <a:r>
              <a:rPr sz="1400" spc="25" dirty="0">
                <a:latin typeface="Times New Roman"/>
                <a:cs typeface="Times New Roman"/>
              </a:rPr>
              <a:t> </a:t>
            </a:r>
            <a:r>
              <a:rPr sz="1400" dirty="0">
                <a:latin typeface="Times New Roman"/>
                <a:cs typeface="Times New Roman"/>
              </a:rPr>
              <a:t>stable</a:t>
            </a:r>
            <a:r>
              <a:rPr sz="1400" spc="30" dirty="0">
                <a:latin typeface="Times New Roman"/>
                <a:cs typeface="Times New Roman"/>
              </a:rPr>
              <a:t> </a:t>
            </a:r>
            <a:r>
              <a:rPr sz="1400" dirty="0">
                <a:latin typeface="Times New Roman"/>
                <a:cs typeface="Times New Roman"/>
              </a:rPr>
              <a:t>DC</a:t>
            </a:r>
            <a:r>
              <a:rPr sz="1400" spc="25" dirty="0">
                <a:latin typeface="Times New Roman"/>
                <a:cs typeface="Times New Roman"/>
              </a:rPr>
              <a:t> </a:t>
            </a:r>
            <a:r>
              <a:rPr sz="1400" dirty="0">
                <a:latin typeface="Times New Roman"/>
                <a:cs typeface="Times New Roman"/>
              </a:rPr>
              <a:t>voltage</a:t>
            </a:r>
            <a:r>
              <a:rPr sz="1400" spc="15" dirty="0">
                <a:latin typeface="Times New Roman"/>
                <a:cs typeface="Times New Roman"/>
              </a:rPr>
              <a:t> </a:t>
            </a:r>
            <a:r>
              <a:rPr sz="1400" dirty="0">
                <a:latin typeface="Times New Roman"/>
                <a:cs typeface="Times New Roman"/>
              </a:rPr>
              <a:t>required</a:t>
            </a:r>
            <a:r>
              <a:rPr sz="1400" spc="35" dirty="0">
                <a:latin typeface="Times New Roman"/>
                <a:cs typeface="Times New Roman"/>
              </a:rPr>
              <a:t> </a:t>
            </a:r>
            <a:r>
              <a:rPr sz="1400" dirty="0">
                <a:latin typeface="Times New Roman"/>
                <a:cs typeface="Times New Roman"/>
              </a:rPr>
              <a:t>for</a:t>
            </a:r>
            <a:r>
              <a:rPr sz="1400" spc="10" dirty="0">
                <a:latin typeface="Times New Roman"/>
                <a:cs typeface="Times New Roman"/>
              </a:rPr>
              <a:t> </a:t>
            </a:r>
            <a:r>
              <a:rPr sz="1400" dirty="0">
                <a:latin typeface="Times New Roman"/>
                <a:cs typeface="Times New Roman"/>
              </a:rPr>
              <a:t>proper</a:t>
            </a:r>
            <a:r>
              <a:rPr sz="1400" spc="20" dirty="0">
                <a:latin typeface="Times New Roman"/>
                <a:cs typeface="Times New Roman"/>
              </a:rPr>
              <a:t> </a:t>
            </a:r>
            <a:r>
              <a:rPr sz="1400" dirty="0">
                <a:latin typeface="Times New Roman"/>
                <a:cs typeface="Times New Roman"/>
              </a:rPr>
              <a:t>circuit</a:t>
            </a:r>
            <a:r>
              <a:rPr sz="1400" spc="25" dirty="0">
                <a:latin typeface="Times New Roman"/>
                <a:cs typeface="Times New Roman"/>
              </a:rPr>
              <a:t> </a:t>
            </a:r>
            <a:r>
              <a:rPr sz="1400" spc="-10" dirty="0">
                <a:latin typeface="Times New Roman"/>
                <a:cs typeface="Times New Roman"/>
              </a:rPr>
              <a:t>operation. </a:t>
            </a:r>
            <a:r>
              <a:rPr sz="1400" dirty="0">
                <a:latin typeface="Times New Roman"/>
                <a:cs typeface="Times New Roman"/>
              </a:rPr>
              <a:t>A</a:t>
            </a:r>
            <a:r>
              <a:rPr sz="1400" spc="35" dirty="0">
                <a:latin typeface="Times New Roman"/>
                <a:cs typeface="Times New Roman"/>
              </a:rPr>
              <a:t> </a:t>
            </a:r>
            <a:r>
              <a:rPr sz="1400" dirty="0">
                <a:latin typeface="Times New Roman"/>
                <a:cs typeface="Times New Roman"/>
              </a:rPr>
              <a:t>DC</a:t>
            </a:r>
            <a:r>
              <a:rPr sz="1400" spc="40" dirty="0">
                <a:latin typeface="Times New Roman"/>
                <a:cs typeface="Times New Roman"/>
              </a:rPr>
              <a:t> </a:t>
            </a:r>
            <a:r>
              <a:rPr sz="1400" dirty="0">
                <a:latin typeface="Times New Roman"/>
                <a:cs typeface="Times New Roman"/>
              </a:rPr>
              <a:t>input</a:t>
            </a:r>
            <a:r>
              <a:rPr sz="1400" spc="40" dirty="0">
                <a:latin typeface="Times New Roman"/>
                <a:cs typeface="Times New Roman"/>
              </a:rPr>
              <a:t> </a:t>
            </a:r>
            <a:r>
              <a:rPr sz="1400" dirty="0">
                <a:latin typeface="Times New Roman"/>
                <a:cs typeface="Times New Roman"/>
              </a:rPr>
              <a:t>supply</a:t>
            </a:r>
            <a:r>
              <a:rPr sz="1400" spc="35" dirty="0">
                <a:latin typeface="Times New Roman"/>
                <a:cs typeface="Times New Roman"/>
              </a:rPr>
              <a:t> </a:t>
            </a:r>
            <a:r>
              <a:rPr sz="1400" dirty="0">
                <a:latin typeface="Times New Roman"/>
                <a:cs typeface="Times New Roman"/>
              </a:rPr>
              <a:t>is</a:t>
            </a:r>
            <a:r>
              <a:rPr sz="1400" spc="30" dirty="0">
                <a:latin typeface="Times New Roman"/>
                <a:cs typeface="Times New Roman"/>
              </a:rPr>
              <a:t> </a:t>
            </a:r>
            <a:r>
              <a:rPr sz="1400" dirty="0">
                <a:latin typeface="Times New Roman"/>
                <a:cs typeface="Times New Roman"/>
              </a:rPr>
              <a:t>given</a:t>
            </a:r>
            <a:r>
              <a:rPr sz="1400" spc="35" dirty="0">
                <a:latin typeface="Times New Roman"/>
                <a:cs typeface="Times New Roman"/>
              </a:rPr>
              <a:t> </a:t>
            </a:r>
            <a:r>
              <a:rPr sz="1400" dirty="0">
                <a:latin typeface="Times New Roman"/>
                <a:cs typeface="Times New Roman"/>
              </a:rPr>
              <a:t>to</a:t>
            </a:r>
            <a:r>
              <a:rPr sz="1400" spc="40" dirty="0">
                <a:latin typeface="Times New Roman"/>
                <a:cs typeface="Times New Roman"/>
              </a:rPr>
              <a:t> </a:t>
            </a:r>
            <a:r>
              <a:rPr sz="1400" dirty="0">
                <a:latin typeface="Times New Roman"/>
                <a:cs typeface="Times New Roman"/>
              </a:rPr>
              <a:t>a</a:t>
            </a:r>
            <a:r>
              <a:rPr sz="1400" spc="30" dirty="0">
                <a:latin typeface="Times New Roman"/>
                <a:cs typeface="Times New Roman"/>
              </a:rPr>
              <a:t> </a:t>
            </a:r>
            <a:r>
              <a:rPr sz="1400" dirty="0">
                <a:latin typeface="Times New Roman"/>
                <a:cs typeface="Times New Roman"/>
              </a:rPr>
              <a:t>7805-voltage</a:t>
            </a:r>
            <a:r>
              <a:rPr sz="1400" spc="30" dirty="0">
                <a:latin typeface="Times New Roman"/>
                <a:cs typeface="Times New Roman"/>
              </a:rPr>
              <a:t> </a:t>
            </a:r>
            <a:r>
              <a:rPr sz="1400" dirty="0">
                <a:latin typeface="Times New Roman"/>
                <a:cs typeface="Times New Roman"/>
              </a:rPr>
              <a:t>regulator</a:t>
            </a:r>
            <a:r>
              <a:rPr sz="1400" spc="35" dirty="0">
                <a:latin typeface="Times New Roman"/>
                <a:cs typeface="Times New Roman"/>
              </a:rPr>
              <a:t> </a:t>
            </a:r>
            <a:r>
              <a:rPr sz="1400" dirty="0">
                <a:latin typeface="Times New Roman"/>
                <a:cs typeface="Times New Roman"/>
              </a:rPr>
              <a:t>IC,</a:t>
            </a:r>
            <a:r>
              <a:rPr sz="1400" spc="35" dirty="0">
                <a:latin typeface="Times New Roman"/>
                <a:cs typeface="Times New Roman"/>
              </a:rPr>
              <a:t> </a:t>
            </a:r>
            <a:r>
              <a:rPr sz="1400" dirty="0">
                <a:latin typeface="Times New Roman"/>
                <a:cs typeface="Times New Roman"/>
              </a:rPr>
              <a:t>which</a:t>
            </a:r>
            <a:r>
              <a:rPr sz="1400" spc="50" dirty="0">
                <a:latin typeface="Times New Roman"/>
                <a:cs typeface="Times New Roman"/>
              </a:rPr>
              <a:t> </a:t>
            </a:r>
            <a:r>
              <a:rPr sz="1400" dirty="0">
                <a:latin typeface="Times New Roman"/>
                <a:cs typeface="Times New Roman"/>
              </a:rPr>
              <a:t>converts</a:t>
            </a:r>
            <a:r>
              <a:rPr sz="1400" spc="40"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dirty="0">
                <a:latin typeface="Times New Roman"/>
                <a:cs typeface="Times New Roman"/>
              </a:rPr>
              <a:t>input</a:t>
            </a:r>
            <a:r>
              <a:rPr sz="1400" spc="40" dirty="0">
                <a:latin typeface="Times New Roman"/>
                <a:cs typeface="Times New Roman"/>
              </a:rPr>
              <a:t> </a:t>
            </a:r>
            <a:r>
              <a:rPr sz="1400" spc="-10" dirty="0">
                <a:latin typeface="Times New Roman"/>
                <a:cs typeface="Times New Roman"/>
              </a:rPr>
              <a:t>voltage </a:t>
            </a:r>
            <a:r>
              <a:rPr sz="1400" dirty="0">
                <a:latin typeface="Times New Roman"/>
                <a:cs typeface="Times New Roman"/>
              </a:rPr>
              <a:t>into</a:t>
            </a:r>
            <a:r>
              <a:rPr sz="1400" spc="165" dirty="0">
                <a:latin typeface="Times New Roman"/>
                <a:cs typeface="Times New Roman"/>
              </a:rPr>
              <a:t> </a:t>
            </a:r>
            <a:r>
              <a:rPr sz="1400" dirty="0">
                <a:latin typeface="Times New Roman"/>
                <a:cs typeface="Times New Roman"/>
              </a:rPr>
              <a:t>a</a:t>
            </a:r>
            <a:r>
              <a:rPr sz="1400" spc="165" dirty="0">
                <a:latin typeface="Times New Roman"/>
                <a:cs typeface="Times New Roman"/>
              </a:rPr>
              <a:t> </a:t>
            </a:r>
            <a:r>
              <a:rPr sz="1400" dirty="0">
                <a:latin typeface="Times New Roman"/>
                <a:cs typeface="Times New Roman"/>
              </a:rPr>
              <a:t>constant</a:t>
            </a:r>
            <a:r>
              <a:rPr sz="1400" spc="180" dirty="0">
                <a:latin typeface="Times New Roman"/>
                <a:cs typeface="Times New Roman"/>
              </a:rPr>
              <a:t> </a:t>
            </a:r>
            <a:r>
              <a:rPr sz="1400" dirty="0">
                <a:latin typeface="Times New Roman"/>
                <a:cs typeface="Times New Roman"/>
              </a:rPr>
              <a:t>+5V</a:t>
            </a:r>
            <a:r>
              <a:rPr sz="1400" spc="175" dirty="0">
                <a:latin typeface="Times New Roman"/>
                <a:cs typeface="Times New Roman"/>
              </a:rPr>
              <a:t> </a:t>
            </a:r>
            <a:r>
              <a:rPr sz="1400" dirty="0">
                <a:latin typeface="Times New Roman"/>
                <a:cs typeface="Times New Roman"/>
              </a:rPr>
              <a:t>regulated</a:t>
            </a:r>
            <a:r>
              <a:rPr sz="1400" spc="170" dirty="0">
                <a:latin typeface="Times New Roman"/>
                <a:cs typeface="Times New Roman"/>
              </a:rPr>
              <a:t> </a:t>
            </a:r>
            <a:r>
              <a:rPr sz="1400" dirty="0">
                <a:latin typeface="Times New Roman"/>
                <a:cs typeface="Times New Roman"/>
              </a:rPr>
              <a:t>output.</a:t>
            </a:r>
            <a:r>
              <a:rPr sz="1400" spc="170" dirty="0">
                <a:latin typeface="Times New Roman"/>
                <a:cs typeface="Times New Roman"/>
              </a:rPr>
              <a:t> </a:t>
            </a:r>
            <a:r>
              <a:rPr sz="1400" dirty="0">
                <a:latin typeface="Times New Roman"/>
                <a:cs typeface="Times New Roman"/>
              </a:rPr>
              <a:t>Capacitors</a:t>
            </a:r>
            <a:r>
              <a:rPr sz="1400" spc="170" dirty="0">
                <a:latin typeface="Times New Roman"/>
                <a:cs typeface="Times New Roman"/>
              </a:rPr>
              <a:t> </a:t>
            </a:r>
            <a:r>
              <a:rPr sz="1400" dirty="0">
                <a:latin typeface="Times New Roman"/>
                <a:cs typeface="Times New Roman"/>
              </a:rPr>
              <a:t>are</a:t>
            </a:r>
            <a:r>
              <a:rPr sz="1400" spc="170" dirty="0">
                <a:latin typeface="Times New Roman"/>
                <a:cs typeface="Times New Roman"/>
              </a:rPr>
              <a:t> </a:t>
            </a:r>
            <a:r>
              <a:rPr sz="1400" dirty="0">
                <a:latin typeface="Times New Roman"/>
                <a:cs typeface="Times New Roman"/>
              </a:rPr>
              <a:t>used</a:t>
            </a:r>
            <a:r>
              <a:rPr sz="1400" spc="180" dirty="0">
                <a:latin typeface="Times New Roman"/>
                <a:cs typeface="Times New Roman"/>
              </a:rPr>
              <a:t> </a:t>
            </a:r>
            <a:r>
              <a:rPr sz="1400" dirty="0">
                <a:latin typeface="Times New Roman"/>
                <a:cs typeface="Times New Roman"/>
              </a:rPr>
              <a:t>to</a:t>
            </a:r>
            <a:r>
              <a:rPr sz="1400" spc="165" dirty="0">
                <a:latin typeface="Times New Roman"/>
                <a:cs typeface="Times New Roman"/>
              </a:rPr>
              <a:t> </a:t>
            </a:r>
            <a:r>
              <a:rPr sz="1400" dirty="0">
                <a:latin typeface="Times New Roman"/>
                <a:cs typeface="Times New Roman"/>
              </a:rPr>
              <a:t>filter</a:t>
            </a:r>
            <a:r>
              <a:rPr sz="1400" spc="175" dirty="0">
                <a:latin typeface="Times New Roman"/>
                <a:cs typeface="Times New Roman"/>
              </a:rPr>
              <a:t> </a:t>
            </a:r>
            <a:r>
              <a:rPr sz="1400" dirty="0">
                <a:latin typeface="Times New Roman"/>
                <a:cs typeface="Times New Roman"/>
              </a:rPr>
              <a:t>noise</a:t>
            </a:r>
            <a:r>
              <a:rPr sz="1400" spc="165" dirty="0">
                <a:latin typeface="Times New Roman"/>
                <a:cs typeface="Times New Roman"/>
              </a:rPr>
              <a:t> </a:t>
            </a:r>
            <a:r>
              <a:rPr sz="1400" dirty="0">
                <a:latin typeface="Times New Roman"/>
                <a:cs typeface="Times New Roman"/>
              </a:rPr>
              <a:t>and</a:t>
            </a:r>
            <a:r>
              <a:rPr sz="1400" spc="180" dirty="0">
                <a:latin typeface="Times New Roman"/>
                <a:cs typeface="Times New Roman"/>
              </a:rPr>
              <a:t> </a:t>
            </a:r>
            <a:r>
              <a:rPr sz="1400" dirty="0">
                <a:latin typeface="Times New Roman"/>
                <a:cs typeface="Times New Roman"/>
              </a:rPr>
              <a:t>stabilize</a:t>
            </a:r>
            <a:r>
              <a:rPr sz="1400" spc="165" dirty="0">
                <a:latin typeface="Times New Roman"/>
                <a:cs typeface="Times New Roman"/>
              </a:rPr>
              <a:t> </a:t>
            </a:r>
            <a:r>
              <a:rPr sz="1400" spc="-25" dirty="0">
                <a:latin typeface="Times New Roman"/>
                <a:cs typeface="Times New Roman"/>
              </a:rPr>
              <a:t>the </a:t>
            </a:r>
            <a:r>
              <a:rPr sz="1400" dirty="0">
                <a:latin typeface="Times New Roman"/>
                <a:cs typeface="Times New Roman"/>
              </a:rPr>
              <a:t>voltage.</a:t>
            </a:r>
            <a:r>
              <a:rPr sz="1400" spc="-40" dirty="0">
                <a:latin typeface="Times New Roman"/>
                <a:cs typeface="Times New Roman"/>
              </a:rPr>
              <a:t> </a:t>
            </a:r>
            <a:r>
              <a:rPr sz="1400" dirty="0">
                <a:latin typeface="Times New Roman"/>
                <a:cs typeface="Times New Roman"/>
              </a:rPr>
              <a:t>An</a:t>
            </a:r>
            <a:r>
              <a:rPr sz="1400" spc="-35" dirty="0">
                <a:latin typeface="Times New Roman"/>
                <a:cs typeface="Times New Roman"/>
              </a:rPr>
              <a:t> </a:t>
            </a:r>
            <a:r>
              <a:rPr sz="1400" dirty="0">
                <a:latin typeface="Times New Roman"/>
                <a:cs typeface="Times New Roman"/>
              </a:rPr>
              <a:t>LED</a:t>
            </a:r>
            <a:r>
              <a:rPr sz="1400" spc="-40" dirty="0">
                <a:latin typeface="Times New Roman"/>
                <a:cs typeface="Times New Roman"/>
              </a:rPr>
              <a:t> </a:t>
            </a:r>
            <a:r>
              <a:rPr sz="1400" dirty="0">
                <a:latin typeface="Times New Roman"/>
                <a:cs typeface="Times New Roman"/>
              </a:rPr>
              <a:t>with</a:t>
            </a:r>
            <a:r>
              <a:rPr sz="1400" spc="-35" dirty="0">
                <a:latin typeface="Times New Roman"/>
                <a:cs typeface="Times New Roman"/>
              </a:rPr>
              <a:t> </a:t>
            </a:r>
            <a:r>
              <a:rPr sz="1400" dirty="0">
                <a:latin typeface="Times New Roman"/>
                <a:cs typeface="Times New Roman"/>
              </a:rPr>
              <a:t>a</a:t>
            </a:r>
            <a:r>
              <a:rPr sz="1400" spc="-40" dirty="0">
                <a:latin typeface="Times New Roman"/>
                <a:cs typeface="Times New Roman"/>
              </a:rPr>
              <a:t> </a:t>
            </a:r>
            <a:r>
              <a:rPr sz="1400" dirty="0">
                <a:latin typeface="Times New Roman"/>
                <a:cs typeface="Times New Roman"/>
              </a:rPr>
              <a:t>resistor</a:t>
            </a:r>
            <a:r>
              <a:rPr sz="1400" spc="-35" dirty="0">
                <a:latin typeface="Times New Roman"/>
                <a:cs typeface="Times New Roman"/>
              </a:rPr>
              <a:t> </a:t>
            </a:r>
            <a:r>
              <a:rPr sz="1400" dirty="0">
                <a:latin typeface="Times New Roman"/>
                <a:cs typeface="Times New Roman"/>
              </a:rPr>
              <a:t>acts</a:t>
            </a:r>
            <a:r>
              <a:rPr sz="1400" spc="-35" dirty="0">
                <a:latin typeface="Times New Roman"/>
                <a:cs typeface="Times New Roman"/>
              </a:rPr>
              <a:t> </a:t>
            </a:r>
            <a:r>
              <a:rPr sz="1400" dirty="0">
                <a:latin typeface="Times New Roman"/>
                <a:cs typeface="Times New Roman"/>
              </a:rPr>
              <a:t>as</a:t>
            </a:r>
            <a:r>
              <a:rPr sz="1400" spc="-35" dirty="0">
                <a:latin typeface="Times New Roman"/>
                <a:cs typeface="Times New Roman"/>
              </a:rPr>
              <a:t> </a:t>
            </a:r>
            <a:r>
              <a:rPr sz="1400" dirty="0">
                <a:latin typeface="Times New Roman"/>
                <a:cs typeface="Times New Roman"/>
              </a:rPr>
              <a:t>a</a:t>
            </a:r>
            <a:r>
              <a:rPr sz="1400" spc="-40" dirty="0">
                <a:latin typeface="Times New Roman"/>
                <a:cs typeface="Times New Roman"/>
              </a:rPr>
              <a:t> </a:t>
            </a:r>
            <a:r>
              <a:rPr sz="1400" dirty="0">
                <a:latin typeface="Times New Roman"/>
                <a:cs typeface="Times New Roman"/>
              </a:rPr>
              <a:t>power</a:t>
            </a:r>
            <a:r>
              <a:rPr sz="1400" spc="-40" dirty="0">
                <a:latin typeface="Times New Roman"/>
                <a:cs typeface="Times New Roman"/>
              </a:rPr>
              <a:t> </a:t>
            </a:r>
            <a:r>
              <a:rPr sz="1400" dirty="0">
                <a:latin typeface="Times New Roman"/>
                <a:cs typeface="Times New Roman"/>
              </a:rPr>
              <a:t>indicator</a:t>
            </a:r>
            <a:r>
              <a:rPr sz="1400" spc="-40" dirty="0">
                <a:latin typeface="Times New Roman"/>
                <a:cs typeface="Times New Roman"/>
              </a:rPr>
              <a:t> </a:t>
            </a:r>
            <a:r>
              <a:rPr sz="1400" dirty="0">
                <a:latin typeface="Times New Roman"/>
                <a:cs typeface="Times New Roman"/>
              </a:rPr>
              <a:t>to</a:t>
            </a:r>
            <a:r>
              <a:rPr sz="1400" spc="-30" dirty="0">
                <a:latin typeface="Times New Roman"/>
                <a:cs typeface="Times New Roman"/>
              </a:rPr>
              <a:t> </a:t>
            </a:r>
            <a:r>
              <a:rPr sz="1400" dirty="0">
                <a:latin typeface="Times New Roman"/>
                <a:cs typeface="Times New Roman"/>
              </a:rPr>
              <a:t>show</a:t>
            </a:r>
            <a:r>
              <a:rPr sz="1400" spc="-35" dirty="0">
                <a:latin typeface="Times New Roman"/>
                <a:cs typeface="Times New Roman"/>
              </a:rPr>
              <a:t> </a:t>
            </a:r>
            <a:r>
              <a:rPr sz="1400" dirty="0">
                <a:latin typeface="Times New Roman"/>
                <a:cs typeface="Times New Roman"/>
              </a:rPr>
              <a:t>the</a:t>
            </a:r>
            <a:r>
              <a:rPr sz="1400" spc="-40" dirty="0">
                <a:latin typeface="Times New Roman"/>
                <a:cs typeface="Times New Roman"/>
              </a:rPr>
              <a:t> </a:t>
            </a:r>
            <a:r>
              <a:rPr sz="1400" dirty="0">
                <a:latin typeface="Times New Roman"/>
                <a:cs typeface="Times New Roman"/>
              </a:rPr>
              <a:t>presence</a:t>
            </a:r>
            <a:r>
              <a:rPr sz="1400" spc="-40"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dirty="0">
                <a:latin typeface="Times New Roman"/>
                <a:cs typeface="Times New Roman"/>
              </a:rPr>
              <a:t>supply.</a:t>
            </a:r>
            <a:r>
              <a:rPr sz="1400" spc="-35" dirty="0">
                <a:latin typeface="Times New Roman"/>
                <a:cs typeface="Times New Roman"/>
              </a:rPr>
              <a:t> </a:t>
            </a:r>
            <a:r>
              <a:rPr sz="1400" spc="-20" dirty="0">
                <a:latin typeface="Times New Roman"/>
                <a:cs typeface="Times New Roman"/>
              </a:rPr>
              <a:t>This </a:t>
            </a:r>
            <a:r>
              <a:rPr sz="1400" dirty="0">
                <a:latin typeface="Times New Roman"/>
                <a:cs typeface="Times New Roman"/>
              </a:rPr>
              <a:t>section</a:t>
            </a:r>
            <a:r>
              <a:rPr sz="1400" spc="-30" dirty="0">
                <a:latin typeface="Times New Roman"/>
                <a:cs typeface="Times New Roman"/>
              </a:rPr>
              <a:t> </a:t>
            </a:r>
            <a:r>
              <a:rPr sz="1400" dirty="0">
                <a:latin typeface="Times New Roman"/>
                <a:cs typeface="Times New Roman"/>
              </a:rPr>
              <a:t>ensures</a:t>
            </a:r>
            <a:r>
              <a:rPr sz="1400" spc="-15" dirty="0">
                <a:latin typeface="Times New Roman"/>
                <a:cs typeface="Times New Roman"/>
              </a:rPr>
              <a:t> </a:t>
            </a:r>
            <a:r>
              <a:rPr sz="1400" dirty="0">
                <a:latin typeface="Times New Roman"/>
                <a:cs typeface="Times New Roman"/>
              </a:rPr>
              <a:t>reliable</a:t>
            </a:r>
            <a:r>
              <a:rPr sz="1400" spc="-25" dirty="0">
                <a:latin typeface="Times New Roman"/>
                <a:cs typeface="Times New Roman"/>
              </a:rPr>
              <a:t> </a:t>
            </a:r>
            <a:r>
              <a:rPr sz="1400" dirty="0">
                <a:latin typeface="Times New Roman"/>
                <a:cs typeface="Times New Roman"/>
              </a:rPr>
              <a:t>and</a:t>
            </a:r>
            <a:r>
              <a:rPr sz="1400" spc="-30" dirty="0">
                <a:latin typeface="Times New Roman"/>
                <a:cs typeface="Times New Roman"/>
              </a:rPr>
              <a:t> </a:t>
            </a:r>
            <a:r>
              <a:rPr sz="1400" dirty="0">
                <a:latin typeface="Times New Roman"/>
                <a:cs typeface="Times New Roman"/>
              </a:rPr>
              <a:t>stable</a:t>
            </a:r>
            <a:r>
              <a:rPr sz="1400" spc="-25" dirty="0">
                <a:latin typeface="Times New Roman"/>
                <a:cs typeface="Times New Roman"/>
              </a:rPr>
              <a:t> </a:t>
            </a:r>
            <a:r>
              <a:rPr sz="1400" dirty="0">
                <a:latin typeface="Times New Roman"/>
                <a:cs typeface="Times New Roman"/>
              </a:rPr>
              <a:t>power</a:t>
            </a:r>
            <a:r>
              <a:rPr sz="1400" spc="-20" dirty="0">
                <a:latin typeface="Times New Roman"/>
                <a:cs typeface="Times New Roman"/>
              </a:rPr>
              <a:t> </a:t>
            </a:r>
            <a:r>
              <a:rPr sz="1400" dirty="0">
                <a:latin typeface="Times New Roman"/>
                <a:cs typeface="Times New Roman"/>
              </a:rPr>
              <a:t>for</a:t>
            </a:r>
            <a:r>
              <a:rPr sz="1400" spc="-35"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timer</a:t>
            </a:r>
            <a:r>
              <a:rPr sz="1400" spc="-25" dirty="0">
                <a:latin typeface="Times New Roman"/>
                <a:cs typeface="Times New Roman"/>
              </a:rPr>
              <a:t> </a:t>
            </a:r>
            <a:r>
              <a:rPr sz="1400" dirty="0">
                <a:latin typeface="Times New Roman"/>
                <a:cs typeface="Times New Roman"/>
              </a:rPr>
              <a:t>IC</a:t>
            </a:r>
            <a:r>
              <a:rPr sz="1400" spc="-30"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dirty="0">
                <a:latin typeface="Times New Roman"/>
                <a:cs typeface="Times New Roman"/>
              </a:rPr>
              <a:t>other</a:t>
            </a:r>
            <a:r>
              <a:rPr sz="1400" spc="-25" dirty="0">
                <a:latin typeface="Times New Roman"/>
                <a:cs typeface="Times New Roman"/>
              </a:rPr>
              <a:t> </a:t>
            </a:r>
            <a:r>
              <a:rPr sz="1400" spc="-10" dirty="0">
                <a:latin typeface="Times New Roman"/>
                <a:cs typeface="Times New Roman"/>
              </a:rPr>
              <a:t>components.</a:t>
            </a:r>
            <a:endParaRPr sz="1400" dirty="0">
              <a:latin typeface="Times New Roman"/>
              <a:cs typeface="Times New Roman"/>
            </a:endParaRPr>
          </a:p>
        </p:txBody>
      </p:sp>
      <p:sp>
        <p:nvSpPr>
          <p:cNvPr id="3" name="object 3"/>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11</a:t>
            </a:fld>
            <a:endParaRPr spc="-25" dirty="0"/>
          </a:p>
        </p:txBody>
      </p:sp>
      <p:sp>
        <p:nvSpPr>
          <p:cNvPr id="5" name="TextBox 4">
            <a:extLst>
              <a:ext uri="{FF2B5EF4-FFF2-40B4-BE49-F238E27FC236}">
                <a16:creationId xmlns:a16="http://schemas.microsoft.com/office/drawing/2014/main" id="{56E7B166-EABA-456F-BFE7-3AA2221B50C4}"/>
              </a:ext>
            </a:extLst>
          </p:cNvPr>
          <p:cNvSpPr txBox="1"/>
          <p:nvPr/>
        </p:nvSpPr>
        <p:spPr>
          <a:xfrm>
            <a:off x="771685" y="3335142"/>
            <a:ext cx="6013129" cy="1384995"/>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3.  Crystal Oscillator</a:t>
            </a:r>
          </a:p>
          <a:p>
            <a:r>
              <a:rPr lang="en-US" sz="1400" dirty="0">
                <a:latin typeface="Times New Roman" panose="02020603050405020304" pitchFamily="18" charset="0"/>
                <a:cs typeface="Times New Roman" panose="02020603050405020304" pitchFamily="18" charset="0"/>
              </a:rPr>
              <a:t>A crystal oscillator is used to generate accurate clock signals for the 8051 microcontroller. It determines the operating speed and timing of all internal operations. In the 8051, the crystal is connected between the XTAL1 and XTAL2 pins. A commonly used crystal frequency is </a:t>
            </a:r>
            <a:r>
              <a:rPr lang="en-US" sz="1400" b="1" dirty="0">
                <a:latin typeface="Times New Roman" panose="02020603050405020304" pitchFamily="18" charset="0"/>
                <a:cs typeface="Times New Roman" panose="02020603050405020304" pitchFamily="18" charset="0"/>
              </a:rPr>
              <a:t>11.0592 MHz</a:t>
            </a:r>
            <a:r>
              <a:rPr lang="en-US" sz="1400" dirty="0">
                <a:latin typeface="Times New Roman" panose="02020603050405020304" pitchFamily="18" charset="0"/>
                <a:cs typeface="Times New Roman" panose="02020603050405020304" pitchFamily="18" charset="0"/>
              </a:rPr>
              <a:t>, which is suitable for serial communication applications.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2004" y="4162170"/>
            <a:ext cx="5758815" cy="2081530"/>
          </a:xfrm>
          <a:prstGeom prst="rect">
            <a:avLst/>
          </a:prstGeom>
        </p:spPr>
        <p:txBody>
          <a:bodyPr vert="horz" wrap="square" lIns="0" tIns="12700" rIns="0" bIns="0" rtlCol="0">
            <a:spAutoFit/>
          </a:bodyPr>
          <a:lstStyle/>
          <a:p>
            <a:pPr marL="1116965">
              <a:lnSpc>
                <a:spcPct val="100000"/>
              </a:lnSpc>
              <a:spcBef>
                <a:spcPts val="100"/>
              </a:spcBef>
            </a:pPr>
            <a:r>
              <a:rPr sz="1200" dirty="0">
                <a:latin typeface="Times New Roman"/>
                <a:cs typeface="Times New Roman"/>
              </a:rPr>
              <a:t>Fig</a:t>
            </a:r>
            <a:r>
              <a:rPr sz="1200" spc="-25" dirty="0">
                <a:latin typeface="Times New Roman"/>
                <a:cs typeface="Times New Roman"/>
              </a:rPr>
              <a:t> </a:t>
            </a:r>
            <a:r>
              <a:rPr sz="1200" dirty="0">
                <a:latin typeface="Times New Roman"/>
                <a:cs typeface="Times New Roman"/>
              </a:rPr>
              <a:t>9:</a:t>
            </a:r>
            <a:r>
              <a:rPr sz="1200" spc="-20" dirty="0">
                <a:latin typeface="Times New Roman"/>
                <a:cs typeface="Times New Roman"/>
              </a:rPr>
              <a:t> </a:t>
            </a:r>
            <a:r>
              <a:rPr sz="1200" dirty="0">
                <a:latin typeface="Times New Roman"/>
                <a:cs typeface="Times New Roman"/>
              </a:rPr>
              <a:t>Power</a:t>
            </a:r>
            <a:r>
              <a:rPr sz="1200" spc="-20" dirty="0">
                <a:latin typeface="Times New Roman"/>
                <a:cs typeface="Times New Roman"/>
              </a:rPr>
              <a:t> </a:t>
            </a:r>
            <a:r>
              <a:rPr sz="1200" dirty="0">
                <a:latin typeface="Times New Roman"/>
                <a:cs typeface="Times New Roman"/>
              </a:rPr>
              <a:t>Supply,</a:t>
            </a:r>
            <a:r>
              <a:rPr sz="1200" spc="-25" dirty="0">
                <a:latin typeface="Times New Roman"/>
                <a:cs typeface="Times New Roman"/>
              </a:rPr>
              <a:t> </a:t>
            </a:r>
            <a:r>
              <a:rPr sz="1200" dirty="0">
                <a:latin typeface="Times New Roman"/>
                <a:cs typeface="Times New Roman"/>
              </a:rPr>
              <a:t>Clock</a:t>
            </a:r>
            <a:r>
              <a:rPr sz="1200" spc="-20" dirty="0">
                <a:latin typeface="Times New Roman"/>
                <a:cs typeface="Times New Roman"/>
              </a:rPr>
              <a:t> </a:t>
            </a:r>
            <a:r>
              <a:rPr sz="1200" dirty="0">
                <a:latin typeface="Times New Roman"/>
                <a:cs typeface="Times New Roman"/>
              </a:rPr>
              <a:t>Generation</a:t>
            </a:r>
            <a:r>
              <a:rPr sz="1200" spc="-20" dirty="0">
                <a:latin typeface="Times New Roman"/>
                <a:cs typeface="Times New Roman"/>
              </a:rPr>
              <a:t> </a:t>
            </a:r>
            <a:r>
              <a:rPr sz="1200" dirty="0">
                <a:latin typeface="Times New Roman"/>
                <a:cs typeface="Times New Roman"/>
              </a:rPr>
              <a:t>&amp;</a:t>
            </a:r>
            <a:r>
              <a:rPr sz="1200" spc="-20" dirty="0">
                <a:latin typeface="Times New Roman"/>
                <a:cs typeface="Times New Roman"/>
              </a:rPr>
              <a:t> </a:t>
            </a:r>
            <a:r>
              <a:rPr sz="1200" dirty="0">
                <a:latin typeface="Times New Roman"/>
                <a:cs typeface="Times New Roman"/>
              </a:rPr>
              <a:t>Ring</a:t>
            </a:r>
            <a:r>
              <a:rPr sz="1200" spc="-25" dirty="0">
                <a:latin typeface="Times New Roman"/>
                <a:cs typeface="Times New Roman"/>
              </a:rPr>
              <a:t> </a:t>
            </a:r>
            <a:r>
              <a:rPr sz="1200" dirty="0">
                <a:latin typeface="Times New Roman"/>
                <a:cs typeface="Times New Roman"/>
              </a:rPr>
              <a:t>Counter</a:t>
            </a:r>
            <a:r>
              <a:rPr sz="1200" spc="-20" dirty="0">
                <a:latin typeface="Times New Roman"/>
                <a:cs typeface="Times New Roman"/>
              </a:rPr>
              <a:t> </a:t>
            </a:r>
            <a:r>
              <a:rPr sz="1200" spc="-10" dirty="0">
                <a:latin typeface="Times New Roman"/>
                <a:cs typeface="Times New Roman"/>
              </a:rPr>
              <a:t>Section</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55"/>
              </a:spcBef>
            </a:pPr>
            <a:endParaRPr sz="1200">
              <a:latin typeface="Times New Roman"/>
              <a:cs typeface="Times New Roman"/>
            </a:endParaRPr>
          </a:p>
          <a:p>
            <a:pPr marL="12700">
              <a:lnSpc>
                <a:spcPct val="100000"/>
              </a:lnSpc>
            </a:pPr>
            <a:r>
              <a:rPr sz="1600" b="1" dirty="0">
                <a:latin typeface="Times New Roman"/>
                <a:cs typeface="Times New Roman"/>
              </a:rPr>
              <a:t>5.</a:t>
            </a:r>
            <a:r>
              <a:rPr sz="1600" b="1" spc="160" dirty="0">
                <a:latin typeface="Times New Roman"/>
                <a:cs typeface="Times New Roman"/>
              </a:rPr>
              <a:t> </a:t>
            </a:r>
            <a:r>
              <a:rPr sz="1400" b="1" dirty="0">
                <a:latin typeface="Times New Roman"/>
                <a:cs typeface="Times New Roman"/>
              </a:rPr>
              <a:t>PCB</a:t>
            </a:r>
            <a:r>
              <a:rPr sz="1400" b="1" spc="-15" dirty="0">
                <a:latin typeface="Times New Roman"/>
                <a:cs typeface="Times New Roman"/>
              </a:rPr>
              <a:t> </a:t>
            </a:r>
            <a:r>
              <a:rPr sz="1400" b="1" dirty="0">
                <a:latin typeface="Times New Roman"/>
                <a:cs typeface="Times New Roman"/>
              </a:rPr>
              <a:t>Design</a:t>
            </a:r>
            <a:r>
              <a:rPr sz="1400" b="1" spc="-20" dirty="0">
                <a:latin typeface="Times New Roman"/>
                <a:cs typeface="Times New Roman"/>
              </a:rPr>
              <a:t> </a:t>
            </a:r>
            <a:r>
              <a:rPr sz="1400" b="1" spc="-10" dirty="0">
                <a:latin typeface="Times New Roman"/>
                <a:cs typeface="Times New Roman"/>
              </a:rPr>
              <a:t>Section</a:t>
            </a:r>
            <a:endParaRPr sz="1400">
              <a:latin typeface="Times New Roman"/>
              <a:cs typeface="Times New Roman"/>
            </a:endParaRPr>
          </a:p>
          <a:p>
            <a:pPr marL="12700" marR="5080" algn="just">
              <a:lnSpc>
                <a:spcPct val="103499"/>
              </a:lnSpc>
              <a:spcBef>
                <a:spcPts val="770"/>
              </a:spcBef>
            </a:pPr>
            <a:r>
              <a:rPr sz="1200" dirty="0">
                <a:latin typeface="Times New Roman"/>
                <a:cs typeface="Times New Roman"/>
              </a:rPr>
              <a:t>After</a:t>
            </a:r>
            <a:r>
              <a:rPr sz="1200" spc="170" dirty="0">
                <a:latin typeface="Times New Roman"/>
                <a:cs typeface="Times New Roman"/>
              </a:rPr>
              <a:t> </a:t>
            </a:r>
            <a:r>
              <a:rPr sz="1200" dirty="0">
                <a:latin typeface="Times New Roman"/>
                <a:cs typeface="Times New Roman"/>
              </a:rPr>
              <a:t>designing</a:t>
            </a:r>
            <a:r>
              <a:rPr sz="1200" spc="180" dirty="0">
                <a:latin typeface="Times New Roman"/>
                <a:cs typeface="Times New Roman"/>
              </a:rPr>
              <a:t> </a:t>
            </a:r>
            <a:r>
              <a:rPr sz="1200" dirty="0">
                <a:latin typeface="Times New Roman"/>
                <a:cs typeface="Times New Roman"/>
              </a:rPr>
              <a:t>the</a:t>
            </a:r>
            <a:r>
              <a:rPr sz="1200" spc="180" dirty="0">
                <a:latin typeface="Times New Roman"/>
                <a:cs typeface="Times New Roman"/>
              </a:rPr>
              <a:t> </a:t>
            </a:r>
            <a:r>
              <a:rPr sz="1200" dirty="0">
                <a:latin typeface="Times New Roman"/>
                <a:cs typeface="Times New Roman"/>
              </a:rPr>
              <a:t>circuit</a:t>
            </a:r>
            <a:r>
              <a:rPr sz="1200" spc="180" dirty="0">
                <a:latin typeface="Times New Roman"/>
                <a:cs typeface="Times New Roman"/>
              </a:rPr>
              <a:t> </a:t>
            </a:r>
            <a:r>
              <a:rPr sz="1200" dirty="0">
                <a:latin typeface="Times New Roman"/>
                <a:cs typeface="Times New Roman"/>
              </a:rPr>
              <a:t>schematic,</a:t>
            </a:r>
            <a:r>
              <a:rPr sz="1200" spc="180" dirty="0">
                <a:latin typeface="Times New Roman"/>
                <a:cs typeface="Times New Roman"/>
              </a:rPr>
              <a:t> </a:t>
            </a:r>
            <a:r>
              <a:rPr sz="1200" dirty="0">
                <a:latin typeface="Times New Roman"/>
                <a:cs typeface="Times New Roman"/>
              </a:rPr>
              <a:t>the</a:t>
            </a:r>
            <a:r>
              <a:rPr sz="1200" spc="180" dirty="0">
                <a:latin typeface="Times New Roman"/>
                <a:cs typeface="Times New Roman"/>
              </a:rPr>
              <a:t> </a:t>
            </a:r>
            <a:r>
              <a:rPr sz="1200" dirty="0">
                <a:latin typeface="Times New Roman"/>
                <a:cs typeface="Times New Roman"/>
              </a:rPr>
              <a:t>PCB</a:t>
            </a:r>
            <a:r>
              <a:rPr sz="1200" spc="180" dirty="0">
                <a:latin typeface="Times New Roman"/>
                <a:cs typeface="Times New Roman"/>
              </a:rPr>
              <a:t> </a:t>
            </a:r>
            <a:r>
              <a:rPr sz="1200" dirty="0">
                <a:latin typeface="Times New Roman"/>
                <a:cs typeface="Times New Roman"/>
              </a:rPr>
              <a:t>layout</a:t>
            </a:r>
            <a:r>
              <a:rPr sz="1200" spc="180" dirty="0">
                <a:latin typeface="Times New Roman"/>
                <a:cs typeface="Times New Roman"/>
              </a:rPr>
              <a:t> </a:t>
            </a:r>
            <a:r>
              <a:rPr sz="1200" dirty="0">
                <a:latin typeface="Times New Roman"/>
                <a:cs typeface="Times New Roman"/>
              </a:rPr>
              <a:t>was</a:t>
            </a:r>
            <a:r>
              <a:rPr sz="1200" spc="180" dirty="0">
                <a:latin typeface="Times New Roman"/>
                <a:cs typeface="Times New Roman"/>
              </a:rPr>
              <a:t> </a:t>
            </a:r>
            <a:r>
              <a:rPr sz="1200" dirty="0">
                <a:latin typeface="Times New Roman"/>
                <a:cs typeface="Times New Roman"/>
              </a:rPr>
              <a:t>created</a:t>
            </a:r>
            <a:r>
              <a:rPr sz="1200" spc="175" dirty="0">
                <a:latin typeface="Times New Roman"/>
                <a:cs typeface="Times New Roman"/>
              </a:rPr>
              <a:t> </a:t>
            </a:r>
            <a:r>
              <a:rPr sz="1200" dirty="0">
                <a:latin typeface="Times New Roman"/>
                <a:cs typeface="Times New Roman"/>
              </a:rPr>
              <a:t>using</a:t>
            </a:r>
            <a:r>
              <a:rPr sz="1200" spc="185" dirty="0">
                <a:latin typeface="Times New Roman"/>
                <a:cs typeface="Times New Roman"/>
              </a:rPr>
              <a:t> </a:t>
            </a:r>
            <a:r>
              <a:rPr sz="1200" dirty="0">
                <a:latin typeface="Times New Roman"/>
                <a:cs typeface="Times New Roman"/>
              </a:rPr>
              <a:t>KiCad</a:t>
            </a:r>
            <a:r>
              <a:rPr sz="1200" spc="180" dirty="0">
                <a:latin typeface="Times New Roman"/>
                <a:cs typeface="Times New Roman"/>
              </a:rPr>
              <a:t> </a:t>
            </a:r>
            <a:r>
              <a:rPr sz="1200" spc="-10" dirty="0">
                <a:latin typeface="Times New Roman"/>
                <a:cs typeface="Times New Roman"/>
              </a:rPr>
              <a:t>software. </a:t>
            </a:r>
            <a:r>
              <a:rPr sz="1200" dirty="0">
                <a:latin typeface="Times New Roman"/>
                <a:cs typeface="Times New Roman"/>
              </a:rPr>
              <a:t>Proper</a:t>
            </a:r>
            <a:r>
              <a:rPr sz="1200" spc="-45" dirty="0">
                <a:latin typeface="Times New Roman"/>
                <a:cs typeface="Times New Roman"/>
              </a:rPr>
              <a:t> </a:t>
            </a:r>
            <a:r>
              <a:rPr sz="1200" spc="-10" dirty="0">
                <a:latin typeface="Times New Roman"/>
                <a:cs typeface="Times New Roman"/>
              </a:rPr>
              <a:t>placement</a:t>
            </a:r>
            <a:r>
              <a:rPr sz="1200" spc="-4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spc="-10" dirty="0">
                <a:latin typeface="Times New Roman"/>
                <a:cs typeface="Times New Roman"/>
              </a:rPr>
              <a:t>components</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routing</a:t>
            </a:r>
            <a:r>
              <a:rPr sz="1200" spc="-4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tracks</a:t>
            </a:r>
            <a:r>
              <a:rPr sz="1200" spc="-40" dirty="0">
                <a:latin typeface="Times New Roman"/>
                <a:cs typeface="Times New Roman"/>
              </a:rPr>
              <a:t> </a:t>
            </a:r>
            <a:r>
              <a:rPr sz="1200" dirty="0">
                <a:latin typeface="Times New Roman"/>
                <a:cs typeface="Times New Roman"/>
              </a:rPr>
              <a:t>were</a:t>
            </a:r>
            <a:r>
              <a:rPr sz="1200" spc="-45" dirty="0">
                <a:latin typeface="Times New Roman"/>
                <a:cs typeface="Times New Roman"/>
              </a:rPr>
              <a:t> </a:t>
            </a:r>
            <a:r>
              <a:rPr sz="1200" dirty="0">
                <a:latin typeface="Times New Roman"/>
                <a:cs typeface="Times New Roman"/>
              </a:rPr>
              <a:t>ensured</a:t>
            </a:r>
            <a:r>
              <a:rPr sz="1200" spc="-4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avoid</a:t>
            </a:r>
            <a:r>
              <a:rPr sz="1200" spc="-40" dirty="0">
                <a:latin typeface="Times New Roman"/>
                <a:cs typeface="Times New Roman"/>
              </a:rPr>
              <a:t> </a:t>
            </a:r>
            <a:r>
              <a:rPr sz="1200" dirty="0">
                <a:latin typeface="Times New Roman"/>
                <a:cs typeface="Times New Roman"/>
              </a:rPr>
              <a:t>short</a:t>
            </a:r>
            <a:r>
              <a:rPr sz="1200" spc="-40" dirty="0">
                <a:latin typeface="Times New Roman"/>
                <a:cs typeface="Times New Roman"/>
              </a:rPr>
              <a:t> </a:t>
            </a:r>
            <a:r>
              <a:rPr sz="1200" dirty="0">
                <a:latin typeface="Times New Roman"/>
                <a:cs typeface="Times New Roman"/>
              </a:rPr>
              <a:t>circuits</a:t>
            </a:r>
            <a:r>
              <a:rPr sz="1200" spc="-40" dirty="0">
                <a:latin typeface="Times New Roman"/>
                <a:cs typeface="Times New Roman"/>
              </a:rPr>
              <a:t> </a:t>
            </a:r>
            <a:r>
              <a:rPr sz="1200" spc="-25" dirty="0">
                <a:latin typeface="Times New Roman"/>
                <a:cs typeface="Times New Roman"/>
              </a:rPr>
              <a:t>and </a:t>
            </a:r>
            <a:r>
              <a:rPr sz="1200" dirty="0">
                <a:latin typeface="Times New Roman"/>
                <a:cs typeface="Times New Roman"/>
              </a:rPr>
              <a:t>maintain</a:t>
            </a:r>
            <a:r>
              <a:rPr sz="1200" spc="3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compact</a:t>
            </a:r>
            <a:r>
              <a:rPr sz="1200" spc="45" dirty="0">
                <a:latin typeface="Times New Roman"/>
                <a:cs typeface="Times New Roman"/>
              </a:rPr>
              <a:t> </a:t>
            </a:r>
            <a:r>
              <a:rPr sz="1200" dirty="0">
                <a:latin typeface="Times New Roman"/>
                <a:cs typeface="Times New Roman"/>
              </a:rPr>
              <a:t>design.</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PCB</a:t>
            </a:r>
            <a:r>
              <a:rPr sz="1200" spc="40" dirty="0">
                <a:latin typeface="Times New Roman"/>
                <a:cs typeface="Times New Roman"/>
              </a:rPr>
              <a:t> </a:t>
            </a:r>
            <a:r>
              <a:rPr sz="1200" dirty="0">
                <a:latin typeface="Times New Roman"/>
                <a:cs typeface="Times New Roman"/>
              </a:rPr>
              <a:t>layout</a:t>
            </a:r>
            <a:r>
              <a:rPr sz="1200" spc="40" dirty="0">
                <a:latin typeface="Times New Roman"/>
                <a:cs typeface="Times New Roman"/>
              </a:rPr>
              <a:t> </a:t>
            </a:r>
            <a:r>
              <a:rPr sz="1200" dirty="0">
                <a:latin typeface="Times New Roman"/>
                <a:cs typeface="Times New Roman"/>
              </a:rPr>
              <a:t>was</a:t>
            </a:r>
            <a:r>
              <a:rPr sz="1200" spc="50" dirty="0">
                <a:latin typeface="Times New Roman"/>
                <a:cs typeface="Times New Roman"/>
              </a:rPr>
              <a:t> </a:t>
            </a:r>
            <a:r>
              <a:rPr sz="1200" dirty="0">
                <a:latin typeface="Times New Roman"/>
                <a:cs typeface="Times New Roman"/>
              </a:rPr>
              <a:t>printed</a:t>
            </a:r>
            <a:r>
              <a:rPr sz="1200" spc="40" dirty="0">
                <a:latin typeface="Times New Roman"/>
                <a:cs typeface="Times New Roman"/>
              </a:rPr>
              <a:t> </a:t>
            </a:r>
            <a:r>
              <a:rPr sz="1200" dirty="0">
                <a:latin typeface="Times New Roman"/>
                <a:cs typeface="Times New Roman"/>
              </a:rPr>
              <a:t>on</a:t>
            </a:r>
            <a:r>
              <a:rPr sz="1200" spc="35" dirty="0">
                <a:latin typeface="Times New Roman"/>
                <a:cs typeface="Times New Roman"/>
              </a:rPr>
              <a:t> </a:t>
            </a:r>
            <a:r>
              <a:rPr sz="1200" dirty="0">
                <a:latin typeface="Times New Roman"/>
                <a:cs typeface="Times New Roman"/>
              </a:rPr>
              <a:t>GSM</a:t>
            </a:r>
            <a:r>
              <a:rPr sz="1200" spc="40" dirty="0">
                <a:latin typeface="Times New Roman"/>
                <a:cs typeface="Times New Roman"/>
              </a:rPr>
              <a:t> </a:t>
            </a:r>
            <a:r>
              <a:rPr sz="1200" dirty="0">
                <a:latin typeface="Times New Roman"/>
                <a:cs typeface="Times New Roman"/>
              </a:rPr>
              <a:t>paper</a:t>
            </a:r>
            <a:r>
              <a:rPr sz="1200" spc="40" dirty="0">
                <a:latin typeface="Times New Roman"/>
                <a:cs typeface="Times New Roman"/>
              </a:rPr>
              <a:t> </a:t>
            </a:r>
            <a:r>
              <a:rPr sz="1200" dirty="0">
                <a:latin typeface="Times New Roman"/>
                <a:cs typeface="Times New Roman"/>
              </a:rPr>
              <a:t>using</a:t>
            </a:r>
            <a:r>
              <a:rPr sz="1200" spc="40" dirty="0">
                <a:latin typeface="Times New Roman"/>
                <a:cs typeface="Times New Roman"/>
              </a:rPr>
              <a:t> </a:t>
            </a:r>
            <a:r>
              <a:rPr sz="1200" dirty="0">
                <a:latin typeface="Times New Roman"/>
                <a:cs typeface="Times New Roman"/>
              </a:rPr>
              <a:t>a</a:t>
            </a:r>
            <a:r>
              <a:rPr sz="1200" spc="70" dirty="0">
                <a:latin typeface="Times New Roman"/>
                <a:cs typeface="Times New Roman"/>
              </a:rPr>
              <a:t> </a:t>
            </a:r>
            <a:r>
              <a:rPr sz="1200" dirty="0">
                <a:latin typeface="Times New Roman"/>
                <a:cs typeface="Times New Roman"/>
              </a:rPr>
              <a:t>laser</a:t>
            </a:r>
            <a:r>
              <a:rPr sz="1200" spc="45" dirty="0">
                <a:latin typeface="Times New Roman"/>
                <a:cs typeface="Times New Roman"/>
              </a:rPr>
              <a:t> </a:t>
            </a:r>
            <a:r>
              <a:rPr sz="1200" spc="-10" dirty="0">
                <a:latin typeface="Times New Roman"/>
                <a:cs typeface="Times New Roman"/>
              </a:rPr>
              <a:t>printer </a:t>
            </a:r>
            <a:r>
              <a:rPr sz="1200" dirty="0">
                <a:latin typeface="Times New Roman"/>
                <a:cs typeface="Times New Roman"/>
              </a:rPr>
              <a:t>and then</a:t>
            </a:r>
            <a:r>
              <a:rPr sz="1200" spc="10" dirty="0">
                <a:latin typeface="Times New Roman"/>
                <a:cs typeface="Times New Roman"/>
              </a:rPr>
              <a:t> </a:t>
            </a:r>
            <a:r>
              <a:rPr sz="1200" dirty="0">
                <a:latin typeface="Times New Roman"/>
                <a:cs typeface="Times New Roman"/>
              </a:rPr>
              <a:t>transferred onto</a:t>
            </a:r>
            <a:r>
              <a:rPr sz="1200" spc="15" dirty="0">
                <a:latin typeface="Times New Roman"/>
                <a:cs typeface="Times New Roman"/>
              </a:rPr>
              <a:t> </a:t>
            </a:r>
            <a:r>
              <a:rPr sz="1200" dirty="0">
                <a:latin typeface="Times New Roman"/>
                <a:cs typeface="Times New Roman"/>
              </a:rPr>
              <a:t>the copper</a:t>
            </a:r>
            <a:r>
              <a:rPr sz="1200" spc="10" dirty="0">
                <a:latin typeface="Times New Roman"/>
                <a:cs typeface="Times New Roman"/>
              </a:rPr>
              <a:t> </a:t>
            </a:r>
            <a:r>
              <a:rPr sz="1200" dirty="0">
                <a:latin typeface="Times New Roman"/>
                <a:cs typeface="Times New Roman"/>
              </a:rPr>
              <a:t>side of</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PCB</a:t>
            </a:r>
            <a:r>
              <a:rPr sz="1200" spc="5" dirty="0">
                <a:latin typeface="Times New Roman"/>
                <a:cs typeface="Times New Roman"/>
              </a:rPr>
              <a:t> </a:t>
            </a:r>
            <a:r>
              <a:rPr sz="1200" dirty="0">
                <a:latin typeface="Times New Roman"/>
                <a:cs typeface="Times New Roman"/>
              </a:rPr>
              <a:t>board.</a:t>
            </a:r>
            <a:r>
              <a:rPr sz="1200" spc="10" dirty="0">
                <a:latin typeface="Times New Roman"/>
                <a:cs typeface="Times New Roman"/>
              </a:rPr>
              <a:t> </a:t>
            </a:r>
            <a:r>
              <a:rPr sz="1200" dirty="0">
                <a:latin typeface="Times New Roman"/>
                <a:cs typeface="Times New Roman"/>
              </a:rPr>
              <a:t>After</a:t>
            </a:r>
            <a:r>
              <a:rPr sz="1200" spc="5" dirty="0">
                <a:latin typeface="Times New Roman"/>
                <a:cs typeface="Times New Roman"/>
              </a:rPr>
              <a:t> </a:t>
            </a:r>
            <a:r>
              <a:rPr sz="1200" dirty="0">
                <a:latin typeface="Times New Roman"/>
                <a:cs typeface="Times New Roman"/>
              </a:rPr>
              <a:t>transferring</a:t>
            </a:r>
            <a:r>
              <a:rPr sz="1200" spc="5" dirty="0">
                <a:latin typeface="Times New Roman"/>
                <a:cs typeface="Times New Roman"/>
              </a:rPr>
              <a:t> </a:t>
            </a:r>
            <a:r>
              <a:rPr sz="1200" dirty="0">
                <a:latin typeface="Times New Roman"/>
                <a:cs typeface="Times New Roman"/>
              </a:rPr>
              <a:t>the design,</a:t>
            </a:r>
            <a:r>
              <a:rPr sz="1200" spc="5" dirty="0">
                <a:latin typeface="Times New Roman"/>
                <a:cs typeface="Times New Roman"/>
              </a:rPr>
              <a:t> </a:t>
            </a:r>
            <a:r>
              <a:rPr sz="1200" spc="-10" dirty="0">
                <a:latin typeface="Times New Roman"/>
                <a:cs typeface="Times New Roman"/>
              </a:rPr>
              <a:t>holes </a:t>
            </a:r>
            <a:r>
              <a:rPr sz="1200" dirty="0">
                <a:latin typeface="Times New Roman"/>
                <a:cs typeface="Times New Roman"/>
              </a:rPr>
              <a:t>were</a:t>
            </a:r>
            <a:r>
              <a:rPr sz="1200" spc="95" dirty="0">
                <a:latin typeface="Times New Roman"/>
                <a:cs typeface="Times New Roman"/>
              </a:rPr>
              <a:t> </a:t>
            </a:r>
            <a:r>
              <a:rPr sz="1200" dirty="0">
                <a:latin typeface="Times New Roman"/>
                <a:cs typeface="Times New Roman"/>
              </a:rPr>
              <a:t>drilled</a:t>
            </a:r>
            <a:r>
              <a:rPr sz="1200" spc="100" dirty="0">
                <a:latin typeface="Times New Roman"/>
                <a:cs typeface="Times New Roman"/>
              </a:rPr>
              <a:t> </a:t>
            </a:r>
            <a:r>
              <a:rPr sz="1200" dirty="0">
                <a:latin typeface="Times New Roman"/>
                <a:cs typeface="Times New Roman"/>
              </a:rPr>
              <a:t>at</a:t>
            </a:r>
            <a:r>
              <a:rPr sz="1200" spc="110" dirty="0">
                <a:latin typeface="Times New Roman"/>
                <a:cs typeface="Times New Roman"/>
              </a:rPr>
              <a:t> </a:t>
            </a:r>
            <a:r>
              <a:rPr sz="1200" dirty="0">
                <a:latin typeface="Times New Roman"/>
                <a:cs typeface="Times New Roman"/>
              </a:rPr>
              <a:t>component</a:t>
            </a:r>
            <a:r>
              <a:rPr sz="1200" spc="110" dirty="0">
                <a:latin typeface="Times New Roman"/>
                <a:cs typeface="Times New Roman"/>
              </a:rPr>
              <a:t> </a:t>
            </a:r>
            <a:r>
              <a:rPr sz="1200" dirty="0">
                <a:latin typeface="Times New Roman"/>
                <a:cs typeface="Times New Roman"/>
              </a:rPr>
              <a:t>positions.</a:t>
            </a:r>
            <a:r>
              <a:rPr sz="1200" spc="95" dirty="0">
                <a:latin typeface="Times New Roman"/>
                <a:cs typeface="Times New Roman"/>
              </a:rPr>
              <a:t> </a:t>
            </a:r>
            <a:r>
              <a:rPr sz="1200" dirty="0">
                <a:latin typeface="Times New Roman"/>
                <a:cs typeface="Times New Roman"/>
              </a:rPr>
              <a:t>Finally,</a:t>
            </a:r>
            <a:r>
              <a:rPr sz="1200" spc="110" dirty="0">
                <a:latin typeface="Times New Roman"/>
                <a:cs typeface="Times New Roman"/>
              </a:rPr>
              <a:t> </a:t>
            </a:r>
            <a:r>
              <a:rPr sz="1200" dirty="0">
                <a:latin typeface="Times New Roman"/>
                <a:cs typeface="Times New Roman"/>
              </a:rPr>
              <a:t>all</a:t>
            </a:r>
            <a:r>
              <a:rPr sz="1200" spc="95" dirty="0">
                <a:latin typeface="Times New Roman"/>
                <a:cs typeface="Times New Roman"/>
              </a:rPr>
              <a:t> </a:t>
            </a:r>
            <a:r>
              <a:rPr sz="1200" dirty="0">
                <a:latin typeface="Times New Roman"/>
                <a:cs typeface="Times New Roman"/>
              </a:rPr>
              <a:t>electronic</a:t>
            </a:r>
            <a:r>
              <a:rPr sz="1200" spc="100" dirty="0">
                <a:latin typeface="Times New Roman"/>
                <a:cs typeface="Times New Roman"/>
              </a:rPr>
              <a:t> </a:t>
            </a:r>
            <a:r>
              <a:rPr sz="1200" dirty="0">
                <a:latin typeface="Times New Roman"/>
                <a:cs typeface="Times New Roman"/>
              </a:rPr>
              <a:t>components</a:t>
            </a:r>
            <a:r>
              <a:rPr sz="1200" spc="105" dirty="0">
                <a:latin typeface="Times New Roman"/>
                <a:cs typeface="Times New Roman"/>
              </a:rPr>
              <a:t> </a:t>
            </a:r>
            <a:r>
              <a:rPr sz="1200" dirty="0">
                <a:latin typeface="Times New Roman"/>
                <a:cs typeface="Times New Roman"/>
              </a:rPr>
              <a:t>were</a:t>
            </a:r>
            <a:r>
              <a:rPr sz="1200" spc="95" dirty="0">
                <a:latin typeface="Times New Roman"/>
                <a:cs typeface="Times New Roman"/>
              </a:rPr>
              <a:t> </a:t>
            </a:r>
            <a:r>
              <a:rPr sz="1200" dirty="0">
                <a:latin typeface="Times New Roman"/>
                <a:cs typeface="Times New Roman"/>
              </a:rPr>
              <a:t>placed</a:t>
            </a:r>
            <a:r>
              <a:rPr sz="1200" spc="105" dirty="0">
                <a:latin typeface="Times New Roman"/>
                <a:cs typeface="Times New Roman"/>
              </a:rPr>
              <a:t> </a:t>
            </a:r>
            <a:r>
              <a:rPr sz="1200" dirty="0">
                <a:latin typeface="Times New Roman"/>
                <a:cs typeface="Times New Roman"/>
              </a:rPr>
              <a:t>on</a:t>
            </a:r>
            <a:r>
              <a:rPr sz="1200" spc="105" dirty="0">
                <a:latin typeface="Times New Roman"/>
                <a:cs typeface="Times New Roman"/>
              </a:rPr>
              <a:t> </a:t>
            </a:r>
            <a:r>
              <a:rPr sz="1200" spc="-25" dirty="0">
                <a:latin typeface="Times New Roman"/>
                <a:cs typeface="Times New Roman"/>
              </a:rPr>
              <a:t>the </a:t>
            </a:r>
            <a:r>
              <a:rPr sz="1200" dirty="0">
                <a:latin typeface="Times New Roman"/>
                <a:cs typeface="Times New Roman"/>
              </a:rPr>
              <a:t>board</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soldered</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complete</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hardware</a:t>
            </a:r>
            <a:r>
              <a:rPr sz="1200" spc="-30" dirty="0">
                <a:latin typeface="Times New Roman"/>
                <a:cs typeface="Times New Roman"/>
              </a:rPr>
              <a:t> </a:t>
            </a:r>
            <a:r>
              <a:rPr sz="1200" spc="-10" dirty="0">
                <a:latin typeface="Times New Roman"/>
                <a:cs typeface="Times New Roman"/>
              </a:rPr>
              <a:t>assembly.</a:t>
            </a:r>
            <a:endParaRPr sz="1200">
              <a:latin typeface="Times New Roman"/>
              <a:cs typeface="Times New Roman"/>
            </a:endParaRPr>
          </a:p>
        </p:txBody>
      </p:sp>
      <p:sp>
        <p:nvSpPr>
          <p:cNvPr id="3" name="object 3"/>
          <p:cNvSpPr txBox="1"/>
          <p:nvPr/>
        </p:nvSpPr>
        <p:spPr>
          <a:xfrm>
            <a:off x="1081836" y="8224265"/>
            <a:ext cx="1155700"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Times New Roman"/>
                <a:cs typeface="Times New Roman"/>
              </a:rPr>
              <a:t>Fig</a:t>
            </a:r>
            <a:r>
              <a:rPr sz="1100" spc="-10" dirty="0">
                <a:latin typeface="Times New Roman"/>
                <a:cs typeface="Times New Roman"/>
              </a:rPr>
              <a:t> </a:t>
            </a:r>
            <a:r>
              <a:rPr sz="1100" dirty="0">
                <a:latin typeface="Times New Roman"/>
                <a:cs typeface="Times New Roman"/>
              </a:rPr>
              <a:t>10:</a:t>
            </a:r>
            <a:r>
              <a:rPr sz="1100" spc="-5" dirty="0">
                <a:latin typeface="Times New Roman"/>
                <a:cs typeface="Times New Roman"/>
              </a:rPr>
              <a:t> </a:t>
            </a:r>
            <a:r>
              <a:rPr sz="1100" dirty="0">
                <a:latin typeface="Times New Roman"/>
                <a:cs typeface="Times New Roman"/>
              </a:rPr>
              <a:t>PCB</a:t>
            </a:r>
            <a:r>
              <a:rPr sz="1100" spc="-10" dirty="0">
                <a:latin typeface="Times New Roman"/>
                <a:cs typeface="Times New Roman"/>
              </a:rPr>
              <a:t> Layout</a:t>
            </a:r>
            <a:endParaRPr sz="1100">
              <a:latin typeface="Times New Roman"/>
              <a:cs typeface="Times New Roman"/>
            </a:endParaRPr>
          </a:p>
        </p:txBody>
      </p:sp>
      <p:sp>
        <p:nvSpPr>
          <p:cNvPr id="4" name="object 4"/>
          <p:cNvSpPr txBox="1"/>
          <p:nvPr/>
        </p:nvSpPr>
        <p:spPr>
          <a:xfrm>
            <a:off x="2805810" y="8224265"/>
            <a:ext cx="1874520"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Times New Roman"/>
                <a:cs typeface="Times New Roman"/>
              </a:rPr>
              <a:t>Fig</a:t>
            </a:r>
            <a:r>
              <a:rPr sz="1100" spc="-15" dirty="0">
                <a:latin typeface="Times New Roman"/>
                <a:cs typeface="Times New Roman"/>
              </a:rPr>
              <a:t> </a:t>
            </a:r>
            <a:r>
              <a:rPr sz="1100" dirty="0">
                <a:latin typeface="Times New Roman"/>
                <a:cs typeface="Times New Roman"/>
              </a:rPr>
              <a:t>11:</a:t>
            </a:r>
            <a:r>
              <a:rPr sz="1100" spc="-20" dirty="0">
                <a:latin typeface="Times New Roman"/>
                <a:cs typeface="Times New Roman"/>
              </a:rPr>
              <a:t> </a:t>
            </a:r>
            <a:r>
              <a:rPr sz="1100" dirty="0">
                <a:latin typeface="Times New Roman"/>
                <a:cs typeface="Times New Roman"/>
              </a:rPr>
              <a:t>3D</a:t>
            </a:r>
            <a:r>
              <a:rPr sz="1100" spc="-20" dirty="0">
                <a:latin typeface="Times New Roman"/>
                <a:cs typeface="Times New Roman"/>
              </a:rPr>
              <a:t> </a:t>
            </a:r>
            <a:r>
              <a:rPr sz="1100" dirty="0">
                <a:latin typeface="Times New Roman"/>
                <a:cs typeface="Times New Roman"/>
              </a:rPr>
              <a:t>Bottom</a:t>
            </a:r>
            <a:r>
              <a:rPr sz="1100" spc="-5" dirty="0">
                <a:latin typeface="Times New Roman"/>
                <a:cs typeface="Times New Roman"/>
              </a:rPr>
              <a:t> </a:t>
            </a:r>
            <a:r>
              <a:rPr sz="1100" dirty="0">
                <a:latin typeface="Times New Roman"/>
                <a:cs typeface="Times New Roman"/>
              </a:rPr>
              <a:t>View</a:t>
            </a:r>
            <a:r>
              <a:rPr sz="1100" spc="-15"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spc="-25" dirty="0">
                <a:latin typeface="Times New Roman"/>
                <a:cs typeface="Times New Roman"/>
              </a:rPr>
              <a:t>PCB</a:t>
            </a:r>
            <a:endParaRPr sz="1100">
              <a:latin typeface="Times New Roman"/>
              <a:cs typeface="Times New Roman"/>
            </a:endParaRPr>
          </a:p>
        </p:txBody>
      </p:sp>
      <p:sp>
        <p:nvSpPr>
          <p:cNvPr id="5" name="object 5"/>
          <p:cNvSpPr txBox="1"/>
          <p:nvPr/>
        </p:nvSpPr>
        <p:spPr>
          <a:xfrm>
            <a:off x="4898516" y="8224265"/>
            <a:ext cx="1757680"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Times New Roman"/>
                <a:cs typeface="Times New Roman"/>
              </a:rPr>
              <a:t>Fig</a:t>
            </a:r>
            <a:r>
              <a:rPr sz="1100" spc="-20" dirty="0">
                <a:latin typeface="Times New Roman"/>
                <a:cs typeface="Times New Roman"/>
              </a:rPr>
              <a:t> </a:t>
            </a:r>
            <a:r>
              <a:rPr sz="1100" dirty="0">
                <a:latin typeface="Times New Roman"/>
                <a:cs typeface="Times New Roman"/>
              </a:rPr>
              <a:t>12:</a:t>
            </a:r>
            <a:r>
              <a:rPr sz="1100" spc="-20" dirty="0">
                <a:latin typeface="Times New Roman"/>
                <a:cs typeface="Times New Roman"/>
              </a:rPr>
              <a:t> </a:t>
            </a:r>
            <a:r>
              <a:rPr sz="1100" dirty="0">
                <a:latin typeface="Times New Roman"/>
                <a:cs typeface="Times New Roman"/>
              </a:rPr>
              <a:t>3D</a:t>
            </a:r>
            <a:r>
              <a:rPr sz="1100" spc="-20" dirty="0">
                <a:latin typeface="Times New Roman"/>
                <a:cs typeface="Times New Roman"/>
              </a:rPr>
              <a:t> </a:t>
            </a:r>
            <a:r>
              <a:rPr sz="1100" dirty="0">
                <a:latin typeface="Times New Roman"/>
                <a:cs typeface="Times New Roman"/>
              </a:rPr>
              <a:t>Front</a:t>
            </a:r>
            <a:r>
              <a:rPr sz="1100" spc="-5" dirty="0">
                <a:latin typeface="Times New Roman"/>
                <a:cs typeface="Times New Roman"/>
              </a:rPr>
              <a:t> </a:t>
            </a:r>
            <a:r>
              <a:rPr sz="1100" dirty="0">
                <a:latin typeface="Times New Roman"/>
                <a:cs typeface="Times New Roman"/>
              </a:rPr>
              <a:t>View</a:t>
            </a:r>
            <a:r>
              <a:rPr sz="1100" spc="-15"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spc="-25" dirty="0">
                <a:latin typeface="Times New Roman"/>
                <a:cs typeface="Times New Roman"/>
              </a:rPr>
              <a:t>PCB</a:t>
            </a:r>
            <a:endParaRPr sz="1100">
              <a:latin typeface="Times New Roman"/>
              <a:cs typeface="Times New Roman"/>
            </a:endParaRPr>
          </a:p>
        </p:txBody>
      </p:sp>
      <p:pic>
        <p:nvPicPr>
          <p:cNvPr id="6" name="object 6"/>
          <p:cNvPicPr/>
          <p:nvPr/>
        </p:nvPicPr>
        <p:blipFill>
          <a:blip r:embed="rId2" cstate="print"/>
          <a:stretch>
            <a:fillRect/>
          </a:stretch>
        </p:blipFill>
        <p:spPr>
          <a:xfrm>
            <a:off x="914400" y="1134109"/>
            <a:ext cx="5945378" cy="3028314"/>
          </a:xfrm>
          <a:prstGeom prst="rect">
            <a:avLst/>
          </a:prstGeom>
        </p:spPr>
      </p:pic>
      <p:pic>
        <p:nvPicPr>
          <p:cNvPr id="7" name="object 7"/>
          <p:cNvPicPr/>
          <p:nvPr/>
        </p:nvPicPr>
        <p:blipFill>
          <a:blip r:embed="rId3" cstate="print"/>
          <a:stretch>
            <a:fillRect/>
          </a:stretch>
        </p:blipFill>
        <p:spPr>
          <a:xfrm>
            <a:off x="943610" y="6551802"/>
            <a:ext cx="5701157" cy="1610359"/>
          </a:xfrm>
          <a:prstGeom prst="rect">
            <a:avLst/>
          </a:prstGeom>
        </p:spPr>
      </p:pic>
      <p:sp>
        <p:nvSpPr>
          <p:cNvPr id="8" name="object 8"/>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12</a:t>
            </a:fld>
            <a:endParaRPr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87525" y="3625722"/>
            <a:ext cx="89598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Times New Roman"/>
                <a:cs typeface="Times New Roman"/>
              </a:rPr>
              <a:t>Fig</a:t>
            </a:r>
            <a:r>
              <a:rPr sz="1100" spc="-10" dirty="0">
                <a:latin typeface="Times New Roman"/>
                <a:cs typeface="Times New Roman"/>
              </a:rPr>
              <a:t> </a:t>
            </a:r>
            <a:r>
              <a:rPr sz="1100" dirty="0">
                <a:latin typeface="Times New Roman"/>
                <a:cs typeface="Times New Roman"/>
              </a:rPr>
              <a:t>13:</a:t>
            </a:r>
            <a:r>
              <a:rPr sz="1100" spc="-5" dirty="0">
                <a:latin typeface="Times New Roman"/>
                <a:cs typeface="Times New Roman"/>
              </a:rPr>
              <a:t> </a:t>
            </a:r>
            <a:r>
              <a:rPr sz="1100" spc="-10" dirty="0">
                <a:latin typeface="Times New Roman"/>
                <a:cs typeface="Times New Roman"/>
              </a:rPr>
              <a:t>Etching</a:t>
            </a:r>
            <a:endParaRPr sz="1100">
              <a:latin typeface="Times New Roman"/>
              <a:cs typeface="Times New Roman"/>
            </a:endParaRPr>
          </a:p>
        </p:txBody>
      </p:sp>
      <p:sp>
        <p:nvSpPr>
          <p:cNvPr id="3" name="object 3"/>
          <p:cNvSpPr txBox="1"/>
          <p:nvPr/>
        </p:nvSpPr>
        <p:spPr>
          <a:xfrm>
            <a:off x="3427603" y="3625722"/>
            <a:ext cx="892810"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Times New Roman"/>
                <a:cs typeface="Times New Roman"/>
              </a:rPr>
              <a:t>Fig</a:t>
            </a:r>
            <a:r>
              <a:rPr sz="1100" spc="-50" dirty="0">
                <a:latin typeface="Times New Roman"/>
                <a:cs typeface="Times New Roman"/>
              </a:rPr>
              <a:t> </a:t>
            </a:r>
            <a:r>
              <a:rPr sz="1100" dirty="0">
                <a:latin typeface="Times New Roman"/>
                <a:cs typeface="Times New Roman"/>
              </a:rPr>
              <a:t>14:</a:t>
            </a:r>
            <a:r>
              <a:rPr sz="1100" spc="-50" dirty="0">
                <a:latin typeface="Times New Roman"/>
                <a:cs typeface="Times New Roman"/>
              </a:rPr>
              <a:t> </a:t>
            </a:r>
            <a:r>
              <a:rPr sz="1100" spc="-10" dirty="0">
                <a:latin typeface="Times New Roman"/>
                <a:cs typeface="Times New Roman"/>
              </a:rPr>
              <a:t>Drilling</a:t>
            </a:r>
            <a:endParaRPr sz="1100">
              <a:latin typeface="Times New Roman"/>
              <a:cs typeface="Times New Roman"/>
            </a:endParaRPr>
          </a:p>
        </p:txBody>
      </p:sp>
      <p:sp>
        <p:nvSpPr>
          <p:cNvPr id="4" name="object 4"/>
          <p:cNvSpPr txBox="1"/>
          <p:nvPr/>
        </p:nvSpPr>
        <p:spPr>
          <a:xfrm>
            <a:off x="4985384" y="3625722"/>
            <a:ext cx="1676400"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Times New Roman"/>
                <a:cs typeface="Times New Roman"/>
              </a:rPr>
              <a:t>Fig</a:t>
            </a:r>
            <a:r>
              <a:rPr sz="1100" spc="-55" dirty="0">
                <a:latin typeface="Times New Roman"/>
                <a:cs typeface="Times New Roman"/>
              </a:rPr>
              <a:t> </a:t>
            </a:r>
            <a:r>
              <a:rPr sz="1100" dirty="0">
                <a:latin typeface="Times New Roman"/>
                <a:cs typeface="Times New Roman"/>
              </a:rPr>
              <a:t>15:</a:t>
            </a:r>
            <a:r>
              <a:rPr sz="1100" spc="-60" dirty="0">
                <a:latin typeface="Times New Roman"/>
                <a:cs typeface="Times New Roman"/>
              </a:rPr>
              <a:t> </a:t>
            </a:r>
            <a:r>
              <a:rPr sz="1100" dirty="0">
                <a:latin typeface="Times New Roman"/>
                <a:cs typeface="Times New Roman"/>
              </a:rPr>
              <a:t>Component</a:t>
            </a:r>
            <a:r>
              <a:rPr sz="1100" spc="-50" dirty="0">
                <a:latin typeface="Times New Roman"/>
                <a:cs typeface="Times New Roman"/>
              </a:rPr>
              <a:t> </a:t>
            </a:r>
            <a:r>
              <a:rPr sz="1100" spc="-10" dirty="0">
                <a:latin typeface="Times New Roman"/>
                <a:cs typeface="Times New Roman"/>
              </a:rPr>
              <a:t>Soldering</a:t>
            </a:r>
            <a:endParaRPr sz="1100">
              <a:latin typeface="Times New Roman"/>
              <a:cs typeface="Times New Roman"/>
            </a:endParaRPr>
          </a:p>
        </p:txBody>
      </p:sp>
      <p:sp>
        <p:nvSpPr>
          <p:cNvPr id="5" name="object 5"/>
          <p:cNvSpPr txBox="1"/>
          <p:nvPr/>
        </p:nvSpPr>
        <p:spPr>
          <a:xfrm>
            <a:off x="902004" y="4242942"/>
            <a:ext cx="5758180" cy="3770629"/>
          </a:xfrm>
          <a:prstGeom prst="rect">
            <a:avLst/>
          </a:prstGeom>
        </p:spPr>
        <p:txBody>
          <a:bodyPr vert="horz" wrap="square" lIns="0" tIns="0" rIns="0" bIns="0" rtlCol="0">
            <a:spAutoFit/>
          </a:bodyPr>
          <a:lstStyle/>
          <a:p>
            <a:pPr marL="12700">
              <a:lnSpc>
                <a:spcPts val="1825"/>
              </a:lnSpc>
            </a:pPr>
            <a:r>
              <a:rPr sz="1600" b="1" dirty="0">
                <a:latin typeface="Times New Roman"/>
                <a:cs typeface="Times New Roman"/>
              </a:rPr>
              <a:t>6.</a:t>
            </a:r>
            <a:r>
              <a:rPr sz="1600" b="1" spc="165" dirty="0">
                <a:latin typeface="Times New Roman"/>
                <a:cs typeface="Times New Roman"/>
              </a:rPr>
              <a:t> </a:t>
            </a:r>
            <a:r>
              <a:rPr sz="1400" b="1" dirty="0">
                <a:latin typeface="Times New Roman"/>
                <a:cs typeface="Times New Roman"/>
              </a:rPr>
              <a:t>Working</a:t>
            </a:r>
            <a:r>
              <a:rPr sz="1400" b="1" spc="-15" dirty="0">
                <a:latin typeface="Times New Roman"/>
                <a:cs typeface="Times New Roman"/>
              </a:rPr>
              <a:t> </a:t>
            </a:r>
            <a:r>
              <a:rPr sz="1400" b="1" spc="-10" dirty="0">
                <a:latin typeface="Times New Roman"/>
                <a:cs typeface="Times New Roman"/>
              </a:rPr>
              <a:t>Principle</a:t>
            </a:r>
            <a:endParaRPr sz="1400">
              <a:latin typeface="Times New Roman"/>
              <a:cs typeface="Times New Roman"/>
            </a:endParaRPr>
          </a:p>
          <a:p>
            <a:pPr marL="12700" marR="5715" algn="just">
              <a:lnSpc>
                <a:spcPct val="95900"/>
              </a:lnSpc>
              <a:spcBef>
                <a:spcPts val="1480"/>
              </a:spcBef>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principle</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ring</a:t>
            </a:r>
            <a:r>
              <a:rPr sz="1200" spc="20" dirty="0">
                <a:latin typeface="Times New Roman"/>
                <a:cs typeface="Times New Roman"/>
              </a:rPr>
              <a:t> </a:t>
            </a:r>
            <a:r>
              <a:rPr sz="1200" dirty="0">
                <a:latin typeface="Times New Roman"/>
                <a:cs typeface="Times New Roman"/>
              </a:rPr>
              <a:t>counter</a:t>
            </a:r>
            <a:r>
              <a:rPr sz="1200" spc="1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based</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sequential</a:t>
            </a:r>
            <a:r>
              <a:rPr sz="1200" spc="20" dirty="0">
                <a:latin typeface="Times New Roman"/>
                <a:cs typeface="Times New Roman"/>
              </a:rPr>
              <a:t> </a:t>
            </a:r>
            <a:r>
              <a:rPr sz="1200" dirty="0">
                <a:latin typeface="Times New Roman"/>
                <a:cs typeface="Times New Roman"/>
              </a:rPr>
              <a:t>shifting</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single</a:t>
            </a:r>
            <a:r>
              <a:rPr sz="1200" spc="5" dirty="0">
                <a:latin typeface="Times New Roman"/>
                <a:cs typeface="Times New Roman"/>
              </a:rPr>
              <a:t> </a:t>
            </a:r>
            <a:r>
              <a:rPr sz="1200" spc="-10" dirty="0">
                <a:latin typeface="Times New Roman"/>
                <a:cs typeface="Times New Roman"/>
              </a:rPr>
              <a:t>logic </a:t>
            </a:r>
            <a:r>
              <a:rPr sz="1200" dirty="0">
                <a:latin typeface="Times New Roman"/>
                <a:cs typeface="Times New Roman"/>
              </a:rPr>
              <a:t>‘1’</a:t>
            </a:r>
            <a:r>
              <a:rPr sz="1200" spc="-10" dirty="0">
                <a:latin typeface="Times New Roman"/>
                <a:cs typeface="Times New Roman"/>
              </a:rPr>
              <a:t> </a:t>
            </a:r>
            <a:r>
              <a:rPr sz="1200" dirty="0">
                <a:latin typeface="Times New Roman"/>
                <a:cs typeface="Times New Roman"/>
              </a:rPr>
              <a:t>through</a:t>
            </a:r>
            <a:r>
              <a:rPr sz="1200" spc="-5" dirty="0">
                <a:latin typeface="Times New Roman"/>
                <a:cs typeface="Times New Roman"/>
              </a:rPr>
              <a:t> </a:t>
            </a:r>
            <a:r>
              <a:rPr sz="1200" dirty="0">
                <a:latin typeface="Times New Roman"/>
                <a:cs typeface="Times New Roman"/>
              </a:rPr>
              <a:t>multiple</a:t>
            </a:r>
            <a:r>
              <a:rPr sz="1200" spc="-5" dirty="0">
                <a:latin typeface="Times New Roman"/>
                <a:cs typeface="Times New Roman"/>
              </a:rPr>
              <a:t> </a:t>
            </a:r>
            <a:r>
              <a:rPr sz="1200" dirty="0">
                <a:latin typeface="Times New Roman"/>
                <a:cs typeface="Times New Roman"/>
              </a:rPr>
              <a:t>D</a:t>
            </a:r>
            <a:r>
              <a:rPr sz="1200" spc="-20" dirty="0">
                <a:latin typeface="Times New Roman"/>
                <a:cs typeface="Times New Roman"/>
              </a:rPr>
              <a:t> </a:t>
            </a:r>
            <a:r>
              <a:rPr sz="1200" spc="-10" dirty="0">
                <a:latin typeface="Times New Roman"/>
                <a:cs typeface="Times New Roman"/>
              </a:rPr>
              <a:t>flip-</a:t>
            </a:r>
            <a:r>
              <a:rPr sz="1200" dirty="0">
                <a:latin typeface="Times New Roman"/>
                <a:cs typeface="Times New Roman"/>
              </a:rPr>
              <a:t>flops</a:t>
            </a:r>
            <a:r>
              <a:rPr sz="1200" spc="-5" dirty="0">
                <a:latin typeface="Times New Roman"/>
                <a:cs typeface="Times New Roman"/>
              </a:rPr>
              <a:t> </a:t>
            </a:r>
            <a:r>
              <a:rPr sz="1200" dirty="0">
                <a:latin typeface="Times New Roman"/>
                <a:cs typeface="Times New Roman"/>
              </a:rPr>
              <a:t>connected in a</a:t>
            </a:r>
            <a:r>
              <a:rPr sz="1200" spc="-10" dirty="0">
                <a:latin typeface="Times New Roman"/>
                <a:cs typeface="Times New Roman"/>
              </a:rPr>
              <a:t> closed-</a:t>
            </a:r>
            <a:r>
              <a:rPr sz="1200" dirty="0">
                <a:latin typeface="Times New Roman"/>
                <a:cs typeface="Times New Roman"/>
              </a:rPr>
              <a:t>loop configuration.</a:t>
            </a:r>
            <a:r>
              <a:rPr sz="1200" spc="-5"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this</a:t>
            </a:r>
            <a:r>
              <a:rPr sz="1200" spc="-5" dirty="0">
                <a:latin typeface="Times New Roman"/>
                <a:cs typeface="Times New Roman"/>
              </a:rPr>
              <a:t> </a:t>
            </a:r>
            <a:r>
              <a:rPr sz="1200" dirty="0">
                <a:latin typeface="Times New Roman"/>
                <a:cs typeface="Times New Roman"/>
              </a:rPr>
              <a:t>project, </a:t>
            </a:r>
            <a:r>
              <a:rPr sz="1200" spc="-25" dirty="0">
                <a:latin typeface="Times New Roman"/>
                <a:cs typeface="Times New Roman"/>
              </a:rPr>
              <a:t>the </a:t>
            </a:r>
            <a:r>
              <a:rPr sz="1200" dirty="0">
                <a:latin typeface="Times New Roman"/>
                <a:cs typeface="Times New Roman"/>
              </a:rPr>
              <a:t>ring</a:t>
            </a:r>
            <a:r>
              <a:rPr sz="1200" spc="-20" dirty="0">
                <a:latin typeface="Times New Roman"/>
                <a:cs typeface="Times New Roman"/>
              </a:rPr>
              <a:t> </a:t>
            </a:r>
            <a:r>
              <a:rPr sz="1200" dirty="0">
                <a:latin typeface="Times New Roman"/>
                <a:cs typeface="Times New Roman"/>
              </a:rPr>
              <a:t>counter</a:t>
            </a:r>
            <a:r>
              <a:rPr sz="1200" spc="-1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implemented</a:t>
            </a:r>
            <a:r>
              <a:rPr sz="1200" spc="-15"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74LS74,</a:t>
            </a:r>
            <a:r>
              <a:rPr sz="1200" spc="-1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positive</a:t>
            </a:r>
            <a:r>
              <a:rPr sz="1200" spc="-20" dirty="0">
                <a:latin typeface="Times New Roman"/>
                <a:cs typeface="Times New Roman"/>
              </a:rPr>
              <a:t> </a:t>
            </a:r>
            <a:r>
              <a:rPr sz="1200" spc="-10" dirty="0">
                <a:latin typeface="Times New Roman"/>
                <a:cs typeface="Times New Roman"/>
              </a:rPr>
              <a:t>edge-</a:t>
            </a:r>
            <a:r>
              <a:rPr sz="1200" dirty="0">
                <a:latin typeface="Times New Roman"/>
                <a:cs typeface="Times New Roman"/>
              </a:rPr>
              <a:t>triggered</a:t>
            </a:r>
            <a:r>
              <a:rPr sz="1200" spc="-15" dirty="0">
                <a:latin typeface="Times New Roman"/>
                <a:cs typeface="Times New Roman"/>
              </a:rPr>
              <a:t> </a:t>
            </a:r>
            <a:r>
              <a:rPr sz="1200" dirty="0">
                <a:latin typeface="Times New Roman"/>
                <a:cs typeface="Times New Roman"/>
              </a:rPr>
              <a:t>D</a:t>
            </a:r>
            <a:r>
              <a:rPr sz="1200" spc="-15" dirty="0">
                <a:latin typeface="Times New Roman"/>
                <a:cs typeface="Times New Roman"/>
              </a:rPr>
              <a:t> </a:t>
            </a:r>
            <a:r>
              <a:rPr sz="1200" spc="-10" dirty="0">
                <a:latin typeface="Times New Roman"/>
                <a:cs typeface="Times New Roman"/>
              </a:rPr>
              <a:t>flip-</a:t>
            </a:r>
            <a:r>
              <a:rPr sz="1200" dirty="0">
                <a:latin typeface="Times New Roman"/>
                <a:cs typeface="Times New Roman"/>
              </a:rPr>
              <a:t>flop.</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flip- </a:t>
            </a:r>
            <a:r>
              <a:rPr sz="1200" dirty="0">
                <a:latin typeface="Times New Roman"/>
                <a:cs typeface="Times New Roman"/>
              </a:rPr>
              <a:t>flop</a:t>
            </a:r>
            <a:r>
              <a:rPr sz="1200" spc="-35" dirty="0">
                <a:latin typeface="Times New Roman"/>
                <a:cs typeface="Times New Roman"/>
              </a:rPr>
              <a:t> </a:t>
            </a:r>
            <a:r>
              <a:rPr sz="1200" dirty="0">
                <a:latin typeface="Times New Roman"/>
                <a:cs typeface="Times New Roman"/>
              </a:rPr>
              <a:t>transfers</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logic</a:t>
            </a:r>
            <a:r>
              <a:rPr sz="1200" spc="-40" dirty="0">
                <a:latin typeface="Times New Roman"/>
                <a:cs typeface="Times New Roman"/>
              </a:rPr>
              <a:t> </a:t>
            </a:r>
            <a:r>
              <a:rPr sz="1200" dirty="0">
                <a:latin typeface="Times New Roman"/>
                <a:cs typeface="Times New Roman"/>
              </a:rPr>
              <a:t>level</a:t>
            </a:r>
            <a:r>
              <a:rPr sz="1200" spc="-30" dirty="0">
                <a:latin typeface="Times New Roman"/>
                <a:cs typeface="Times New Roman"/>
              </a:rPr>
              <a:t> </a:t>
            </a:r>
            <a:r>
              <a:rPr sz="1200" dirty="0">
                <a:latin typeface="Times New Roman"/>
                <a:cs typeface="Times New Roman"/>
              </a:rPr>
              <a:t>present</a:t>
            </a:r>
            <a:r>
              <a:rPr sz="1200" spc="-20" dirty="0">
                <a:latin typeface="Times New Roman"/>
                <a:cs typeface="Times New Roman"/>
              </a:rPr>
              <a:t> </a:t>
            </a:r>
            <a:r>
              <a:rPr sz="1200" dirty="0">
                <a:latin typeface="Times New Roman"/>
                <a:cs typeface="Times New Roman"/>
              </a:rPr>
              <a:t>at</a:t>
            </a:r>
            <a:r>
              <a:rPr sz="1200" spc="-35" dirty="0">
                <a:latin typeface="Times New Roman"/>
                <a:cs typeface="Times New Roman"/>
              </a:rPr>
              <a:t> </a:t>
            </a:r>
            <a:r>
              <a:rPr sz="1200" dirty="0">
                <a:latin typeface="Times New Roman"/>
                <a:cs typeface="Times New Roman"/>
              </a:rPr>
              <a:t>its</a:t>
            </a:r>
            <a:r>
              <a:rPr sz="1200" spc="-35" dirty="0">
                <a:latin typeface="Times New Roman"/>
                <a:cs typeface="Times New Roman"/>
              </a:rPr>
              <a:t> </a:t>
            </a:r>
            <a:r>
              <a:rPr sz="1200" dirty="0">
                <a:latin typeface="Times New Roman"/>
                <a:cs typeface="Times New Roman"/>
              </a:rPr>
              <a:t>D</a:t>
            </a:r>
            <a:r>
              <a:rPr sz="1200" spc="-35" dirty="0">
                <a:latin typeface="Times New Roman"/>
                <a:cs typeface="Times New Roman"/>
              </a:rPr>
              <a:t> </a:t>
            </a:r>
            <a:r>
              <a:rPr sz="1200" dirty="0">
                <a:latin typeface="Times New Roman"/>
                <a:cs typeface="Times New Roman"/>
              </a:rPr>
              <a:t>input</a:t>
            </a:r>
            <a:r>
              <a:rPr sz="1200" spc="-2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Q</a:t>
            </a:r>
            <a:r>
              <a:rPr sz="1200" spc="-35" dirty="0">
                <a:latin typeface="Times New Roman"/>
                <a:cs typeface="Times New Roman"/>
              </a:rPr>
              <a:t> </a:t>
            </a:r>
            <a:r>
              <a:rPr sz="1200" dirty="0">
                <a:latin typeface="Times New Roman"/>
                <a:cs typeface="Times New Roman"/>
              </a:rPr>
              <a:t>output</a:t>
            </a:r>
            <a:r>
              <a:rPr sz="1200" spc="-30" dirty="0">
                <a:latin typeface="Times New Roman"/>
                <a:cs typeface="Times New Roman"/>
              </a:rPr>
              <a:t> </a:t>
            </a:r>
            <a:r>
              <a:rPr sz="1200" dirty="0">
                <a:latin typeface="Times New Roman"/>
                <a:cs typeface="Times New Roman"/>
              </a:rPr>
              <a:t>only</a:t>
            </a:r>
            <a:r>
              <a:rPr sz="1200" spc="-30" dirty="0">
                <a:latin typeface="Times New Roman"/>
                <a:cs typeface="Times New Roman"/>
              </a:rPr>
              <a:t> </a:t>
            </a:r>
            <a:r>
              <a:rPr sz="1200" dirty="0">
                <a:latin typeface="Times New Roman"/>
                <a:cs typeface="Times New Roman"/>
              </a:rPr>
              <a:t>at</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rising</a:t>
            </a:r>
            <a:r>
              <a:rPr sz="1200" spc="-30" dirty="0">
                <a:latin typeface="Times New Roman"/>
                <a:cs typeface="Times New Roman"/>
              </a:rPr>
              <a:t> </a:t>
            </a:r>
            <a:r>
              <a:rPr sz="1200" dirty="0">
                <a:latin typeface="Times New Roman"/>
                <a:cs typeface="Times New Roman"/>
              </a:rPr>
              <a:t>edge</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25" dirty="0">
                <a:latin typeface="Times New Roman"/>
                <a:cs typeface="Times New Roman"/>
              </a:rPr>
              <a:t>the </a:t>
            </a:r>
            <a:r>
              <a:rPr sz="1200" dirty="0">
                <a:latin typeface="Times New Roman"/>
                <a:cs typeface="Times New Roman"/>
              </a:rPr>
              <a:t>clock</a:t>
            </a:r>
            <a:r>
              <a:rPr sz="1200" spc="-30" dirty="0">
                <a:latin typeface="Times New Roman"/>
                <a:cs typeface="Times New Roman"/>
              </a:rPr>
              <a:t> </a:t>
            </a:r>
            <a:r>
              <a:rPr sz="1200" dirty="0">
                <a:latin typeface="Times New Roman"/>
                <a:cs typeface="Times New Roman"/>
              </a:rPr>
              <a:t>pulse,</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output</a:t>
            </a:r>
            <a:r>
              <a:rPr sz="1200" spc="-25" dirty="0">
                <a:latin typeface="Times New Roman"/>
                <a:cs typeface="Times New Roman"/>
              </a:rPr>
              <a:t> </a:t>
            </a:r>
            <a:r>
              <a:rPr sz="1200" dirty="0">
                <a:latin typeface="Times New Roman"/>
                <a:cs typeface="Times New Roman"/>
              </a:rPr>
              <a:t>remains</a:t>
            </a:r>
            <a:r>
              <a:rPr sz="1200" spc="-30" dirty="0">
                <a:latin typeface="Times New Roman"/>
                <a:cs typeface="Times New Roman"/>
              </a:rPr>
              <a:t> </a:t>
            </a:r>
            <a:r>
              <a:rPr sz="1200" dirty="0">
                <a:latin typeface="Times New Roman"/>
                <a:cs typeface="Times New Roman"/>
              </a:rPr>
              <a:t>stable</a:t>
            </a:r>
            <a:r>
              <a:rPr sz="1200" spc="-30" dirty="0">
                <a:latin typeface="Times New Roman"/>
                <a:cs typeface="Times New Roman"/>
              </a:rPr>
              <a:t> </a:t>
            </a:r>
            <a:r>
              <a:rPr sz="1200" dirty="0">
                <a:latin typeface="Times New Roman"/>
                <a:cs typeface="Times New Roman"/>
              </a:rPr>
              <a:t>until</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next</a:t>
            </a:r>
            <a:r>
              <a:rPr sz="1200" spc="-30" dirty="0">
                <a:latin typeface="Times New Roman"/>
                <a:cs typeface="Times New Roman"/>
              </a:rPr>
              <a:t> </a:t>
            </a:r>
            <a:r>
              <a:rPr sz="1200" dirty="0">
                <a:latin typeface="Times New Roman"/>
                <a:cs typeface="Times New Roman"/>
              </a:rPr>
              <a:t>clock</a:t>
            </a:r>
            <a:r>
              <a:rPr sz="1200" spc="-25" dirty="0">
                <a:latin typeface="Times New Roman"/>
                <a:cs typeface="Times New Roman"/>
              </a:rPr>
              <a:t> </a:t>
            </a:r>
            <a:r>
              <a:rPr sz="1200" spc="-10" dirty="0">
                <a:latin typeface="Times New Roman"/>
                <a:cs typeface="Times New Roman"/>
              </a:rPr>
              <a:t>signal.</a:t>
            </a:r>
            <a:endParaRPr sz="1200">
              <a:latin typeface="Times New Roman"/>
              <a:cs typeface="Times New Roman"/>
            </a:endParaRPr>
          </a:p>
          <a:p>
            <a:pPr>
              <a:lnSpc>
                <a:spcPct val="100000"/>
              </a:lnSpc>
              <a:spcBef>
                <a:spcPts val="55"/>
              </a:spcBef>
            </a:pPr>
            <a:endParaRPr sz="1200">
              <a:latin typeface="Times New Roman"/>
              <a:cs typeface="Times New Roman"/>
            </a:endParaRPr>
          </a:p>
          <a:p>
            <a:pPr marL="12700" marR="6350" algn="just">
              <a:lnSpc>
                <a:spcPts val="1380"/>
              </a:lnSpc>
              <a:spcBef>
                <a:spcPts val="5"/>
              </a:spcBef>
            </a:pP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proper</a:t>
            </a:r>
            <a:r>
              <a:rPr sz="1200" spc="30" dirty="0">
                <a:latin typeface="Times New Roman"/>
                <a:cs typeface="Times New Roman"/>
              </a:rPr>
              <a:t> </a:t>
            </a:r>
            <a:r>
              <a:rPr sz="1200" dirty="0">
                <a:latin typeface="Times New Roman"/>
                <a:cs typeface="Times New Roman"/>
              </a:rPr>
              <a:t>operation,</a:t>
            </a:r>
            <a:r>
              <a:rPr sz="1200" spc="30" dirty="0">
                <a:latin typeface="Times New Roman"/>
                <a:cs typeface="Times New Roman"/>
              </a:rPr>
              <a:t> </a:t>
            </a:r>
            <a:r>
              <a:rPr sz="1200" dirty="0">
                <a:latin typeface="Times New Roman"/>
                <a:cs typeface="Times New Roman"/>
              </a:rPr>
              <a:t>initialization</a:t>
            </a:r>
            <a:r>
              <a:rPr sz="1200" spc="3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required.</a:t>
            </a:r>
            <a:r>
              <a:rPr sz="1200" spc="45" dirty="0">
                <a:latin typeface="Times New Roman"/>
                <a:cs typeface="Times New Roman"/>
              </a:rPr>
              <a:t> </a:t>
            </a:r>
            <a:r>
              <a:rPr sz="1200" dirty="0">
                <a:latin typeface="Times New Roman"/>
                <a:cs typeface="Times New Roman"/>
              </a:rPr>
              <a:t>Initially,</a:t>
            </a:r>
            <a:r>
              <a:rPr sz="1200" spc="35" dirty="0">
                <a:latin typeface="Times New Roman"/>
                <a:cs typeface="Times New Roman"/>
              </a:rPr>
              <a:t> </a:t>
            </a:r>
            <a:r>
              <a:rPr sz="1200" dirty="0">
                <a:latin typeface="Times New Roman"/>
                <a:cs typeface="Times New Roman"/>
              </a:rPr>
              <a:t>one</a:t>
            </a:r>
            <a:r>
              <a:rPr sz="1200" spc="25" dirty="0">
                <a:latin typeface="Times New Roman"/>
                <a:cs typeface="Times New Roman"/>
              </a:rPr>
              <a:t> </a:t>
            </a:r>
            <a:r>
              <a:rPr sz="1200" spc="-10" dirty="0">
                <a:latin typeface="Times New Roman"/>
                <a:cs typeface="Times New Roman"/>
              </a:rPr>
              <a:t>flip-</a:t>
            </a:r>
            <a:r>
              <a:rPr sz="1200" dirty="0">
                <a:latin typeface="Times New Roman"/>
                <a:cs typeface="Times New Roman"/>
              </a:rPr>
              <a:t>flop</a:t>
            </a:r>
            <a:r>
              <a:rPr sz="1200" spc="3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set</a:t>
            </a:r>
            <a:r>
              <a:rPr sz="1200"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logic</a:t>
            </a:r>
            <a:r>
              <a:rPr sz="1200" spc="25" dirty="0">
                <a:latin typeface="Times New Roman"/>
                <a:cs typeface="Times New Roman"/>
              </a:rPr>
              <a:t> </a:t>
            </a:r>
            <a:r>
              <a:rPr sz="1200" dirty="0">
                <a:latin typeface="Times New Roman"/>
                <a:cs typeface="Times New Roman"/>
              </a:rPr>
              <a:t>‘1’</a:t>
            </a:r>
            <a:r>
              <a:rPr sz="1200" spc="25" dirty="0">
                <a:latin typeface="Times New Roman"/>
                <a:cs typeface="Times New Roman"/>
              </a:rPr>
              <a:t> </a:t>
            </a:r>
            <a:r>
              <a:rPr sz="1200" spc="-10" dirty="0">
                <a:latin typeface="Times New Roman"/>
                <a:cs typeface="Times New Roman"/>
              </a:rPr>
              <a:t>using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preset</a:t>
            </a:r>
            <a:r>
              <a:rPr sz="1200" spc="-45" dirty="0">
                <a:latin typeface="Times New Roman"/>
                <a:cs typeface="Times New Roman"/>
              </a:rPr>
              <a:t> </a:t>
            </a:r>
            <a:r>
              <a:rPr sz="1200" dirty="0">
                <a:latin typeface="Times New Roman"/>
                <a:cs typeface="Times New Roman"/>
              </a:rPr>
              <a:t>input,</a:t>
            </a:r>
            <a:r>
              <a:rPr sz="1200" spc="-45" dirty="0">
                <a:latin typeface="Times New Roman"/>
                <a:cs typeface="Times New Roman"/>
              </a:rPr>
              <a:t> </a:t>
            </a:r>
            <a:r>
              <a:rPr sz="1200" dirty="0">
                <a:latin typeface="Times New Roman"/>
                <a:cs typeface="Times New Roman"/>
              </a:rPr>
              <a:t>while</a:t>
            </a:r>
            <a:r>
              <a:rPr sz="1200" spc="-4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spc="-10" dirty="0">
                <a:latin typeface="Times New Roman"/>
                <a:cs typeface="Times New Roman"/>
              </a:rPr>
              <a:t>remaining</a:t>
            </a:r>
            <a:r>
              <a:rPr sz="1200" spc="-45" dirty="0">
                <a:latin typeface="Times New Roman"/>
                <a:cs typeface="Times New Roman"/>
              </a:rPr>
              <a:t> </a:t>
            </a:r>
            <a:r>
              <a:rPr sz="1200" spc="-10" dirty="0">
                <a:latin typeface="Times New Roman"/>
                <a:cs typeface="Times New Roman"/>
              </a:rPr>
              <a:t>flip-</a:t>
            </a:r>
            <a:r>
              <a:rPr sz="1200" dirty="0">
                <a:latin typeface="Times New Roman"/>
                <a:cs typeface="Times New Roman"/>
              </a:rPr>
              <a:t>flops</a:t>
            </a:r>
            <a:r>
              <a:rPr sz="1200" spc="-45" dirty="0">
                <a:latin typeface="Times New Roman"/>
                <a:cs typeface="Times New Roman"/>
              </a:rPr>
              <a:t> </a:t>
            </a:r>
            <a:r>
              <a:rPr sz="1200" dirty="0">
                <a:latin typeface="Times New Roman"/>
                <a:cs typeface="Times New Roman"/>
              </a:rPr>
              <a:t>are</a:t>
            </a:r>
            <a:r>
              <a:rPr sz="1200" spc="-45" dirty="0">
                <a:latin typeface="Times New Roman"/>
                <a:cs typeface="Times New Roman"/>
              </a:rPr>
              <a:t> </a:t>
            </a:r>
            <a:r>
              <a:rPr sz="1200" dirty="0">
                <a:latin typeface="Times New Roman"/>
                <a:cs typeface="Times New Roman"/>
              </a:rPr>
              <a:t>reset</a:t>
            </a:r>
            <a:r>
              <a:rPr sz="1200" spc="-4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logic</a:t>
            </a:r>
            <a:r>
              <a:rPr sz="1200" spc="-50" dirty="0">
                <a:latin typeface="Times New Roman"/>
                <a:cs typeface="Times New Roman"/>
              </a:rPr>
              <a:t> </a:t>
            </a:r>
            <a:r>
              <a:rPr sz="1200" dirty="0">
                <a:latin typeface="Times New Roman"/>
                <a:cs typeface="Times New Roman"/>
              </a:rPr>
              <a:t>‘0’</a:t>
            </a:r>
            <a:r>
              <a:rPr sz="1200" spc="-50" dirty="0">
                <a:latin typeface="Times New Roman"/>
                <a:cs typeface="Times New Roman"/>
              </a:rPr>
              <a:t> </a:t>
            </a:r>
            <a:r>
              <a:rPr sz="1200" dirty="0">
                <a:latin typeface="Times New Roman"/>
                <a:cs typeface="Times New Roman"/>
              </a:rPr>
              <a:t>using</a:t>
            </a:r>
            <a:r>
              <a:rPr sz="1200" spc="-5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clear</a:t>
            </a:r>
            <a:r>
              <a:rPr sz="1200" spc="-50" dirty="0">
                <a:latin typeface="Times New Roman"/>
                <a:cs typeface="Times New Roman"/>
              </a:rPr>
              <a:t> </a:t>
            </a:r>
            <a:r>
              <a:rPr sz="1200" dirty="0">
                <a:latin typeface="Times New Roman"/>
                <a:cs typeface="Times New Roman"/>
              </a:rPr>
              <a:t>inputs.</a:t>
            </a:r>
            <a:r>
              <a:rPr sz="1200" spc="-40" dirty="0">
                <a:latin typeface="Times New Roman"/>
                <a:cs typeface="Times New Roman"/>
              </a:rPr>
              <a:t> </a:t>
            </a:r>
            <a:r>
              <a:rPr sz="1200" spc="-20" dirty="0">
                <a:latin typeface="Times New Roman"/>
                <a:cs typeface="Times New Roman"/>
              </a:rPr>
              <a:t>This </a:t>
            </a:r>
            <a:r>
              <a:rPr sz="1200" spc="-10" dirty="0">
                <a:latin typeface="Times New Roman"/>
                <a:cs typeface="Times New Roman"/>
              </a:rPr>
              <a:t>establishes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correct</a:t>
            </a:r>
            <a:r>
              <a:rPr sz="1200" spc="-25" dirty="0">
                <a:latin typeface="Times New Roman"/>
                <a:cs typeface="Times New Roman"/>
              </a:rPr>
              <a:t> </a:t>
            </a:r>
            <a:r>
              <a:rPr sz="1200" dirty="0">
                <a:latin typeface="Times New Roman"/>
                <a:cs typeface="Times New Roman"/>
              </a:rPr>
              <a:t>starting</a:t>
            </a:r>
            <a:r>
              <a:rPr sz="1200" spc="-20" dirty="0">
                <a:latin typeface="Times New Roman"/>
                <a:cs typeface="Times New Roman"/>
              </a:rPr>
              <a:t> </a:t>
            </a:r>
            <a:r>
              <a:rPr sz="1200" dirty="0">
                <a:latin typeface="Times New Roman"/>
                <a:cs typeface="Times New Roman"/>
              </a:rPr>
              <a:t>condition</a:t>
            </a:r>
            <a:r>
              <a:rPr sz="1200" spc="-2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circulating</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single</a:t>
            </a:r>
            <a:r>
              <a:rPr sz="1200" spc="-30" dirty="0">
                <a:latin typeface="Times New Roman"/>
                <a:cs typeface="Times New Roman"/>
              </a:rPr>
              <a:t> </a:t>
            </a:r>
            <a:r>
              <a:rPr sz="1200" dirty="0">
                <a:latin typeface="Times New Roman"/>
                <a:cs typeface="Times New Roman"/>
              </a:rPr>
              <a:t>logic</a:t>
            </a:r>
            <a:r>
              <a:rPr sz="1200" spc="-25" dirty="0">
                <a:latin typeface="Times New Roman"/>
                <a:cs typeface="Times New Roman"/>
              </a:rPr>
              <a:t> </a:t>
            </a:r>
            <a:r>
              <a:rPr sz="1200" dirty="0">
                <a:latin typeface="Times New Roman"/>
                <a:cs typeface="Times New Roman"/>
              </a:rPr>
              <a:t>bit</a:t>
            </a:r>
            <a:r>
              <a:rPr sz="1200" spc="-20" dirty="0">
                <a:latin typeface="Times New Roman"/>
                <a:cs typeface="Times New Roman"/>
              </a:rPr>
              <a:t> </a:t>
            </a:r>
            <a:r>
              <a:rPr sz="1200" dirty="0">
                <a:latin typeface="Times New Roman"/>
                <a:cs typeface="Times New Roman"/>
              </a:rPr>
              <a:t>within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loop.</a:t>
            </a:r>
            <a:endParaRPr sz="1200">
              <a:latin typeface="Times New Roman"/>
              <a:cs typeface="Times New Roman"/>
            </a:endParaRPr>
          </a:p>
          <a:p>
            <a:pPr marL="12700" marR="5080" algn="just">
              <a:lnSpc>
                <a:spcPct val="95900"/>
              </a:lnSpc>
              <a:spcBef>
                <a:spcPts val="1365"/>
              </a:spcBef>
            </a:pP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Q</a:t>
            </a:r>
            <a:r>
              <a:rPr sz="1200" spc="-10" dirty="0">
                <a:latin typeface="Times New Roman"/>
                <a:cs typeface="Times New Roman"/>
              </a:rPr>
              <a:t> </a:t>
            </a:r>
            <a:r>
              <a:rPr sz="1200" dirty="0">
                <a:latin typeface="Times New Roman"/>
                <a:cs typeface="Times New Roman"/>
              </a:rPr>
              <a:t>output</a:t>
            </a:r>
            <a:r>
              <a:rPr sz="1200" spc="-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each</a:t>
            </a:r>
            <a:r>
              <a:rPr sz="1200" spc="5" dirty="0">
                <a:latin typeface="Times New Roman"/>
                <a:cs typeface="Times New Roman"/>
              </a:rPr>
              <a:t> </a:t>
            </a:r>
            <a:r>
              <a:rPr sz="1200" spc="-10" dirty="0">
                <a:latin typeface="Times New Roman"/>
                <a:cs typeface="Times New Roman"/>
              </a:rPr>
              <a:t>flip-</a:t>
            </a:r>
            <a:r>
              <a:rPr sz="1200" dirty="0">
                <a:latin typeface="Times New Roman"/>
                <a:cs typeface="Times New Roman"/>
              </a:rPr>
              <a:t>flop</a:t>
            </a:r>
            <a:r>
              <a:rPr sz="1200" spc="-10"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connected</a:t>
            </a:r>
            <a:r>
              <a:rPr sz="1200" spc="-1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D</a:t>
            </a:r>
            <a:r>
              <a:rPr sz="1200" spc="-10" dirty="0">
                <a:latin typeface="Times New Roman"/>
                <a:cs typeface="Times New Roman"/>
              </a:rPr>
              <a:t> </a:t>
            </a:r>
            <a:r>
              <a:rPr sz="1200" dirty="0">
                <a:latin typeface="Times New Roman"/>
                <a:cs typeface="Times New Roman"/>
              </a:rPr>
              <a:t>input</a:t>
            </a:r>
            <a:r>
              <a:rPr sz="1200" spc="-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next</a:t>
            </a:r>
            <a:r>
              <a:rPr sz="1200" spc="-5" dirty="0">
                <a:latin typeface="Times New Roman"/>
                <a:cs typeface="Times New Roman"/>
              </a:rPr>
              <a:t> </a:t>
            </a:r>
            <a:r>
              <a:rPr sz="1200" dirty="0">
                <a:latin typeface="Times New Roman"/>
                <a:cs typeface="Times New Roman"/>
              </a:rPr>
              <a:t>flip-flop,</a:t>
            </a:r>
            <a:r>
              <a:rPr sz="1200" spc="-1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the</a:t>
            </a:r>
            <a:r>
              <a:rPr sz="1200" spc="-10" dirty="0">
                <a:latin typeface="Times New Roman"/>
                <a:cs typeface="Times New Roman"/>
              </a:rPr>
              <a:t> output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last</a:t>
            </a:r>
            <a:r>
              <a:rPr sz="1200" spc="5" dirty="0">
                <a:latin typeface="Times New Roman"/>
                <a:cs typeface="Times New Roman"/>
              </a:rPr>
              <a:t> </a:t>
            </a:r>
            <a:r>
              <a:rPr sz="1200" spc="-10" dirty="0">
                <a:latin typeface="Times New Roman"/>
                <a:cs typeface="Times New Roman"/>
              </a:rPr>
              <a:t>flip-</a:t>
            </a:r>
            <a:r>
              <a:rPr sz="1200" dirty="0">
                <a:latin typeface="Times New Roman"/>
                <a:cs typeface="Times New Roman"/>
              </a:rPr>
              <a:t>flop is</a:t>
            </a:r>
            <a:r>
              <a:rPr sz="1200" spc="10" dirty="0">
                <a:latin typeface="Times New Roman"/>
                <a:cs typeface="Times New Roman"/>
              </a:rPr>
              <a:t> </a:t>
            </a:r>
            <a:r>
              <a:rPr sz="1200" dirty="0">
                <a:latin typeface="Times New Roman"/>
                <a:cs typeface="Times New Roman"/>
              </a:rPr>
              <a:t>fed</a:t>
            </a:r>
            <a:r>
              <a:rPr sz="1200" spc="10" dirty="0">
                <a:latin typeface="Times New Roman"/>
                <a:cs typeface="Times New Roman"/>
              </a:rPr>
              <a:t> </a:t>
            </a:r>
            <a:r>
              <a:rPr sz="1200" dirty="0">
                <a:latin typeface="Times New Roman"/>
                <a:cs typeface="Times New Roman"/>
              </a:rPr>
              <a:t>back</a:t>
            </a:r>
            <a:r>
              <a:rPr sz="1200" spc="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first,</a:t>
            </a:r>
            <a:r>
              <a:rPr sz="1200" spc="10" dirty="0">
                <a:latin typeface="Times New Roman"/>
                <a:cs typeface="Times New Roman"/>
              </a:rPr>
              <a:t> </a:t>
            </a:r>
            <a:r>
              <a:rPr sz="1200" dirty="0">
                <a:latin typeface="Times New Roman"/>
                <a:cs typeface="Times New Roman"/>
              </a:rPr>
              <a:t>forming a closed</a:t>
            </a:r>
            <a:r>
              <a:rPr sz="1200" spc="15" dirty="0">
                <a:latin typeface="Times New Roman"/>
                <a:cs typeface="Times New Roman"/>
              </a:rPr>
              <a:t> </a:t>
            </a:r>
            <a:r>
              <a:rPr sz="1200" dirty="0">
                <a:latin typeface="Times New Roman"/>
                <a:cs typeface="Times New Roman"/>
              </a:rPr>
              <a:t>ring structure.</a:t>
            </a:r>
            <a:r>
              <a:rPr sz="1200" spc="15" dirty="0">
                <a:latin typeface="Times New Roman"/>
                <a:cs typeface="Times New Roman"/>
              </a:rPr>
              <a:t> </a:t>
            </a:r>
            <a:r>
              <a:rPr sz="1200" dirty="0">
                <a:latin typeface="Times New Roman"/>
                <a:cs typeface="Times New Roman"/>
              </a:rPr>
              <a:t>Since</a:t>
            </a:r>
            <a:r>
              <a:rPr sz="1200" spc="-5" dirty="0">
                <a:latin typeface="Times New Roman"/>
                <a:cs typeface="Times New Roman"/>
              </a:rPr>
              <a:t> </a:t>
            </a:r>
            <a:r>
              <a:rPr sz="1200" dirty="0">
                <a:latin typeface="Times New Roman"/>
                <a:cs typeface="Times New Roman"/>
              </a:rPr>
              <a:t>all</a:t>
            </a:r>
            <a:r>
              <a:rPr sz="1200" spc="10" dirty="0">
                <a:latin typeface="Times New Roman"/>
                <a:cs typeface="Times New Roman"/>
              </a:rPr>
              <a:t> </a:t>
            </a:r>
            <a:r>
              <a:rPr sz="1200" dirty="0">
                <a:latin typeface="Times New Roman"/>
                <a:cs typeface="Times New Roman"/>
              </a:rPr>
              <a:t>flip-</a:t>
            </a:r>
            <a:r>
              <a:rPr sz="1200" spc="-10" dirty="0">
                <a:latin typeface="Times New Roman"/>
                <a:cs typeface="Times New Roman"/>
              </a:rPr>
              <a:t>flops </a:t>
            </a:r>
            <a:r>
              <a:rPr sz="1200" dirty="0">
                <a:latin typeface="Times New Roman"/>
                <a:cs typeface="Times New Roman"/>
              </a:rPr>
              <a:t>share</a:t>
            </a:r>
            <a:r>
              <a:rPr sz="1200" spc="60" dirty="0">
                <a:latin typeface="Times New Roman"/>
                <a:cs typeface="Times New Roman"/>
              </a:rPr>
              <a:t> </a:t>
            </a:r>
            <a:r>
              <a:rPr sz="1200" dirty="0">
                <a:latin typeface="Times New Roman"/>
                <a:cs typeface="Times New Roman"/>
              </a:rPr>
              <a:t>a</a:t>
            </a:r>
            <a:r>
              <a:rPr sz="1200" spc="80" dirty="0">
                <a:latin typeface="Times New Roman"/>
                <a:cs typeface="Times New Roman"/>
              </a:rPr>
              <a:t> </a:t>
            </a:r>
            <a:r>
              <a:rPr sz="1200" dirty="0">
                <a:latin typeface="Times New Roman"/>
                <a:cs typeface="Times New Roman"/>
              </a:rPr>
              <a:t>common</a:t>
            </a:r>
            <a:r>
              <a:rPr sz="1200" spc="75" dirty="0">
                <a:latin typeface="Times New Roman"/>
                <a:cs typeface="Times New Roman"/>
              </a:rPr>
              <a:t> </a:t>
            </a:r>
            <a:r>
              <a:rPr sz="1200" dirty="0">
                <a:latin typeface="Times New Roman"/>
                <a:cs typeface="Times New Roman"/>
              </a:rPr>
              <a:t>clock</a:t>
            </a:r>
            <a:r>
              <a:rPr sz="1200" spc="65" dirty="0">
                <a:latin typeface="Times New Roman"/>
                <a:cs typeface="Times New Roman"/>
              </a:rPr>
              <a:t> </a:t>
            </a:r>
            <a:r>
              <a:rPr sz="1200" dirty="0">
                <a:latin typeface="Times New Roman"/>
                <a:cs typeface="Times New Roman"/>
              </a:rPr>
              <a:t>signal,</a:t>
            </a:r>
            <a:r>
              <a:rPr sz="1200" spc="75"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circuit</a:t>
            </a:r>
            <a:r>
              <a:rPr sz="1200" spc="75" dirty="0">
                <a:latin typeface="Times New Roman"/>
                <a:cs typeface="Times New Roman"/>
              </a:rPr>
              <a:t> </a:t>
            </a:r>
            <a:r>
              <a:rPr sz="1200" dirty="0">
                <a:latin typeface="Times New Roman"/>
                <a:cs typeface="Times New Roman"/>
              </a:rPr>
              <a:t>operates</a:t>
            </a:r>
            <a:r>
              <a:rPr sz="1200" spc="75" dirty="0">
                <a:latin typeface="Times New Roman"/>
                <a:cs typeface="Times New Roman"/>
              </a:rPr>
              <a:t> </a:t>
            </a:r>
            <a:r>
              <a:rPr sz="1200" dirty="0">
                <a:latin typeface="Times New Roman"/>
                <a:cs typeface="Times New Roman"/>
              </a:rPr>
              <a:t>synchronously,</a:t>
            </a:r>
            <a:r>
              <a:rPr sz="1200" spc="75" dirty="0">
                <a:latin typeface="Times New Roman"/>
                <a:cs typeface="Times New Roman"/>
              </a:rPr>
              <a:t> </a:t>
            </a:r>
            <a:r>
              <a:rPr sz="1200" dirty="0">
                <a:latin typeface="Times New Roman"/>
                <a:cs typeface="Times New Roman"/>
              </a:rPr>
              <a:t>meaning</a:t>
            </a:r>
            <a:r>
              <a:rPr sz="1200" spc="70" dirty="0">
                <a:latin typeface="Times New Roman"/>
                <a:cs typeface="Times New Roman"/>
              </a:rPr>
              <a:t> </a:t>
            </a:r>
            <a:r>
              <a:rPr sz="1200" dirty="0">
                <a:latin typeface="Times New Roman"/>
                <a:cs typeface="Times New Roman"/>
              </a:rPr>
              <a:t>all</a:t>
            </a:r>
            <a:r>
              <a:rPr sz="1200" spc="80" dirty="0">
                <a:latin typeface="Times New Roman"/>
                <a:cs typeface="Times New Roman"/>
              </a:rPr>
              <a:t> </a:t>
            </a:r>
            <a:r>
              <a:rPr sz="1200" dirty="0">
                <a:latin typeface="Times New Roman"/>
                <a:cs typeface="Times New Roman"/>
              </a:rPr>
              <a:t>state</a:t>
            </a:r>
            <a:r>
              <a:rPr sz="1200" spc="70" dirty="0">
                <a:latin typeface="Times New Roman"/>
                <a:cs typeface="Times New Roman"/>
              </a:rPr>
              <a:t> </a:t>
            </a:r>
            <a:r>
              <a:rPr sz="1200" spc="-10" dirty="0">
                <a:latin typeface="Times New Roman"/>
                <a:cs typeface="Times New Roman"/>
              </a:rPr>
              <a:t>changes </a:t>
            </a:r>
            <a:r>
              <a:rPr sz="1200" dirty="0">
                <a:latin typeface="Times New Roman"/>
                <a:cs typeface="Times New Roman"/>
              </a:rPr>
              <a:t>occur</a:t>
            </a:r>
            <a:r>
              <a:rPr sz="1200" spc="-35" dirty="0">
                <a:latin typeface="Times New Roman"/>
                <a:cs typeface="Times New Roman"/>
              </a:rPr>
              <a:t> </a:t>
            </a:r>
            <a:r>
              <a:rPr sz="1200" dirty="0">
                <a:latin typeface="Times New Roman"/>
                <a:cs typeface="Times New Roman"/>
              </a:rPr>
              <a:t>simultaneously</a:t>
            </a:r>
            <a:r>
              <a:rPr sz="1200" spc="-35" dirty="0">
                <a:latin typeface="Times New Roman"/>
                <a:cs typeface="Times New Roman"/>
              </a:rPr>
              <a:t> </a:t>
            </a:r>
            <a:r>
              <a:rPr sz="1200" dirty="0">
                <a:latin typeface="Times New Roman"/>
                <a:cs typeface="Times New Roman"/>
              </a:rPr>
              <a:t>at</a:t>
            </a:r>
            <a:r>
              <a:rPr sz="1200" spc="-30" dirty="0">
                <a:latin typeface="Times New Roman"/>
                <a:cs typeface="Times New Roman"/>
              </a:rPr>
              <a:t> </a:t>
            </a:r>
            <a:r>
              <a:rPr sz="1200" dirty="0">
                <a:latin typeface="Times New Roman"/>
                <a:cs typeface="Times New Roman"/>
              </a:rPr>
              <a:t>each</a:t>
            </a:r>
            <a:r>
              <a:rPr sz="1200" spc="-35" dirty="0">
                <a:latin typeface="Times New Roman"/>
                <a:cs typeface="Times New Roman"/>
              </a:rPr>
              <a:t> </a:t>
            </a:r>
            <a:r>
              <a:rPr sz="1200" dirty="0">
                <a:latin typeface="Times New Roman"/>
                <a:cs typeface="Times New Roman"/>
              </a:rPr>
              <a:t>clock</a:t>
            </a:r>
            <a:r>
              <a:rPr sz="1200" spc="-30" dirty="0">
                <a:latin typeface="Times New Roman"/>
                <a:cs typeface="Times New Roman"/>
              </a:rPr>
              <a:t> </a:t>
            </a:r>
            <a:r>
              <a:rPr sz="1200" spc="-10" dirty="0">
                <a:latin typeface="Times New Roman"/>
                <a:cs typeface="Times New Roman"/>
              </a:rPr>
              <a:t>pulse.</a:t>
            </a:r>
            <a:endParaRPr sz="1200">
              <a:latin typeface="Times New Roman"/>
              <a:cs typeface="Times New Roman"/>
            </a:endParaRPr>
          </a:p>
          <a:p>
            <a:pPr>
              <a:lnSpc>
                <a:spcPct val="100000"/>
              </a:lnSpc>
              <a:spcBef>
                <a:spcPts val="45"/>
              </a:spcBef>
            </a:pPr>
            <a:endParaRPr sz="1200">
              <a:latin typeface="Times New Roman"/>
              <a:cs typeface="Times New Roman"/>
            </a:endParaRPr>
          </a:p>
          <a:p>
            <a:pPr marL="12700" marR="5080" algn="just">
              <a:lnSpc>
                <a:spcPts val="1380"/>
              </a:lnSpc>
              <a:spcBef>
                <a:spcPts val="5"/>
              </a:spcBef>
            </a:pPr>
            <a:r>
              <a:rPr sz="1200" dirty="0">
                <a:latin typeface="Times New Roman"/>
                <a:cs typeface="Times New Roman"/>
              </a:rPr>
              <a:t>With</a:t>
            </a:r>
            <a:r>
              <a:rPr sz="1200" spc="80" dirty="0">
                <a:latin typeface="Times New Roman"/>
                <a:cs typeface="Times New Roman"/>
              </a:rPr>
              <a:t> </a:t>
            </a:r>
            <a:r>
              <a:rPr sz="1200" dirty="0">
                <a:latin typeface="Times New Roman"/>
                <a:cs typeface="Times New Roman"/>
              </a:rPr>
              <a:t>every</a:t>
            </a:r>
            <a:r>
              <a:rPr sz="1200" spc="80" dirty="0">
                <a:latin typeface="Times New Roman"/>
                <a:cs typeface="Times New Roman"/>
              </a:rPr>
              <a:t> </a:t>
            </a:r>
            <a:r>
              <a:rPr sz="1200" dirty="0">
                <a:latin typeface="Times New Roman"/>
                <a:cs typeface="Times New Roman"/>
              </a:rPr>
              <a:t>clock</a:t>
            </a:r>
            <a:r>
              <a:rPr sz="1200" spc="75" dirty="0">
                <a:latin typeface="Times New Roman"/>
                <a:cs typeface="Times New Roman"/>
              </a:rPr>
              <a:t> </a:t>
            </a:r>
            <a:r>
              <a:rPr sz="1200" dirty="0">
                <a:latin typeface="Times New Roman"/>
                <a:cs typeface="Times New Roman"/>
              </a:rPr>
              <a:t>pulse,</a:t>
            </a:r>
            <a:r>
              <a:rPr sz="1200" spc="95" dirty="0">
                <a:latin typeface="Times New Roman"/>
                <a:cs typeface="Times New Roman"/>
              </a:rPr>
              <a:t>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logic</a:t>
            </a:r>
            <a:r>
              <a:rPr sz="1200" spc="75" dirty="0">
                <a:latin typeface="Times New Roman"/>
                <a:cs typeface="Times New Roman"/>
              </a:rPr>
              <a:t> </a:t>
            </a:r>
            <a:r>
              <a:rPr sz="1200" dirty="0">
                <a:latin typeface="Times New Roman"/>
                <a:cs typeface="Times New Roman"/>
              </a:rPr>
              <a:t>‘1’</a:t>
            </a:r>
            <a:r>
              <a:rPr sz="1200" spc="75" dirty="0">
                <a:latin typeface="Times New Roman"/>
                <a:cs typeface="Times New Roman"/>
              </a:rPr>
              <a:t> </a:t>
            </a:r>
            <a:r>
              <a:rPr sz="1200" dirty="0">
                <a:latin typeface="Times New Roman"/>
                <a:cs typeface="Times New Roman"/>
              </a:rPr>
              <a:t>shifts</a:t>
            </a:r>
            <a:r>
              <a:rPr sz="1200" spc="85" dirty="0">
                <a:latin typeface="Times New Roman"/>
                <a:cs typeface="Times New Roman"/>
              </a:rPr>
              <a:t> </a:t>
            </a:r>
            <a:r>
              <a:rPr sz="1200" dirty="0">
                <a:latin typeface="Times New Roman"/>
                <a:cs typeface="Times New Roman"/>
              </a:rPr>
              <a:t>from</a:t>
            </a:r>
            <a:r>
              <a:rPr sz="1200" spc="80" dirty="0">
                <a:latin typeface="Times New Roman"/>
                <a:cs typeface="Times New Roman"/>
              </a:rPr>
              <a:t> </a:t>
            </a:r>
            <a:r>
              <a:rPr sz="1200" dirty="0">
                <a:latin typeface="Times New Roman"/>
                <a:cs typeface="Times New Roman"/>
              </a:rPr>
              <a:t>one</a:t>
            </a:r>
            <a:r>
              <a:rPr sz="1200" spc="80" dirty="0">
                <a:latin typeface="Times New Roman"/>
                <a:cs typeface="Times New Roman"/>
              </a:rPr>
              <a:t> </a:t>
            </a:r>
            <a:r>
              <a:rPr sz="1200" spc="-10" dirty="0">
                <a:latin typeface="Times New Roman"/>
                <a:cs typeface="Times New Roman"/>
              </a:rPr>
              <a:t>flip-</a:t>
            </a:r>
            <a:r>
              <a:rPr sz="1200" dirty="0">
                <a:latin typeface="Times New Roman"/>
                <a:cs typeface="Times New Roman"/>
              </a:rPr>
              <a:t>flop</a:t>
            </a:r>
            <a:r>
              <a:rPr sz="1200" spc="85" dirty="0">
                <a:latin typeface="Times New Roman"/>
                <a:cs typeface="Times New Roman"/>
              </a:rPr>
              <a:t> </a:t>
            </a:r>
            <a:r>
              <a:rPr sz="1200" dirty="0">
                <a:latin typeface="Times New Roman"/>
                <a:cs typeface="Times New Roman"/>
              </a:rPr>
              <a:t>to</a:t>
            </a:r>
            <a:r>
              <a:rPr sz="1200" spc="80" dirty="0">
                <a:latin typeface="Times New Roman"/>
                <a:cs typeface="Times New Roman"/>
              </a:rPr>
              <a:t>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next</a:t>
            </a:r>
            <a:r>
              <a:rPr sz="1200" spc="75" dirty="0">
                <a:latin typeface="Times New Roman"/>
                <a:cs typeface="Times New Roman"/>
              </a:rPr>
              <a:t> </a:t>
            </a:r>
            <a:r>
              <a:rPr sz="1200" dirty="0">
                <a:latin typeface="Times New Roman"/>
                <a:cs typeface="Times New Roman"/>
              </a:rPr>
              <a:t>in</a:t>
            </a:r>
            <a:r>
              <a:rPr sz="1200" spc="80" dirty="0">
                <a:latin typeface="Times New Roman"/>
                <a:cs typeface="Times New Roman"/>
              </a:rPr>
              <a:t> </a:t>
            </a:r>
            <a:r>
              <a:rPr sz="1200" dirty="0">
                <a:latin typeface="Times New Roman"/>
                <a:cs typeface="Times New Roman"/>
              </a:rPr>
              <a:t>sequence</a:t>
            </a:r>
            <a:r>
              <a:rPr sz="1200" spc="80" dirty="0">
                <a:latin typeface="Times New Roman"/>
                <a:cs typeface="Times New Roman"/>
              </a:rPr>
              <a:t> </a:t>
            </a:r>
            <a:r>
              <a:rPr sz="1200" spc="-10" dirty="0">
                <a:latin typeface="Times New Roman"/>
                <a:cs typeface="Times New Roman"/>
              </a:rPr>
              <a:t>(e.g., </a:t>
            </a:r>
            <a:r>
              <a:rPr sz="1200" dirty="0">
                <a:latin typeface="Times New Roman"/>
                <a:cs typeface="Times New Roman"/>
              </a:rPr>
              <a:t>1000</a:t>
            </a:r>
            <a:r>
              <a:rPr sz="1200" spc="85" dirty="0">
                <a:latin typeface="Times New Roman"/>
                <a:cs typeface="Times New Roman"/>
              </a:rPr>
              <a:t> </a:t>
            </a:r>
            <a:r>
              <a:rPr sz="1200" dirty="0">
                <a:latin typeface="Times New Roman"/>
                <a:cs typeface="Times New Roman"/>
              </a:rPr>
              <a:t>→</a:t>
            </a:r>
            <a:r>
              <a:rPr sz="1200" spc="90" dirty="0">
                <a:latin typeface="Times New Roman"/>
                <a:cs typeface="Times New Roman"/>
              </a:rPr>
              <a:t> </a:t>
            </a:r>
            <a:r>
              <a:rPr sz="1200" dirty="0">
                <a:latin typeface="Times New Roman"/>
                <a:cs typeface="Times New Roman"/>
              </a:rPr>
              <a:t>0100</a:t>
            </a:r>
            <a:r>
              <a:rPr sz="1200" spc="85" dirty="0">
                <a:latin typeface="Times New Roman"/>
                <a:cs typeface="Times New Roman"/>
              </a:rPr>
              <a:t> </a:t>
            </a:r>
            <a:r>
              <a:rPr sz="1200" dirty="0">
                <a:latin typeface="Times New Roman"/>
                <a:cs typeface="Times New Roman"/>
              </a:rPr>
              <a:t>→</a:t>
            </a:r>
            <a:r>
              <a:rPr sz="1200" spc="75" dirty="0">
                <a:latin typeface="Times New Roman"/>
                <a:cs typeface="Times New Roman"/>
              </a:rPr>
              <a:t> </a:t>
            </a:r>
            <a:r>
              <a:rPr sz="1200" dirty="0">
                <a:latin typeface="Times New Roman"/>
                <a:cs typeface="Times New Roman"/>
              </a:rPr>
              <a:t>0010</a:t>
            </a:r>
            <a:r>
              <a:rPr sz="1200" spc="75" dirty="0">
                <a:latin typeface="Times New Roman"/>
                <a:cs typeface="Times New Roman"/>
              </a:rPr>
              <a:t> </a:t>
            </a:r>
            <a:r>
              <a:rPr sz="1200" dirty="0">
                <a:latin typeface="Times New Roman"/>
                <a:cs typeface="Times New Roman"/>
              </a:rPr>
              <a:t>→</a:t>
            </a:r>
            <a:r>
              <a:rPr sz="1200" spc="90" dirty="0">
                <a:latin typeface="Times New Roman"/>
                <a:cs typeface="Times New Roman"/>
              </a:rPr>
              <a:t> </a:t>
            </a:r>
            <a:r>
              <a:rPr sz="1200" dirty="0">
                <a:latin typeface="Times New Roman"/>
                <a:cs typeface="Times New Roman"/>
              </a:rPr>
              <a:t>0001</a:t>
            </a:r>
            <a:r>
              <a:rPr sz="1200" spc="85" dirty="0">
                <a:latin typeface="Times New Roman"/>
                <a:cs typeface="Times New Roman"/>
              </a:rPr>
              <a:t> </a:t>
            </a:r>
            <a:r>
              <a:rPr sz="1200" dirty="0">
                <a:latin typeface="Times New Roman"/>
                <a:cs typeface="Times New Roman"/>
              </a:rPr>
              <a:t>→</a:t>
            </a:r>
            <a:r>
              <a:rPr sz="1200" spc="90" dirty="0">
                <a:latin typeface="Times New Roman"/>
                <a:cs typeface="Times New Roman"/>
              </a:rPr>
              <a:t> </a:t>
            </a:r>
            <a:r>
              <a:rPr sz="1200" dirty="0">
                <a:latin typeface="Times New Roman"/>
                <a:cs typeface="Times New Roman"/>
              </a:rPr>
              <a:t>repeat).</a:t>
            </a:r>
            <a:r>
              <a:rPr sz="1200" spc="90" dirty="0">
                <a:latin typeface="Times New Roman"/>
                <a:cs typeface="Times New Roman"/>
              </a:rPr>
              <a:t> </a:t>
            </a:r>
            <a:r>
              <a:rPr sz="1200" dirty="0">
                <a:latin typeface="Times New Roman"/>
                <a:cs typeface="Times New Roman"/>
              </a:rPr>
              <a:t>LEDs</a:t>
            </a:r>
            <a:r>
              <a:rPr sz="1200" spc="85" dirty="0">
                <a:latin typeface="Times New Roman"/>
                <a:cs typeface="Times New Roman"/>
              </a:rPr>
              <a:t> </a:t>
            </a:r>
            <a:r>
              <a:rPr sz="1200" dirty="0">
                <a:latin typeface="Times New Roman"/>
                <a:cs typeface="Times New Roman"/>
              </a:rPr>
              <a:t>connected</a:t>
            </a:r>
            <a:r>
              <a:rPr sz="1200" spc="85" dirty="0">
                <a:latin typeface="Times New Roman"/>
                <a:cs typeface="Times New Roman"/>
              </a:rPr>
              <a:t> </a:t>
            </a:r>
            <a:r>
              <a:rPr sz="1200" dirty="0">
                <a:latin typeface="Times New Roman"/>
                <a:cs typeface="Times New Roman"/>
              </a:rPr>
              <a:t>to</a:t>
            </a:r>
            <a:r>
              <a:rPr sz="1200" spc="90" dirty="0">
                <a:latin typeface="Times New Roman"/>
                <a:cs typeface="Times New Roman"/>
              </a:rPr>
              <a:t>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outputs</a:t>
            </a:r>
            <a:r>
              <a:rPr sz="1200" spc="95" dirty="0">
                <a:latin typeface="Times New Roman"/>
                <a:cs typeface="Times New Roman"/>
              </a:rPr>
              <a:t> </a:t>
            </a:r>
            <a:r>
              <a:rPr sz="1200" dirty="0">
                <a:latin typeface="Times New Roman"/>
                <a:cs typeface="Times New Roman"/>
              </a:rPr>
              <a:t>provide</a:t>
            </a:r>
            <a:r>
              <a:rPr sz="1200" spc="85" dirty="0">
                <a:latin typeface="Times New Roman"/>
                <a:cs typeface="Times New Roman"/>
              </a:rPr>
              <a:t> </a:t>
            </a:r>
            <a:r>
              <a:rPr sz="1200" dirty="0">
                <a:latin typeface="Times New Roman"/>
                <a:cs typeface="Times New Roman"/>
              </a:rPr>
              <a:t>a</a:t>
            </a:r>
            <a:r>
              <a:rPr sz="1200" spc="80" dirty="0">
                <a:latin typeface="Times New Roman"/>
                <a:cs typeface="Times New Roman"/>
              </a:rPr>
              <a:t> </a:t>
            </a:r>
            <a:r>
              <a:rPr sz="1200" spc="-10" dirty="0">
                <a:latin typeface="Times New Roman"/>
                <a:cs typeface="Times New Roman"/>
              </a:rPr>
              <a:t>visual </a:t>
            </a:r>
            <a:r>
              <a:rPr sz="1200" dirty="0">
                <a:latin typeface="Times New Roman"/>
                <a:cs typeface="Times New Roman"/>
              </a:rPr>
              <a:t>indication</a:t>
            </a:r>
            <a:r>
              <a:rPr sz="1200" spc="140" dirty="0">
                <a:latin typeface="Times New Roman"/>
                <a:cs typeface="Times New Roman"/>
              </a:rPr>
              <a:t> </a:t>
            </a:r>
            <a:r>
              <a:rPr sz="1200" dirty="0">
                <a:latin typeface="Times New Roman"/>
                <a:cs typeface="Times New Roman"/>
              </a:rPr>
              <a:t>of</a:t>
            </a:r>
            <a:r>
              <a:rPr sz="1200" spc="135" dirty="0">
                <a:latin typeface="Times New Roman"/>
                <a:cs typeface="Times New Roman"/>
              </a:rPr>
              <a:t> </a:t>
            </a:r>
            <a:r>
              <a:rPr sz="1200" dirty="0">
                <a:latin typeface="Times New Roman"/>
                <a:cs typeface="Times New Roman"/>
              </a:rPr>
              <a:t>this</a:t>
            </a:r>
            <a:r>
              <a:rPr sz="1200" spc="140" dirty="0">
                <a:latin typeface="Times New Roman"/>
                <a:cs typeface="Times New Roman"/>
              </a:rPr>
              <a:t> </a:t>
            </a:r>
            <a:r>
              <a:rPr sz="1200" dirty="0">
                <a:latin typeface="Times New Roman"/>
                <a:cs typeface="Times New Roman"/>
              </a:rPr>
              <a:t>shifting</a:t>
            </a:r>
            <a:r>
              <a:rPr sz="1200" spc="140" dirty="0">
                <a:latin typeface="Times New Roman"/>
                <a:cs typeface="Times New Roman"/>
              </a:rPr>
              <a:t> </a:t>
            </a:r>
            <a:r>
              <a:rPr sz="1200" dirty="0">
                <a:latin typeface="Times New Roman"/>
                <a:cs typeface="Times New Roman"/>
              </a:rPr>
              <a:t>pattern.</a:t>
            </a:r>
            <a:r>
              <a:rPr sz="1200" spc="135" dirty="0">
                <a:latin typeface="Times New Roman"/>
                <a:cs typeface="Times New Roman"/>
              </a:rPr>
              <a:t> </a:t>
            </a:r>
            <a:r>
              <a:rPr sz="1200" dirty="0">
                <a:latin typeface="Times New Roman"/>
                <a:cs typeface="Times New Roman"/>
              </a:rPr>
              <a:t>Thus,</a:t>
            </a:r>
            <a:r>
              <a:rPr sz="1200" spc="140" dirty="0">
                <a:latin typeface="Times New Roman"/>
                <a:cs typeface="Times New Roman"/>
              </a:rPr>
              <a:t> </a:t>
            </a:r>
            <a:r>
              <a:rPr sz="1200" dirty="0">
                <a:latin typeface="Times New Roman"/>
                <a:cs typeface="Times New Roman"/>
              </a:rPr>
              <a:t>the</a:t>
            </a:r>
            <a:r>
              <a:rPr sz="1200" spc="140" dirty="0">
                <a:latin typeface="Times New Roman"/>
                <a:cs typeface="Times New Roman"/>
              </a:rPr>
              <a:t> </a:t>
            </a:r>
            <a:r>
              <a:rPr sz="1200" dirty="0">
                <a:latin typeface="Times New Roman"/>
                <a:cs typeface="Times New Roman"/>
              </a:rPr>
              <a:t>ring</a:t>
            </a:r>
            <a:r>
              <a:rPr sz="1200" spc="150" dirty="0">
                <a:latin typeface="Times New Roman"/>
                <a:cs typeface="Times New Roman"/>
              </a:rPr>
              <a:t> </a:t>
            </a:r>
            <a:r>
              <a:rPr sz="1200" dirty="0">
                <a:latin typeface="Times New Roman"/>
                <a:cs typeface="Times New Roman"/>
              </a:rPr>
              <a:t>counter</a:t>
            </a:r>
            <a:r>
              <a:rPr sz="1200" spc="135" dirty="0">
                <a:latin typeface="Times New Roman"/>
                <a:cs typeface="Times New Roman"/>
              </a:rPr>
              <a:t> </a:t>
            </a:r>
            <a:r>
              <a:rPr sz="1200" dirty="0">
                <a:latin typeface="Times New Roman"/>
                <a:cs typeface="Times New Roman"/>
              </a:rPr>
              <a:t>produces</a:t>
            </a:r>
            <a:r>
              <a:rPr sz="1200" spc="140" dirty="0">
                <a:latin typeface="Times New Roman"/>
                <a:cs typeface="Times New Roman"/>
              </a:rPr>
              <a:t> </a:t>
            </a:r>
            <a:r>
              <a:rPr sz="1200" dirty="0">
                <a:latin typeface="Times New Roman"/>
                <a:cs typeface="Times New Roman"/>
              </a:rPr>
              <a:t>a</a:t>
            </a:r>
            <a:r>
              <a:rPr sz="1200" spc="135" dirty="0">
                <a:latin typeface="Times New Roman"/>
                <a:cs typeface="Times New Roman"/>
              </a:rPr>
              <a:t> </a:t>
            </a:r>
            <a:r>
              <a:rPr sz="1200" dirty="0">
                <a:latin typeface="Times New Roman"/>
                <a:cs typeface="Times New Roman"/>
              </a:rPr>
              <a:t>continuous</a:t>
            </a:r>
            <a:r>
              <a:rPr sz="1200" spc="140" dirty="0">
                <a:latin typeface="Times New Roman"/>
                <a:cs typeface="Times New Roman"/>
              </a:rPr>
              <a:t> </a:t>
            </a:r>
            <a:r>
              <a:rPr sz="1200" spc="-10" dirty="0">
                <a:latin typeface="Times New Roman"/>
                <a:cs typeface="Times New Roman"/>
              </a:rPr>
              <a:t>sequential </a:t>
            </a:r>
            <a:r>
              <a:rPr sz="1200" dirty="0">
                <a:latin typeface="Times New Roman"/>
                <a:cs typeface="Times New Roman"/>
              </a:rPr>
              <a:t>output</a:t>
            </a:r>
            <a:r>
              <a:rPr sz="1200" spc="-25" dirty="0">
                <a:latin typeface="Times New Roman"/>
                <a:cs typeface="Times New Roman"/>
              </a:rPr>
              <a:t> </a:t>
            </a:r>
            <a:r>
              <a:rPr sz="1200" dirty="0">
                <a:latin typeface="Times New Roman"/>
                <a:cs typeface="Times New Roman"/>
              </a:rPr>
              <a:t>based</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synchronous</a:t>
            </a:r>
            <a:r>
              <a:rPr sz="1200" spc="-25" dirty="0">
                <a:latin typeface="Times New Roman"/>
                <a:cs typeface="Times New Roman"/>
              </a:rPr>
              <a:t> </a:t>
            </a:r>
            <a:r>
              <a:rPr sz="1200" dirty="0">
                <a:latin typeface="Times New Roman"/>
                <a:cs typeface="Times New Roman"/>
              </a:rPr>
              <a:t>shifting</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single</a:t>
            </a:r>
            <a:r>
              <a:rPr sz="1200" spc="-25" dirty="0">
                <a:latin typeface="Times New Roman"/>
                <a:cs typeface="Times New Roman"/>
              </a:rPr>
              <a:t> </a:t>
            </a:r>
            <a:r>
              <a:rPr sz="1200" dirty="0">
                <a:latin typeface="Times New Roman"/>
                <a:cs typeface="Times New Roman"/>
              </a:rPr>
              <a:t>logic</a:t>
            </a:r>
            <a:r>
              <a:rPr sz="1200" spc="-30" dirty="0">
                <a:latin typeface="Times New Roman"/>
                <a:cs typeface="Times New Roman"/>
              </a:rPr>
              <a:t> </a:t>
            </a:r>
            <a:r>
              <a:rPr sz="1200" spc="-20" dirty="0">
                <a:latin typeface="Times New Roman"/>
                <a:cs typeface="Times New Roman"/>
              </a:rPr>
              <a:t>bit.</a:t>
            </a:r>
            <a:endParaRPr sz="1200">
              <a:latin typeface="Times New Roman"/>
              <a:cs typeface="Times New Roman"/>
            </a:endParaRPr>
          </a:p>
        </p:txBody>
      </p:sp>
      <p:pic>
        <p:nvPicPr>
          <p:cNvPr id="6" name="object 6"/>
          <p:cNvPicPr/>
          <p:nvPr/>
        </p:nvPicPr>
        <p:blipFill>
          <a:blip r:embed="rId2" cstate="print"/>
          <a:stretch>
            <a:fillRect/>
          </a:stretch>
        </p:blipFill>
        <p:spPr>
          <a:xfrm>
            <a:off x="914400" y="1380489"/>
            <a:ext cx="1920239" cy="2138679"/>
          </a:xfrm>
          <a:prstGeom prst="rect">
            <a:avLst/>
          </a:prstGeom>
        </p:spPr>
      </p:pic>
      <p:pic>
        <p:nvPicPr>
          <p:cNvPr id="7" name="object 7"/>
          <p:cNvPicPr/>
          <p:nvPr/>
        </p:nvPicPr>
        <p:blipFill>
          <a:blip r:embed="rId3" cstate="print"/>
          <a:stretch>
            <a:fillRect/>
          </a:stretch>
        </p:blipFill>
        <p:spPr>
          <a:xfrm>
            <a:off x="2933064" y="1380489"/>
            <a:ext cx="1864994" cy="2148204"/>
          </a:xfrm>
          <a:prstGeom prst="rect">
            <a:avLst/>
          </a:prstGeom>
        </p:spPr>
      </p:pic>
      <p:pic>
        <p:nvPicPr>
          <p:cNvPr id="8" name="object 8"/>
          <p:cNvPicPr/>
          <p:nvPr/>
        </p:nvPicPr>
        <p:blipFill>
          <a:blip r:embed="rId4" cstate="print"/>
          <a:stretch>
            <a:fillRect/>
          </a:stretch>
        </p:blipFill>
        <p:spPr>
          <a:xfrm>
            <a:off x="4907279" y="1380489"/>
            <a:ext cx="1847214" cy="2139315"/>
          </a:xfrm>
          <a:prstGeom prst="rect">
            <a:avLst/>
          </a:prstGeom>
        </p:spPr>
      </p:pic>
      <p:sp>
        <p:nvSpPr>
          <p:cNvPr id="9" name="object 9"/>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1469" y="3732402"/>
            <a:ext cx="141795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Times New Roman"/>
                <a:cs typeface="Times New Roman"/>
              </a:rPr>
              <a:t>Fig</a:t>
            </a:r>
            <a:r>
              <a:rPr sz="1100" spc="-20" dirty="0">
                <a:latin typeface="Times New Roman"/>
                <a:cs typeface="Times New Roman"/>
              </a:rPr>
              <a:t> </a:t>
            </a:r>
            <a:r>
              <a:rPr sz="1100" dirty="0">
                <a:latin typeface="Times New Roman"/>
                <a:cs typeface="Times New Roman"/>
              </a:rPr>
              <a:t>16: Actual</a:t>
            </a:r>
            <a:r>
              <a:rPr sz="1100" spc="-15" dirty="0">
                <a:latin typeface="Times New Roman"/>
                <a:cs typeface="Times New Roman"/>
              </a:rPr>
              <a:t> </a:t>
            </a:r>
            <a:r>
              <a:rPr sz="1100" spc="-10" dirty="0">
                <a:latin typeface="Times New Roman"/>
                <a:cs typeface="Times New Roman"/>
              </a:rPr>
              <a:t>Hardware</a:t>
            </a:r>
            <a:endParaRPr sz="1100">
              <a:latin typeface="Times New Roman"/>
              <a:cs typeface="Times New Roman"/>
            </a:endParaRPr>
          </a:p>
        </p:txBody>
      </p:sp>
      <p:sp>
        <p:nvSpPr>
          <p:cNvPr id="3" name="object 3"/>
          <p:cNvSpPr txBox="1"/>
          <p:nvPr/>
        </p:nvSpPr>
        <p:spPr>
          <a:xfrm>
            <a:off x="4636389" y="3732402"/>
            <a:ext cx="97218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Times New Roman"/>
                <a:cs typeface="Times New Roman"/>
              </a:rPr>
              <a:t>Fig</a:t>
            </a:r>
            <a:r>
              <a:rPr sz="1100" spc="-10" dirty="0">
                <a:latin typeface="Times New Roman"/>
                <a:cs typeface="Times New Roman"/>
              </a:rPr>
              <a:t> </a:t>
            </a:r>
            <a:r>
              <a:rPr sz="1100" dirty="0">
                <a:latin typeface="Times New Roman"/>
                <a:cs typeface="Times New Roman"/>
              </a:rPr>
              <a:t>17:</a:t>
            </a:r>
            <a:r>
              <a:rPr sz="1100" spc="10" dirty="0">
                <a:latin typeface="Times New Roman"/>
                <a:cs typeface="Times New Roman"/>
              </a:rPr>
              <a:t> </a:t>
            </a:r>
            <a:r>
              <a:rPr sz="1100" spc="-10" dirty="0">
                <a:latin typeface="Times New Roman"/>
                <a:cs typeface="Times New Roman"/>
              </a:rPr>
              <a:t>Outcome</a:t>
            </a:r>
            <a:endParaRPr sz="1100">
              <a:latin typeface="Times New Roman"/>
              <a:cs typeface="Times New Roman"/>
            </a:endParaRPr>
          </a:p>
        </p:txBody>
      </p:sp>
      <p:sp>
        <p:nvSpPr>
          <p:cNvPr id="4" name="object 4"/>
          <p:cNvSpPr txBox="1"/>
          <p:nvPr/>
        </p:nvSpPr>
        <p:spPr>
          <a:xfrm>
            <a:off x="902004" y="4198746"/>
            <a:ext cx="5758180" cy="4154804"/>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7.</a:t>
            </a:r>
            <a:r>
              <a:rPr sz="1600" b="1" spc="185" dirty="0">
                <a:latin typeface="Times New Roman"/>
                <a:cs typeface="Times New Roman"/>
              </a:rPr>
              <a:t> </a:t>
            </a:r>
            <a:r>
              <a:rPr sz="1600" b="1" spc="-10" dirty="0">
                <a:latin typeface="Times New Roman"/>
                <a:cs typeface="Times New Roman"/>
              </a:rPr>
              <a:t>IMPLEMENTATION</a:t>
            </a:r>
            <a:endParaRPr sz="1600">
              <a:latin typeface="Times New Roman"/>
              <a:cs typeface="Times New Roman"/>
            </a:endParaRPr>
          </a:p>
          <a:p>
            <a:pPr marL="12700" marR="5080" algn="just">
              <a:lnSpc>
                <a:spcPct val="95900"/>
              </a:lnSpc>
              <a:spcBef>
                <a:spcPts val="1550"/>
              </a:spcBef>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project</a:t>
            </a:r>
            <a:r>
              <a:rPr sz="1200" spc="5" dirty="0">
                <a:latin typeface="Times New Roman"/>
                <a:cs typeface="Times New Roman"/>
              </a:rPr>
              <a:t> </a:t>
            </a:r>
            <a:r>
              <a:rPr sz="1200" dirty="0">
                <a:latin typeface="Times New Roman"/>
                <a:cs typeface="Times New Roman"/>
              </a:rPr>
              <a:t>was</a:t>
            </a:r>
            <a:r>
              <a:rPr sz="1200" spc="-10" dirty="0">
                <a:latin typeface="Times New Roman"/>
                <a:cs typeface="Times New Roman"/>
              </a:rPr>
              <a:t> </a:t>
            </a:r>
            <a:r>
              <a:rPr sz="1200" dirty="0">
                <a:latin typeface="Times New Roman"/>
                <a:cs typeface="Times New Roman"/>
              </a:rPr>
              <a:t>developed</a:t>
            </a:r>
            <a:r>
              <a:rPr sz="1200" spc="-10" dirty="0">
                <a:latin typeface="Times New Roman"/>
                <a:cs typeface="Times New Roman"/>
              </a:rPr>
              <a:t> </a:t>
            </a:r>
            <a:r>
              <a:rPr sz="1200" dirty="0">
                <a:latin typeface="Times New Roman"/>
                <a:cs typeface="Times New Roman"/>
              </a:rPr>
              <a:t>through</a:t>
            </a:r>
            <a:r>
              <a:rPr sz="1200" spc="-10"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systematic</a:t>
            </a:r>
            <a:r>
              <a:rPr sz="1200" spc="10" dirty="0">
                <a:latin typeface="Times New Roman"/>
                <a:cs typeface="Times New Roman"/>
              </a:rPr>
              <a:t> </a:t>
            </a:r>
            <a:r>
              <a:rPr sz="1200" dirty="0">
                <a:latin typeface="Times New Roman"/>
                <a:cs typeface="Times New Roman"/>
              </a:rPr>
              <a:t>process</a:t>
            </a:r>
            <a:r>
              <a:rPr sz="1200" spc="-5" dirty="0">
                <a:latin typeface="Times New Roman"/>
                <a:cs typeface="Times New Roman"/>
              </a:rPr>
              <a:t> </a:t>
            </a:r>
            <a:r>
              <a:rPr sz="1200" dirty="0">
                <a:latin typeface="Times New Roman"/>
                <a:cs typeface="Times New Roman"/>
              </a:rPr>
              <a:t>including</a:t>
            </a:r>
            <a:r>
              <a:rPr sz="1200" spc="-5" dirty="0">
                <a:latin typeface="Times New Roman"/>
                <a:cs typeface="Times New Roman"/>
              </a:rPr>
              <a:t> </a:t>
            </a:r>
            <a:r>
              <a:rPr sz="1200" dirty="0">
                <a:latin typeface="Times New Roman"/>
                <a:cs typeface="Times New Roman"/>
              </a:rPr>
              <a:t>circuit</a:t>
            </a:r>
            <a:r>
              <a:rPr sz="1200" spc="5" dirty="0">
                <a:latin typeface="Times New Roman"/>
                <a:cs typeface="Times New Roman"/>
              </a:rPr>
              <a:t> </a:t>
            </a:r>
            <a:r>
              <a:rPr sz="1200" dirty="0">
                <a:latin typeface="Times New Roman"/>
                <a:cs typeface="Times New Roman"/>
              </a:rPr>
              <a:t>design,</a:t>
            </a:r>
            <a:r>
              <a:rPr sz="1200" spc="-5" dirty="0">
                <a:latin typeface="Times New Roman"/>
                <a:cs typeface="Times New Roman"/>
              </a:rPr>
              <a:t> </a:t>
            </a:r>
            <a:r>
              <a:rPr sz="1200" dirty="0">
                <a:latin typeface="Times New Roman"/>
                <a:cs typeface="Times New Roman"/>
              </a:rPr>
              <a:t>PCB</a:t>
            </a:r>
            <a:r>
              <a:rPr sz="1200" spc="-5" dirty="0">
                <a:latin typeface="Times New Roman"/>
                <a:cs typeface="Times New Roman"/>
              </a:rPr>
              <a:t> </a:t>
            </a:r>
            <a:r>
              <a:rPr sz="1200" spc="-10" dirty="0">
                <a:latin typeface="Times New Roman"/>
                <a:cs typeface="Times New Roman"/>
              </a:rPr>
              <a:t>layout </a:t>
            </a:r>
            <a:r>
              <a:rPr sz="1200" dirty="0">
                <a:latin typeface="Times New Roman"/>
                <a:cs typeface="Times New Roman"/>
              </a:rPr>
              <a:t>preparation,</a:t>
            </a:r>
            <a:r>
              <a:rPr sz="1200" spc="210" dirty="0">
                <a:latin typeface="Times New Roman"/>
                <a:cs typeface="Times New Roman"/>
              </a:rPr>
              <a:t> </a:t>
            </a:r>
            <a:r>
              <a:rPr sz="1200" dirty="0">
                <a:latin typeface="Times New Roman"/>
                <a:cs typeface="Times New Roman"/>
              </a:rPr>
              <a:t>hardware</a:t>
            </a:r>
            <a:r>
              <a:rPr sz="1200" spc="204" dirty="0">
                <a:latin typeface="Times New Roman"/>
                <a:cs typeface="Times New Roman"/>
              </a:rPr>
              <a:t> </a:t>
            </a:r>
            <a:r>
              <a:rPr sz="1200" dirty="0">
                <a:latin typeface="Times New Roman"/>
                <a:cs typeface="Times New Roman"/>
              </a:rPr>
              <a:t>assembly,</a:t>
            </a:r>
            <a:r>
              <a:rPr sz="1200" spc="215" dirty="0">
                <a:latin typeface="Times New Roman"/>
                <a:cs typeface="Times New Roman"/>
              </a:rPr>
              <a:t> </a:t>
            </a:r>
            <a:r>
              <a:rPr sz="1200" dirty="0">
                <a:latin typeface="Times New Roman"/>
                <a:cs typeface="Times New Roman"/>
              </a:rPr>
              <a:t>and</a:t>
            </a:r>
            <a:r>
              <a:rPr sz="1200" spc="210" dirty="0">
                <a:latin typeface="Times New Roman"/>
                <a:cs typeface="Times New Roman"/>
              </a:rPr>
              <a:t> </a:t>
            </a:r>
            <a:r>
              <a:rPr sz="1200" dirty="0">
                <a:latin typeface="Times New Roman"/>
                <a:cs typeface="Times New Roman"/>
              </a:rPr>
              <a:t>testing.</a:t>
            </a:r>
            <a:r>
              <a:rPr sz="1200" spc="215" dirty="0">
                <a:latin typeface="Times New Roman"/>
                <a:cs typeface="Times New Roman"/>
              </a:rPr>
              <a:t> </a:t>
            </a:r>
            <a:r>
              <a:rPr sz="1200" dirty="0">
                <a:latin typeface="Times New Roman"/>
                <a:cs typeface="Times New Roman"/>
              </a:rPr>
              <a:t>Initially,</a:t>
            </a:r>
            <a:r>
              <a:rPr sz="1200" spc="210" dirty="0">
                <a:latin typeface="Times New Roman"/>
                <a:cs typeface="Times New Roman"/>
              </a:rPr>
              <a:t> </a:t>
            </a:r>
            <a:r>
              <a:rPr sz="1200" dirty="0">
                <a:latin typeface="Times New Roman"/>
                <a:cs typeface="Times New Roman"/>
              </a:rPr>
              <a:t>the</a:t>
            </a:r>
            <a:r>
              <a:rPr sz="1200" spc="210" dirty="0">
                <a:latin typeface="Times New Roman"/>
                <a:cs typeface="Times New Roman"/>
              </a:rPr>
              <a:t> </a:t>
            </a:r>
            <a:r>
              <a:rPr sz="1200" dirty="0">
                <a:latin typeface="Times New Roman"/>
                <a:cs typeface="Times New Roman"/>
              </a:rPr>
              <a:t>4-bit</a:t>
            </a:r>
            <a:r>
              <a:rPr sz="1200" spc="204" dirty="0">
                <a:latin typeface="Times New Roman"/>
                <a:cs typeface="Times New Roman"/>
              </a:rPr>
              <a:t> </a:t>
            </a:r>
            <a:r>
              <a:rPr sz="1200" dirty="0">
                <a:latin typeface="Times New Roman"/>
                <a:cs typeface="Times New Roman"/>
              </a:rPr>
              <a:t>synchronous</a:t>
            </a:r>
            <a:r>
              <a:rPr sz="1200" spc="215" dirty="0">
                <a:latin typeface="Times New Roman"/>
                <a:cs typeface="Times New Roman"/>
              </a:rPr>
              <a:t> </a:t>
            </a:r>
            <a:r>
              <a:rPr sz="1200" dirty="0">
                <a:latin typeface="Times New Roman"/>
                <a:cs typeface="Times New Roman"/>
              </a:rPr>
              <a:t>ring</a:t>
            </a:r>
            <a:r>
              <a:rPr sz="1200" spc="204" dirty="0">
                <a:latin typeface="Times New Roman"/>
                <a:cs typeface="Times New Roman"/>
              </a:rPr>
              <a:t> </a:t>
            </a:r>
            <a:r>
              <a:rPr sz="1200" spc="-10" dirty="0">
                <a:latin typeface="Times New Roman"/>
                <a:cs typeface="Times New Roman"/>
              </a:rPr>
              <a:t>counter </a:t>
            </a:r>
            <a:r>
              <a:rPr sz="1200" dirty="0">
                <a:latin typeface="Times New Roman"/>
                <a:cs typeface="Times New Roman"/>
              </a:rPr>
              <a:t>circuit</a:t>
            </a:r>
            <a:r>
              <a:rPr sz="1200" spc="95" dirty="0">
                <a:latin typeface="Times New Roman"/>
                <a:cs typeface="Times New Roman"/>
              </a:rPr>
              <a:t> </a:t>
            </a:r>
            <a:r>
              <a:rPr sz="1200" dirty="0">
                <a:latin typeface="Times New Roman"/>
                <a:cs typeface="Times New Roman"/>
              </a:rPr>
              <a:t>was</a:t>
            </a:r>
            <a:r>
              <a:rPr sz="1200" spc="95" dirty="0">
                <a:latin typeface="Times New Roman"/>
                <a:cs typeface="Times New Roman"/>
              </a:rPr>
              <a:t> </a:t>
            </a:r>
            <a:r>
              <a:rPr sz="1200" dirty="0">
                <a:latin typeface="Times New Roman"/>
                <a:cs typeface="Times New Roman"/>
              </a:rPr>
              <a:t>designed</a:t>
            </a:r>
            <a:r>
              <a:rPr sz="1200" spc="90" dirty="0">
                <a:latin typeface="Times New Roman"/>
                <a:cs typeface="Times New Roman"/>
              </a:rPr>
              <a:t> </a:t>
            </a:r>
            <a:r>
              <a:rPr sz="1200" dirty="0">
                <a:latin typeface="Times New Roman"/>
                <a:cs typeface="Times New Roman"/>
              </a:rPr>
              <a:t>using</a:t>
            </a:r>
            <a:r>
              <a:rPr sz="1200" spc="95" dirty="0">
                <a:latin typeface="Times New Roman"/>
                <a:cs typeface="Times New Roman"/>
              </a:rPr>
              <a:t> </a:t>
            </a:r>
            <a:r>
              <a:rPr sz="1200" dirty="0">
                <a:latin typeface="Times New Roman"/>
                <a:cs typeface="Times New Roman"/>
              </a:rPr>
              <a:t>74LS74</a:t>
            </a:r>
            <a:r>
              <a:rPr sz="1200" spc="95" dirty="0">
                <a:latin typeface="Times New Roman"/>
                <a:cs typeface="Times New Roman"/>
              </a:rPr>
              <a:t> </a:t>
            </a:r>
            <a:r>
              <a:rPr sz="1200" dirty="0">
                <a:latin typeface="Times New Roman"/>
                <a:cs typeface="Times New Roman"/>
              </a:rPr>
              <a:t>D</a:t>
            </a:r>
            <a:r>
              <a:rPr sz="1200" spc="90" dirty="0">
                <a:latin typeface="Times New Roman"/>
                <a:cs typeface="Times New Roman"/>
              </a:rPr>
              <a:t> </a:t>
            </a:r>
            <a:r>
              <a:rPr sz="1200" spc="-10" dirty="0">
                <a:latin typeface="Times New Roman"/>
                <a:cs typeface="Times New Roman"/>
              </a:rPr>
              <a:t>flip-</a:t>
            </a:r>
            <a:r>
              <a:rPr sz="1200" dirty="0">
                <a:latin typeface="Times New Roman"/>
                <a:cs typeface="Times New Roman"/>
              </a:rPr>
              <a:t>flop</a:t>
            </a:r>
            <a:r>
              <a:rPr sz="1200" spc="105" dirty="0">
                <a:latin typeface="Times New Roman"/>
                <a:cs typeface="Times New Roman"/>
              </a:rPr>
              <a:t> </a:t>
            </a:r>
            <a:r>
              <a:rPr sz="1200" dirty="0">
                <a:latin typeface="Times New Roman"/>
                <a:cs typeface="Times New Roman"/>
              </a:rPr>
              <a:t>ICs.</a:t>
            </a:r>
            <a:r>
              <a:rPr sz="1200" spc="95" dirty="0">
                <a:latin typeface="Times New Roman"/>
                <a:cs typeface="Times New Roman"/>
              </a:rPr>
              <a:t> </a:t>
            </a:r>
            <a:r>
              <a:rPr sz="1200" dirty="0">
                <a:latin typeface="Times New Roman"/>
                <a:cs typeface="Times New Roman"/>
              </a:rPr>
              <a:t>Essential</a:t>
            </a:r>
            <a:r>
              <a:rPr sz="1200" spc="100" dirty="0">
                <a:latin typeface="Times New Roman"/>
                <a:cs typeface="Times New Roman"/>
              </a:rPr>
              <a:t> </a:t>
            </a:r>
            <a:r>
              <a:rPr sz="1200" dirty="0">
                <a:latin typeface="Times New Roman"/>
                <a:cs typeface="Times New Roman"/>
              </a:rPr>
              <a:t>components</a:t>
            </a:r>
            <a:r>
              <a:rPr sz="1200" spc="95" dirty="0">
                <a:latin typeface="Times New Roman"/>
                <a:cs typeface="Times New Roman"/>
              </a:rPr>
              <a:t> </a:t>
            </a:r>
            <a:r>
              <a:rPr sz="1200" dirty="0">
                <a:latin typeface="Times New Roman"/>
                <a:cs typeface="Times New Roman"/>
              </a:rPr>
              <a:t>such</a:t>
            </a:r>
            <a:r>
              <a:rPr sz="1200" spc="90" dirty="0">
                <a:latin typeface="Times New Roman"/>
                <a:cs typeface="Times New Roman"/>
              </a:rPr>
              <a:t> </a:t>
            </a:r>
            <a:r>
              <a:rPr sz="1200" dirty="0">
                <a:latin typeface="Times New Roman"/>
                <a:cs typeface="Times New Roman"/>
              </a:rPr>
              <a:t>as</a:t>
            </a:r>
            <a:r>
              <a:rPr sz="1200" spc="95" dirty="0">
                <a:latin typeface="Times New Roman"/>
                <a:cs typeface="Times New Roman"/>
              </a:rPr>
              <a:t> </a:t>
            </a:r>
            <a:r>
              <a:rPr sz="1200" spc="-10" dirty="0">
                <a:latin typeface="Times New Roman"/>
                <a:cs typeface="Times New Roman"/>
              </a:rPr>
              <a:t>resistors, </a:t>
            </a:r>
            <a:r>
              <a:rPr sz="1200" dirty="0">
                <a:latin typeface="Times New Roman"/>
                <a:cs typeface="Times New Roman"/>
              </a:rPr>
              <a:t>LEDs,</a:t>
            </a:r>
            <a:r>
              <a:rPr sz="1200" spc="90" dirty="0">
                <a:latin typeface="Times New Roman"/>
                <a:cs typeface="Times New Roman"/>
              </a:rPr>
              <a:t> </a:t>
            </a:r>
            <a:r>
              <a:rPr sz="1200" dirty="0">
                <a:latin typeface="Times New Roman"/>
                <a:cs typeface="Times New Roman"/>
              </a:rPr>
              <a:t>capacitors,</a:t>
            </a:r>
            <a:r>
              <a:rPr sz="1200" spc="85" dirty="0">
                <a:latin typeface="Times New Roman"/>
                <a:cs typeface="Times New Roman"/>
              </a:rPr>
              <a:t> </a:t>
            </a:r>
            <a:r>
              <a:rPr sz="1200" dirty="0">
                <a:latin typeface="Times New Roman"/>
                <a:cs typeface="Times New Roman"/>
              </a:rPr>
              <a:t>a</a:t>
            </a:r>
            <a:r>
              <a:rPr sz="1200" spc="105" dirty="0">
                <a:latin typeface="Times New Roman"/>
                <a:cs typeface="Times New Roman"/>
              </a:rPr>
              <a:t> </a:t>
            </a:r>
            <a:r>
              <a:rPr sz="1200" dirty="0">
                <a:latin typeface="Times New Roman"/>
                <a:cs typeface="Times New Roman"/>
              </a:rPr>
              <a:t>7805-voltage</a:t>
            </a:r>
            <a:r>
              <a:rPr sz="1200" spc="90" dirty="0">
                <a:latin typeface="Times New Roman"/>
                <a:cs typeface="Times New Roman"/>
              </a:rPr>
              <a:t> </a:t>
            </a:r>
            <a:r>
              <a:rPr sz="1200" dirty="0">
                <a:latin typeface="Times New Roman"/>
                <a:cs typeface="Times New Roman"/>
              </a:rPr>
              <a:t>regulator,</a:t>
            </a:r>
            <a:r>
              <a:rPr sz="1200" spc="85" dirty="0">
                <a:latin typeface="Times New Roman"/>
                <a:cs typeface="Times New Roman"/>
              </a:rPr>
              <a:t> </a:t>
            </a:r>
            <a:r>
              <a:rPr sz="1200" dirty="0">
                <a:latin typeface="Times New Roman"/>
                <a:cs typeface="Times New Roman"/>
              </a:rPr>
              <a:t>push</a:t>
            </a:r>
            <a:r>
              <a:rPr sz="1200" spc="100" dirty="0">
                <a:latin typeface="Times New Roman"/>
                <a:cs typeface="Times New Roman"/>
              </a:rPr>
              <a:t> </a:t>
            </a:r>
            <a:r>
              <a:rPr sz="1200" dirty="0">
                <a:latin typeface="Times New Roman"/>
                <a:cs typeface="Times New Roman"/>
              </a:rPr>
              <a:t>button</a:t>
            </a:r>
            <a:r>
              <a:rPr sz="1200" spc="90" dirty="0">
                <a:latin typeface="Times New Roman"/>
                <a:cs typeface="Times New Roman"/>
              </a:rPr>
              <a:t> </a:t>
            </a:r>
            <a:r>
              <a:rPr sz="1200" dirty="0">
                <a:latin typeface="Times New Roman"/>
                <a:cs typeface="Times New Roman"/>
              </a:rPr>
              <a:t>switch,</a:t>
            </a:r>
            <a:r>
              <a:rPr sz="1200" spc="85" dirty="0">
                <a:latin typeface="Times New Roman"/>
                <a:cs typeface="Times New Roman"/>
              </a:rPr>
              <a:t> </a:t>
            </a:r>
            <a:r>
              <a:rPr sz="1200" dirty="0">
                <a:latin typeface="Times New Roman"/>
                <a:cs typeface="Times New Roman"/>
              </a:rPr>
              <a:t>connectors,</a:t>
            </a:r>
            <a:r>
              <a:rPr sz="1200" spc="85" dirty="0">
                <a:latin typeface="Times New Roman"/>
                <a:cs typeface="Times New Roman"/>
              </a:rPr>
              <a:t> </a:t>
            </a:r>
            <a:r>
              <a:rPr sz="1200" dirty="0">
                <a:latin typeface="Times New Roman"/>
                <a:cs typeface="Times New Roman"/>
              </a:rPr>
              <a:t>and</a:t>
            </a:r>
            <a:r>
              <a:rPr sz="1200" spc="105" dirty="0">
                <a:latin typeface="Times New Roman"/>
                <a:cs typeface="Times New Roman"/>
              </a:rPr>
              <a:t> </a:t>
            </a:r>
            <a:r>
              <a:rPr sz="1200" dirty="0">
                <a:latin typeface="Times New Roman"/>
                <a:cs typeface="Times New Roman"/>
              </a:rPr>
              <a:t>IC</a:t>
            </a:r>
            <a:r>
              <a:rPr sz="1200" spc="90" dirty="0">
                <a:latin typeface="Times New Roman"/>
                <a:cs typeface="Times New Roman"/>
              </a:rPr>
              <a:t> </a:t>
            </a:r>
            <a:r>
              <a:rPr sz="1200" spc="-10" dirty="0">
                <a:latin typeface="Times New Roman"/>
                <a:cs typeface="Times New Roman"/>
              </a:rPr>
              <a:t>sockets </a:t>
            </a:r>
            <a:r>
              <a:rPr sz="1200" dirty="0">
                <a:latin typeface="Times New Roman"/>
                <a:cs typeface="Times New Roman"/>
              </a:rPr>
              <a:t>were</a:t>
            </a:r>
            <a:r>
              <a:rPr sz="1200" spc="-45" dirty="0">
                <a:latin typeface="Times New Roman"/>
                <a:cs typeface="Times New Roman"/>
              </a:rPr>
              <a:t> </a:t>
            </a:r>
            <a:r>
              <a:rPr sz="1200" spc="-10" dirty="0">
                <a:latin typeface="Times New Roman"/>
                <a:cs typeface="Times New Roman"/>
              </a:rPr>
              <a:t>selected.</a:t>
            </a:r>
            <a:r>
              <a:rPr sz="1200" spc="-40"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regulated</a:t>
            </a:r>
            <a:r>
              <a:rPr sz="1200" spc="-50" dirty="0">
                <a:latin typeface="Times New Roman"/>
                <a:cs typeface="Times New Roman"/>
              </a:rPr>
              <a:t> </a:t>
            </a:r>
            <a:r>
              <a:rPr sz="1200" dirty="0">
                <a:latin typeface="Times New Roman"/>
                <a:cs typeface="Times New Roman"/>
              </a:rPr>
              <a:t>power</a:t>
            </a:r>
            <a:r>
              <a:rPr sz="1200" spc="-40" dirty="0">
                <a:latin typeface="Times New Roman"/>
                <a:cs typeface="Times New Roman"/>
              </a:rPr>
              <a:t> </a:t>
            </a:r>
            <a:r>
              <a:rPr sz="1200" dirty="0">
                <a:latin typeface="Times New Roman"/>
                <a:cs typeface="Times New Roman"/>
              </a:rPr>
              <a:t>supply</a:t>
            </a:r>
            <a:r>
              <a:rPr sz="1200" spc="-45" dirty="0">
                <a:latin typeface="Times New Roman"/>
                <a:cs typeface="Times New Roman"/>
              </a:rPr>
              <a:t> </a:t>
            </a:r>
            <a:r>
              <a:rPr sz="1200" dirty="0">
                <a:latin typeface="Times New Roman"/>
                <a:cs typeface="Times New Roman"/>
              </a:rPr>
              <a:t>section</a:t>
            </a:r>
            <a:r>
              <a:rPr sz="1200" spc="-50" dirty="0">
                <a:latin typeface="Times New Roman"/>
                <a:cs typeface="Times New Roman"/>
              </a:rPr>
              <a:t> </a:t>
            </a:r>
            <a:r>
              <a:rPr sz="1200" dirty="0">
                <a:latin typeface="Times New Roman"/>
                <a:cs typeface="Times New Roman"/>
              </a:rPr>
              <a:t>was</a:t>
            </a:r>
            <a:r>
              <a:rPr sz="1200" spc="-40" dirty="0">
                <a:latin typeface="Times New Roman"/>
                <a:cs typeface="Times New Roman"/>
              </a:rPr>
              <a:t> </a:t>
            </a:r>
            <a:r>
              <a:rPr sz="1200" spc="-10" dirty="0">
                <a:latin typeface="Times New Roman"/>
                <a:cs typeface="Times New Roman"/>
              </a:rPr>
              <a:t>designed</a:t>
            </a:r>
            <a:r>
              <a:rPr sz="1200" spc="-4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convert</a:t>
            </a:r>
            <a:r>
              <a:rPr sz="1200" spc="-45" dirty="0">
                <a:latin typeface="Times New Roman"/>
                <a:cs typeface="Times New Roman"/>
              </a:rPr>
              <a:t> </a:t>
            </a:r>
            <a:r>
              <a:rPr sz="1200" dirty="0">
                <a:latin typeface="Times New Roman"/>
                <a:cs typeface="Times New Roman"/>
              </a:rPr>
              <a:t>9–12V</a:t>
            </a:r>
            <a:r>
              <a:rPr sz="1200" spc="-50" dirty="0">
                <a:latin typeface="Times New Roman"/>
                <a:cs typeface="Times New Roman"/>
              </a:rPr>
              <a:t> </a:t>
            </a:r>
            <a:r>
              <a:rPr sz="1200" dirty="0">
                <a:latin typeface="Times New Roman"/>
                <a:cs typeface="Times New Roman"/>
              </a:rPr>
              <a:t>DC</a:t>
            </a:r>
            <a:r>
              <a:rPr sz="1200" spc="-40" dirty="0">
                <a:latin typeface="Times New Roman"/>
                <a:cs typeface="Times New Roman"/>
              </a:rPr>
              <a:t> </a:t>
            </a:r>
            <a:r>
              <a:rPr sz="1200" dirty="0">
                <a:latin typeface="Times New Roman"/>
                <a:cs typeface="Times New Roman"/>
              </a:rPr>
              <a:t>input</a:t>
            </a:r>
            <a:r>
              <a:rPr sz="1200" spc="-45" dirty="0">
                <a:latin typeface="Times New Roman"/>
                <a:cs typeface="Times New Roman"/>
              </a:rPr>
              <a:t> </a:t>
            </a:r>
            <a:r>
              <a:rPr sz="1200" spc="-20" dirty="0">
                <a:latin typeface="Times New Roman"/>
                <a:cs typeface="Times New Roman"/>
              </a:rPr>
              <a:t>into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stable</a:t>
            </a:r>
            <a:r>
              <a:rPr sz="1200" spc="-20" dirty="0">
                <a:latin typeface="Times New Roman"/>
                <a:cs typeface="Times New Roman"/>
              </a:rPr>
              <a:t> </a:t>
            </a:r>
            <a:r>
              <a:rPr sz="1200" dirty="0">
                <a:latin typeface="Times New Roman"/>
                <a:cs typeface="Times New Roman"/>
              </a:rPr>
              <a:t>+5V</a:t>
            </a:r>
            <a:r>
              <a:rPr sz="1200" spc="-10" dirty="0">
                <a:latin typeface="Times New Roman"/>
                <a:cs typeface="Times New Roman"/>
              </a:rPr>
              <a:t> </a:t>
            </a:r>
            <a:r>
              <a:rPr sz="1200" dirty="0">
                <a:latin typeface="Times New Roman"/>
                <a:cs typeface="Times New Roman"/>
              </a:rPr>
              <a:t>DC</a:t>
            </a:r>
            <a:r>
              <a:rPr sz="1200" spc="-15" dirty="0">
                <a:latin typeface="Times New Roman"/>
                <a:cs typeface="Times New Roman"/>
              </a:rPr>
              <a:t> </a:t>
            </a:r>
            <a:r>
              <a:rPr sz="1200" dirty="0">
                <a:latin typeface="Times New Roman"/>
                <a:cs typeface="Times New Roman"/>
              </a:rPr>
              <a:t>suitable</a:t>
            </a:r>
            <a:r>
              <a:rPr sz="1200" spc="-2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TTL</a:t>
            </a:r>
            <a:r>
              <a:rPr sz="1200" spc="-20" dirty="0">
                <a:latin typeface="Times New Roman"/>
                <a:cs typeface="Times New Roman"/>
              </a:rPr>
              <a:t> </a:t>
            </a:r>
            <a:r>
              <a:rPr sz="1200" dirty="0">
                <a:latin typeface="Times New Roman"/>
                <a:cs typeface="Times New Roman"/>
              </a:rPr>
              <a:t>logic</a:t>
            </a:r>
            <a:r>
              <a:rPr sz="1200" spc="-10" dirty="0">
                <a:latin typeface="Times New Roman"/>
                <a:cs typeface="Times New Roman"/>
              </a:rPr>
              <a:t> </a:t>
            </a:r>
            <a:r>
              <a:rPr sz="1200" spc="-20" dirty="0">
                <a:latin typeface="Times New Roman"/>
                <a:cs typeface="Times New Roman"/>
              </a:rPr>
              <a:t>ICs.</a:t>
            </a:r>
            <a:endParaRPr sz="1200">
              <a:latin typeface="Times New Roman"/>
              <a:cs typeface="Times New Roman"/>
            </a:endParaRPr>
          </a:p>
          <a:p>
            <a:pPr>
              <a:lnSpc>
                <a:spcPct val="100000"/>
              </a:lnSpc>
              <a:spcBef>
                <a:spcPts val="60"/>
              </a:spcBef>
            </a:pPr>
            <a:endParaRPr sz="1200">
              <a:latin typeface="Times New Roman"/>
              <a:cs typeface="Times New Roman"/>
            </a:endParaRPr>
          </a:p>
          <a:p>
            <a:pPr marL="12700" marR="5080" algn="just">
              <a:lnSpc>
                <a:spcPts val="1380"/>
              </a:lnSpc>
            </a:pPr>
            <a:r>
              <a:rPr sz="1200" dirty="0">
                <a:latin typeface="Times New Roman"/>
                <a:cs typeface="Times New Roman"/>
              </a:rPr>
              <a:t>The</a:t>
            </a:r>
            <a:r>
              <a:rPr sz="1200" spc="110" dirty="0">
                <a:latin typeface="Times New Roman"/>
                <a:cs typeface="Times New Roman"/>
              </a:rPr>
              <a:t> </a:t>
            </a:r>
            <a:r>
              <a:rPr sz="1200" dirty="0">
                <a:latin typeface="Times New Roman"/>
                <a:cs typeface="Times New Roman"/>
              </a:rPr>
              <a:t>schematic</a:t>
            </a:r>
            <a:r>
              <a:rPr sz="1200" spc="130" dirty="0">
                <a:latin typeface="Times New Roman"/>
                <a:cs typeface="Times New Roman"/>
              </a:rPr>
              <a:t> </a:t>
            </a:r>
            <a:r>
              <a:rPr sz="1200" dirty="0">
                <a:latin typeface="Times New Roman"/>
                <a:cs typeface="Times New Roman"/>
              </a:rPr>
              <a:t>and</a:t>
            </a:r>
            <a:r>
              <a:rPr sz="1200" spc="114" dirty="0">
                <a:latin typeface="Times New Roman"/>
                <a:cs typeface="Times New Roman"/>
              </a:rPr>
              <a:t> </a:t>
            </a:r>
            <a:r>
              <a:rPr sz="1200" dirty="0">
                <a:latin typeface="Times New Roman"/>
                <a:cs typeface="Times New Roman"/>
              </a:rPr>
              <a:t>PCB</a:t>
            </a:r>
            <a:r>
              <a:rPr sz="1200" spc="125" dirty="0">
                <a:latin typeface="Times New Roman"/>
                <a:cs typeface="Times New Roman"/>
              </a:rPr>
              <a:t> </a:t>
            </a:r>
            <a:r>
              <a:rPr sz="1200" dirty="0">
                <a:latin typeface="Times New Roman"/>
                <a:cs typeface="Times New Roman"/>
              </a:rPr>
              <a:t>layout</a:t>
            </a:r>
            <a:r>
              <a:rPr sz="1200" spc="114" dirty="0">
                <a:latin typeface="Times New Roman"/>
                <a:cs typeface="Times New Roman"/>
              </a:rPr>
              <a:t> </a:t>
            </a:r>
            <a:r>
              <a:rPr sz="1200" dirty="0">
                <a:latin typeface="Times New Roman"/>
                <a:cs typeface="Times New Roman"/>
              </a:rPr>
              <a:t>were</a:t>
            </a:r>
            <a:r>
              <a:rPr sz="1200" spc="125" dirty="0">
                <a:latin typeface="Times New Roman"/>
                <a:cs typeface="Times New Roman"/>
              </a:rPr>
              <a:t> </a:t>
            </a:r>
            <a:r>
              <a:rPr sz="1200" dirty="0">
                <a:latin typeface="Times New Roman"/>
                <a:cs typeface="Times New Roman"/>
              </a:rPr>
              <a:t>created</a:t>
            </a:r>
            <a:r>
              <a:rPr sz="1200" spc="125" dirty="0">
                <a:latin typeface="Times New Roman"/>
                <a:cs typeface="Times New Roman"/>
              </a:rPr>
              <a:t> </a:t>
            </a:r>
            <a:r>
              <a:rPr sz="1200" dirty="0">
                <a:latin typeface="Times New Roman"/>
                <a:cs typeface="Times New Roman"/>
              </a:rPr>
              <a:t>using</a:t>
            </a:r>
            <a:r>
              <a:rPr sz="1200" spc="125" dirty="0">
                <a:latin typeface="Times New Roman"/>
                <a:cs typeface="Times New Roman"/>
              </a:rPr>
              <a:t> </a:t>
            </a:r>
            <a:r>
              <a:rPr sz="1200" dirty="0">
                <a:latin typeface="Times New Roman"/>
                <a:cs typeface="Times New Roman"/>
              </a:rPr>
              <a:t>KiCad</a:t>
            </a:r>
            <a:r>
              <a:rPr sz="1200" spc="114" dirty="0">
                <a:latin typeface="Times New Roman"/>
                <a:cs typeface="Times New Roman"/>
              </a:rPr>
              <a:t> </a:t>
            </a:r>
            <a:r>
              <a:rPr sz="1200" dirty="0">
                <a:latin typeface="Times New Roman"/>
                <a:cs typeface="Times New Roman"/>
              </a:rPr>
              <a:t>software.</a:t>
            </a:r>
            <a:r>
              <a:rPr sz="1200" spc="130" dirty="0">
                <a:latin typeface="Times New Roman"/>
                <a:cs typeface="Times New Roman"/>
              </a:rPr>
              <a:t> </a:t>
            </a:r>
            <a:r>
              <a:rPr sz="1200" dirty="0">
                <a:latin typeface="Times New Roman"/>
                <a:cs typeface="Times New Roman"/>
              </a:rPr>
              <a:t>All</a:t>
            </a:r>
            <a:r>
              <a:rPr sz="1200" spc="130" dirty="0">
                <a:latin typeface="Times New Roman"/>
                <a:cs typeface="Times New Roman"/>
              </a:rPr>
              <a:t> </a:t>
            </a:r>
            <a:r>
              <a:rPr sz="1200" dirty="0">
                <a:latin typeface="Times New Roman"/>
                <a:cs typeface="Times New Roman"/>
              </a:rPr>
              <a:t>power</a:t>
            </a:r>
            <a:r>
              <a:rPr sz="1200" spc="130" dirty="0">
                <a:latin typeface="Times New Roman"/>
                <a:cs typeface="Times New Roman"/>
              </a:rPr>
              <a:t> </a:t>
            </a:r>
            <a:r>
              <a:rPr sz="1200" dirty="0">
                <a:latin typeface="Times New Roman"/>
                <a:cs typeface="Times New Roman"/>
              </a:rPr>
              <a:t>and</a:t>
            </a:r>
            <a:r>
              <a:rPr sz="1200" spc="114" dirty="0">
                <a:latin typeface="Times New Roman"/>
                <a:cs typeface="Times New Roman"/>
              </a:rPr>
              <a:t> </a:t>
            </a:r>
            <a:r>
              <a:rPr sz="1200" spc="-10" dirty="0">
                <a:latin typeface="Times New Roman"/>
                <a:cs typeface="Times New Roman"/>
              </a:rPr>
              <a:t>ground </a:t>
            </a:r>
            <a:r>
              <a:rPr sz="1200" dirty="0">
                <a:latin typeface="Times New Roman"/>
                <a:cs typeface="Times New Roman"/>
              </a:rPr>
              <a:t>connections</a:t>
            </a:r>
            <a:r>
              <a:rPr sz="1200" spc="245" dirty="0">
                <a:latin typeface="Times New Roman"/>
                <a:cs typeface="Times New Roman"/>
              </a:rPr>
              <a:t> </a:t>
            </a:r>
            <a:r>
              <a:rPr sz="1200" dirty="0">
                <a:latin typeface="Times New Roman"/>
                <a:cs typeface="Times New Roman"/>
              </a:rPr>
              <a:t>were</a:t>
            </a:r>
            <a:r>
              <a:rPr sz="1200" spc="235" dirty="0">
                <a:latin typeface="Times New Roman"/>
                <a:cs typeface="Times New Roman"/>
              </a:rPr>
              <a:t> </a:t>
            </a:r>
            <a:r>
              <a:rPr sz="1200" dirty="0">
                <a:latin typeface="Times New Roman"/>
                <a:cs typeface="Times New Roman"/>
              </a:rPr>
              <a:t>properly</a:t>
            </a:r>
            <a:r>
              <a:rPr sz="1200" spc="245" dirty="0">
                <a:latin typeface="Times New Roman"/>
                <a:cs typeface="Times New Roman"/>
              </a:rPr>
              <a:t> </a:t>
            </a:r>
            <a:r>
              <a:rPr sz="1200" dirty="0">
                <a:latin typeface="Times New Roman"/>
                <a:cs typeface="Times New Roman"/>
              </a:rPr>
              <a:t>assigned,</a:t>
            </a:r>
            <a:r>
              <a:rPr sz="1200" spc="240" dirty="0">
                <a:latin typeface="Times New Roman"/>
                <a:cs typeface="Times New Roman"/>
              </a:rPr>
              <a:t> </a:t>
            </a:r>
            <a:r>
              <a:rPr sz="1200" dirty="0">
                <a:latin typeface="Times New Roman"/>
                <a:cs typeface="Times New Roman"/>
              </a:rPr>
              <a:t>and</a:t>
            </a:r>
            <a:r>
              <a:rPr sz="1200" spc="240" dirty="0">
                <a:latin typeface="Times New Roman"/>
                <a:cs typeface="Times New Roman"/>
              </a:rPr>
              <a:t> </a:t>
            </a:r>
            <a:r>
              <a:rPr sz="1200" dirty="0">
                <a:latin typeface="Times New Roman"/>
                <a:cs typeface="Times New Roman"/>
              </a:rPr>
              <a:t>a</a:t>
            </a:r>
            <a:r>
              <a:rPr sz="1200" spc="254" dirty="0">
                <a:latin typeface="Times New Roman"/>
                <a:cs typeface="Times New Roman"/>
              </a:rPr>
              <a:t> </a:t>
            </a:r>
            <a:r>
              <a:rPr sz="1200" dirty="0">
                <a:latin typeface="Times New Roman"/>
                <a:cs typeface="Times New Roman"/>
              </a:rPr>
              <a:t>common</a:t>
            </a:r>
            <a:r>
              <a:rPr sz="1200" spc="240" dirty="0">
                <a:latin typeface="Times New Roman"/>
                <a:cs typeface="Times New Roman"/>
              </a:rPr>
              <a:t> </a:t>
            </a:r>
            <a:r>
              <a:rPr sz="1200" dirty="0">
                <a:latin typeface="Times New Roman"/>
                <a:cs typeface="Times New Roman"/>
              </a:rPr>
              <a:t>clock</a:t>
            </a:r>
            <a:r>
              <a:rPr sz="1200" spc="245" dirty="0">
                <a:latin typeface="Times New Roman"/>
                <a:cs typeface="Times New Roman"/>
              </a:rPr>
              <a:t> </a:t>
            </a:r>
            <a:r>
              <a:rPr sz="1200" dirty="0">
                <a:latin typeface="Times New Roman"/>
                <a:cs typeface="Times New Roman"/>
              </a:rPr>
              <a:t>line</a:t>
            </a:r>
            <a:r>
              <a:rPr sz="1200" spc="240" dirty="0">
                <a:latin typeface="Times New Roman"/>
                <a:cs typeface="Times New Roman"/>
              </a:rPr>
              <a:t> </a:t>
            </a:r>
            <a:r>
              <a:rPr sz="1200" dirty="0">
                <a:latin typeface="Times New Roman"/>
                <a:cs typeface="Times New Roman"/>
              </a:rPr>
              <a:t>was</a:t>
            </a:r>
            <a:r>
              <a:rPr sz="1200" spc="245" dirty="0">
                <a:latin typeface="Times New Roman"/>
                <a:cs typeface="Times New Roman"/>
              </a:rPr>
              <a:t> </a:t>
            </a:r>
            <a:r>
              <a:rPr sz="1200" dirty="0">
                <a:latin typeface="Times New Roman"/>
                <a:cs typeface="Times New Roman"/>
              </a:rPr>
              <a:t>connected</a:t>
            </a:r>
            <a:r>
              <a:rPr sz="1200" spc="245" dirty="0">
                <a:latin typeface="Times New Roman"/>
                <a:cs typeface="Times New Roman"/>
              </a:rPr>
              <a:t> </a:t>
            </a:r>
            <a:r>
              <a:rPr sz="1200" dirty="0">
                <a:latin typeface="Times New Roman"/>
                <a:cs typeface="Times New Roman"/>
              </a:rPr>
              <a:t>to</a:t>
            </a:r>
            <a:r>
              <a:rPr sz="1200" spc="245" dirty="0">
                <a:latin typeface="Times New Roman"/>
                <a:cs typeface="Times New Roman"/>
              </a:rPr>
              <a:t> </a:t>
            </a:r>
            <a:r>
              <a:rPr sz="1200" spc="-10" dirty="0">
                <a:latin typeface="Times New Roman"/>
                <a:cs typeface="Times New Roman"/>
              </a:rPr>
              <a:t>ensure synchronous</a:t>
            </a:r>
            <a:r>
              <a:rPr sz="1200" spc="-40" dirty="0">
                <a:latin typeface="Times New Roman"/>
                <a:cs typeface="Times New Roman"/>
              </a:rPr>
              <a:t> </a:t>
            </a:r>
            <a:r>
              <a:rPr sz="1200" spc="-10" dirty="0">
                <a:latin typeface="Times New Roman"/>
                <a:cs typeface="Times New Roman"/>
              </a:rPr>
              <a:t>operation.</a:t>
            </a:r>
            <a:r>
              <a:rPr sz="1200" spc="-4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Q</a:t>
            </a:r>
            <a:r>
              <a:rPr sz="1200" spc="-40" dirty="0">
                <a:latin typeface="Times New Roman"/>
                <a:cs typeface="Times New Roman"/>
              </a:rPr>
              <a:t> </a:t>
            </a:r>
            <a:r>
              <a:rPr sz="1200" dirty="0">
                <a:latin typeface="Times New Roman"/>
                <a:cs typeface="Times New Roman"/>
              </a:rPr>
              <a:t>output</a:t>
            </a:r>
            <a:r>
              <a:rPr sz="1200" spc="-3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each</a:t>
            </a:r>
            <a:r>
              <a:rPr sz="1200" spc="-40" dirty="0">
                <a:latin typeface="Times New Roman"/>
                <a:cs typeface="Times New Roman"/>
              </a:rPr>
              <a:t> </a:t>
            </a:r>
            <a:r>
              <a:rPr sz="1200" spc="-10" dirty="0">
                <a:latin typeface="Times New Roman"/>
                <a:cs typeface="Times New Roman"/>
              </a:rPr>
              <a:t>flip-</a:t>
            </a:r>
            <a:r>
              <a:rPr sz="1200" dirty="0">
                <a:latin typeface="Times New Roman"/>
                <a:cs typeface="Times New Roman"/>
              </a:rPr>
              <a:t>flop</a:t>
            </a:r>
            <a:r>
              <a:rPr sz="1200" spc="-35" dirty="0">
                <a:latin typeface="Times New Roman"/>
                <a:cs typeface="Times New Roman"/>
              </a:rPr>
              <a:t> </a:t>
            </a:r>
            <a:r>
              <a:rPr sz="1200" dirty="0">
                <a:latin typeface="Times New Roman"/>
                <a:cs typeface="Times New Roman"/>
              </a:rPr>
              <a:t>was</a:t>
            </a:r>
            <a:r>
              <a:rPr sz="1200" spc="-35" dirty="0">
                <a:latin typeface="Times New Roman"/>
                <a:cs typeface="Times New Roman"/>
              </a:rPr>
              <a:t> </a:t>
            </a:r>
            <a:r>
              <a:rPr sz="1200" spc="-10" dirty="0">
                <a:latin typeface="Times New Roman"/>
                <a:cs typeface="Times New Roman"/>
              </a:rPr>
              <a:t>connected</a:t>
            </a:r>
            <a:r>
              <a:rPr sz="1200" spc="-4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D</a:t>
            </a:r>
            <a:r>
              <a:rPr sz="1200" spc="-40" dirty="0">
                <a:latin typeface="Times New Roman"/>
                <a:cs typeface="Times New Roman"/>
              </a:rPr>
              <a:t> </a:t>
            </a:r>
            <a:r>
              <a:rPr sz="1200" dirty="0">
                <a:latin typeface="Times New Roman"/>
                <a:cs typeface="Times New Roman"/>
              </a:rPr>
              <a:t>input</a:t>
            </a:r>
            <a:r>
              <a:rPr sz="1200" spc="-4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20" dirty="0">
                <a:latin typeface="Times New Roman"/>
                <a:cs typeface="Times New Roman"/>
              </a:rPr>
              <a:t>next </a:t>
            </a:r>
            <a:r>
              <a:rPr sz="1200" spc="-10" dirty="0">
                <a:latin typeface="Times New Roman"/>
                <a:cs typeface="Times New Roman"/>
              </a:rPr>
              <a:t>flip-</a:t>
            </a:r>
            <a:r>
              <a:rPr sz="1200" dirty="0">
                <a:latin typeface="Times New Roman"/>
                <a:cs typeface="Times New Roman"/>
              </a:rPr>
              <a:t>flop,</a:t>
            </a:r>
            <a:r>
              <a:rPr sz="1200" spc="-55" dirty="0">
                <a:latin typeface="Times New Roman"/>
                <a:cs typeface="Times New Roman"/>
              </a:rPr>
              <a:t> </a:t>
            </a:r>
            <a:r>
              <a:rPr sz="1200" dirty="0">
                <a:latin typeface="Times New Roman"/>
                <a:cs typeface="Times New Roman"/>
              </a:rPr>
              <a:t>with</a:t>
            </a:r>
            <a:r>
              <a:rPr sz="1200" spc="-50"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last</a:t>
            </a:r>
            <a:r>
              <a:rPr sz="1200" spc="-50" dirty="0">
                <a:latin typeface="Times New Roman"/>
                <a:cs typeface="Times New Roman"/>
              </a:rPr>
              <a:t> </a:t>
            </a:r>
            <a:r>
              <a:rPr sz="1200" dirty="0">
                <a:latin typeface="Times New Roman"/>
                <a:cs typeface="Times New Roman"/>
              </a:rPr>
              <a:t>output</a:t>
            </a:r>
            <a:r>
              <a:rPr sz="1200" spc="-50" dirty="0">
                <a:latin typeface="Times New Roman"/>
                <a:cs typeface="Times New Roman"/>
              </a:rPr>
              <a:t> </a:t>
            </a:r>
            <a:r>
              <a:rPr sz="1200" dirty="0">
                <a:latin typeface="Times New Roman"/>
                <a:cs typeface="Times New Roman"/>
              </a:rPr>
              <a:t>fed</a:t>
            </a:r>
            <a:r>
              <a:rPr sz="1200" spc="-55" dirty="0">
                <a:latin typeface="Times New Roman"/>
                <a:cs typeface="Times New Roman"/>
              </a:rPr>
              <a:t> </a:t>
            </a:r>
            <a:r>
              <a:rPr sz="1200" dirty="0">
                <a:latin typeface="Times New Roman"/>
                <a:cs typeface="Times New Roman"/>
              </a:rPr>
              <a:t>back</a:t>
            </a:r>
            <a:r>
              <a:rPr sz="1200" spc="-55"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first</a:t>
            </a:r>
            <a:r>
              <a:rPr sz="1200" spc="-5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form</a:t>
            </a:r>
            <a:r>
              <a:rPr sz="1200" spc="-50" dirty="0">
                <a:latin typeface="Times New Roman"/>
                <a:cs typeface="Times New Roman"/>
              </a:rPr>
              <a:t> </a:t>
            </a:r>
            <a:r>
              <a:rPr sz="1200" dirty="0">
                <a:latin typeface="Times New Roman"/>
                <a:cs typeface="Times New Roman"/>
              </a:rPr>
              <a:t>the</a:t>
            </a:r>
            <a:r>
              <a:rPr sz="1200" spc="-55" dirty="0">
                <a:latin typeface="Times New Roman"/>
                <a:cs typeface="Times New Roman"/>
              </a:rPr>
              <a:t> </a:t>
            </a:r>
            <a:r>
              <a:rPr sz="1200" dirty="0">
                <a:latin typeface="Times New Roman"/>
                <a:cs typeface="Times New Roman"/>
              </a:rPr>
              <a:t>ring</a:t>
            </a:r>
            <a:r>
              <a:rPr sz="1200" spc="-55" dirty="0">
                <a:latin typeface="Times New Roman"/>
                <a:cs typeface="Times New Roman"/>
              </a:rPr>
              <a:t> </a:t>
            </a:r>
            <a:r>
              <a:rPr sz="1200" spc="-10" dirty="0">
                <a:latin typeface="Times New Roman"/>
                <a:cs typeface="Times New Roman"/>
              </a:rPr>
              <a:t>structure.</a:t>
            </a:r>
            <a:r>
              <a:rPr sz="1200" spc="-55" dirty="0">
                <a:latin typeface="Times New Roman"/>
                <a:cs typeface="Times New Roman"/>
              </a:rPr>
              <a:t> </a:t>
            </a:r>
            <a:r>
              <a:rPr sz="1200" dirty="0">
                <a:latin typeface="Times New Roman"/>
                <a:cs typeface="Times New Roman"/>
              </a:rPr>
              <a:t>LEDs</a:t>
            </a:r>
            <a:r>
              <a:rPr sz="1200" spc="-50" dirty="0">
                <a:latin typeface="Times New Roman"/>
                <a:cs typeface="Times New Roman"/>
              </a:rPr>
              <a:t> </a:t>
            </a:r>
            <a:r>
              <a:rPr sz="1200" dirty="0">
                <a:latin typeface="Times New Roman"/>
                <a:cs typeface="Times New Roman"/>
              </a:rPr>
              <a:t>with</a:t>
            </a:r>
            <a:r>
              <a:rPr sz="1200" spc="-50" dirty="0">
                <a:latin typeface="Times New Roman"/>
                <a:cs typeface="Times New Roman"/>
              </a:rPr>
              <a:t> </a:t>
            </a:r>
            <a:r>
              <a:rPr sz="1200" spc="-10" dirty="0">
                <a:latin typeface="Times New Roman"/>
                <a:cs typeface="Times New Roman"/>
              </a:rPr>
              <a:t>current- </a:t>
            </a:r>
            <a:r>
              <a:rPr sz="1200" dirty="0">
                <a:latin typeface="Times New Roman"/>
                <a:cs typeface="Times New Roman"/>
              </a:rPr>
              <a:t>limiting</a:t>
            </a:r>
            <a:r>
              <a:rPr sz="1200" spc="-35" dirty="0">
                <a:latin typeface="Times New Roman"/>
                <a:cs typeface="Times New Roman"/>
              </a:rPr>
              <a:t> </a:t>
            </a:r>
            <a:r>
              <a:rPr sz="1200" dirty="0">
                <a:latin typeface="Times New Roman"/>
                <a:cs typeface="Times New Roman"/>
              </a:rPr>
              <a:t>resistors</a:t>
            </a:r>
            <a:r>
              <a:rPr sz="1200" spc="-40" dirty="0">
                <a:latin typeface="Times New Roman"/>
                <a:cs typeface="Times New Roman"/>
              </a:rPr>
              <a:t> </a:t>
            </a:r>
            <a:r>
              <a:rPr sz="1200" dirty="0">
                <a:latin typeface="Times New Roman"/>
                <a:cs typeface="Times New Roman"/>
              </a:rPr>
              <a:t>were</a:t>
            </a:r>
            <a:r>
              <a:rPr sz="1200" spc="-40" dirty="0">
                <a:latin typeface="Times New Roman"/>
                <a:cs typeface="Times New Roman"/>
              </a:rPr>
              <a:t> </a:t>
            </a:r>
            <a:r>
              <a:rPr sz="1200" dirty="0">
                <a:latin typeface="Times New Roman"/>
                <a:cs typeface="Times New Roman"/>
              </a:rPr>
              <a:t>connected</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outputs</a:t>
            </a:r>
            <a:r>
              <a:rPr sz="1200" spc="-3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visual</a:t>
            </a:r>
            <a:r>
              <a:rPr sz="1200" spc="-35" dirty="0">
                <a:latin typeface="Times New Roman"/>
                <a:cs typeface="Times New Roman"/>
              </a:rPr>
              <a:t> </a:t>
            </a:r>
            <a:r>
              <a:rPr sz="1200" spc="-10" dirty="0">
                <a:latin typeface="Times New Roman"/>
                <a:cs typeface="Times New Roman"/>
              </a:rPr>
              <a:t>indication.</a:t>
            </a:r>
            <a:endParaRPr sz="1200">
              <a:latin typeface="Times New Roman"/>
              <a:cs typeface="Times New Roman"/>
            </a:endParaRPr>
          </a:p>
          <a:p>
            <a:pPr>
              <a:lnSpc>
                <a:spcPct val="100000"/>
              </a:lnSpc>
              <a:spcBef>
                <a:spcPts val="15"/>
              </a:spcBef>
            </a:pPr>
            <a:endParaRPr sz="1200">
              <a:latin typeface="Times New Roman"/>
              <a:cs typeface="Times New Roman"/>
            </a:endParaRPr>
          </a:p>
          <a:p>
            <a:pPr marL="12700" marR="6350" algn="just">
              <a:lnSpc>
                <a:spcPts val="1380"/>
              </a:lnSpc>
            </a:pPr>
            <a:r>
              <a:rPr sz="1200" dirty="0">
                <a:latin typeface="Times New Roman"/>
                <a:cs typeface="Times New Roman"/>
              </a:rPr>
              <a:t>After finalizing</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PCB</a:t>
            </a:r>
            <a:r>
              <a:rPr sz="1200" spc="10" dirty="0">
                <a:latin typeface="Times New Roman"/>
                <a:cs typeface="Times New Roman"/>
              </a:rPr>
              <a:t> </a:t>
            </a:r>
            <a:r>
              <a:rPr sz="1200" dirty="0">
                <a:latin typeface="Times New Roman"/>
                <a:cs typeface="Times New Roman"/>
              </a:rPr>
              <a:t>layout,</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design</a:t>
            </a:r>
            <a:r>
              <a:rPr sz="1200" spc="10" dirty="0">
                <a:latin typeface="Times New Roman"/>
                <a:cs typeface="Times New Roman"/>
              </a:rPr>
              <a:t> </a:t>
            </a:r>
            <a:r>
              <a:rPr sz="1200" dirty="0">
                <a:latin typeface="Times New Roman"/>
                <a:cs typeface="Times New Roman"/>
              </a:rPr>
              <a:t>was</a:t>
            </a:r>
            <a:r>
              <a:rPr sz="1200" spc="10" dirty="0">
                <a:latin typeface="Times New Roman"/>
                <a:cs typeface="Times New Roman"/>
              </a:rPr>
              <a:t> </a:t>
            </a:r>
            <a:r>
              <a:rPr sz="1200" dirty="0">
                <a:latin typeface="Times New Roman"/>
                <a:cs typeface="Times New Roman"/>
              </a:rPr>
              <a:t>printed</a:t>
            </a:r>
            <a:r>
              <a:rPr sz="1200" spc="5" dirty="0">
                <a:latin typeface="Times New Roman"/>
                <a:cs typeface="Times New Roman"/>
              </a:rPr>
              <a:t> </a:t>
            </a:r>
            <a:r>
              <a:rPr sz="1200" dirty="0">
                <a:latin typeface="Times New Roman"/>
                <a:cs typeface="Times New Roman"/>
              </a:rPr>
              <a:t>on</a:t>
            </a:r>
            <a:r>
              <a:rPr sz="1200" spc="5" dirty="0">
                <a:latin typeface="Times New Roman"/>
                <a:cs typeface="Times New Roman"/>
              </a:rPr>
              <a:t> </a:t>
            </a:r>
            <a:r>
              <a:rPr sz="1200" dirty="0">
                <a:latin typeface="Times New Roman"/>
                <a:cs typeface="Times New Roman"/>
              </a:rPr>
              <a:t>GSM</a:t>
            </a:r>
            <a:r>
              <a:rPr sz="1200" spc="10" dirty="0">
                <a:latin typeface="Times New Roman"/>
                <a:cs typeface="Times New Roman"/>
              </a:rPr>
              <a:t> </a:t>
            </a:r>
            <a:r>
              <a:rPr sz="1200" dirty="0">
                <a:latin typeface="Times New Roman"/>
                <a:cs typeface="Times New Roman"/>
              </a:rPr>
              <a:t>paper</a:t>
            </a:r>
            <a:r>
              <a:rPr sz="1200" spc="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transferred</a:t>
            </a:r>
            <a:r>
              <a:rPr sz="1200" spc="5" dirty="0">
                <a:latin typeface="Times New Roman"/>
                <a:cs typeface="Times New Roman"/>
              </a:rPr>
              <a:t> </a:t>
            </a:r>
            <a:r>
              <a:rPr sz="1200" dirty="0">
                <a:latin typeface="Times New Roman"/>
                <a:cs typeface="Times New Roman"/>
              </a:rPr>
              <a:t>onto</a:t>
            </a:r>
            <a:r>
              <a:rPr sz="1200" spc="20" dirty="0">
                <a:latin typeface="Times New Roman"/>
                <a:cs typeface="Times New Roman"/>
              </a:rPr>
              <a:t> </a:t>
            </a:r>
            <a:r>
              <a:rPr sz="1200" spc="-50" dirty="0">
                <a:latin typeface="Times New Roman"/>
                <a:cs typeface="Times New Roman"/>
              </a:rPr>
              <a:t>a </a:t>
            </a:r>
            <a:r>
              <a:rPr sz="1200" spc="-10" dirty="0">
                <a:latin typeface="Times New Roman"/>
                <a:cs typeface="Times New Roman"/>
              </a:rPr>
              <a:t>copper-</a:t>
            </a:r>
            <a:r>
              <a:rPr sz="1200" dirty="0">
                <a:latin typeface="Times New Roman"/>
                <a:cs typeface="Times New Roman"/>
              </a:rPr>
              <a:t>clad</a:t>
            </a:r>
            <a:r>
              <a:rPr sz="1200" spc="5" dirty="0">
                <a:latin typeface="Times New Roman"/>
                <a:cs typeface="Times New Roman"/>
              </a:rPr>
              <a:t> </a:t>
            </a:r>
            <a:r>
              <a:rPr sz="1200" dirty="0">
                <a:latin typeface="Times New Roman"/>
                <a:cs typeface="Times New Roman"/>
              </a:rPr>
              <a:t>PCB</a:t>
            </a:r>
            <a:r>
              <a:rPr sz="1200" spc="10" dirty="0">
                <a:latin typeface="Times New Roman"/>
                <a:cs typeface="Times New Roman"/>
              </a:rPr>
              <a:t> </a:t>
            </a:r>
            <a:r>
              <a:rPr sz="1200" dirty="0">
                <a:latin typeface="Times New Roman"/>
                <a:cs typeface="Times New Roman"/>
              </a:rPr>
              <a:t>using the</a:t>
            </a:r>
            <a:r>
              <a:rPr sz="1200" spc="5" dirty="0">
                <a:latin typeface="Times New Roman"/>
                <a:cs typeface="Times New Roman"/>
              </a:rPr>
              <a:t> </a:t>
            </a:r>
            <a:r>
              <a:rPr sz="1200" dirty="0">
                <a:latin typeface="Times New Roman"/>
                <a:cs typeface="Times New Roman"/>
              </a:rPr>
              <a:t>toner</a:t>
            </a:r>
            <a:r>
              <a:rPr sz="1200" spc="5" dirty="0">
                <a:latin typeface="Times New Roman"/>
                <a:cs typeface="Times New Roman"/>
              </a:rPr>
              <a:t> </a:t>
            </a:r>
            <a:r>
              <a:rPr sz="1200" dirty="0">
                <a:latin typeface="Times New Roman"/>
                <a:cs typeface="Times New Roman"/>
              </a:rPr>
              <a:t>transfer</a:t>
            </a:r>
            <a:r>
              <a:rPr sz="1200" spc="5" dirty="0">
                <a:latin typeface="Times New Roman"/>
                <a:cs typeface="Times New Roman"/>
              </a:rPr>
              <a:t> </a:t>
            </a:r>
            <a:r>
              <a:rPr sz="1200" dirty="0">
                <a:latin typeface="Times New Roman"/>
                <a:cs typeface="Times New Roman"/>
              </a:rPr>
              <a:t>method.</a:t>
            </a:r>
            <a:r>
              <a:rPr sz="1200" spc="5" dirty="0">
                <a:latin typeface="Times New Roman"/>
                <a:cs typeface="Times New Roman"/>
              </a:rPr>
              <a:t> </a:t>
            </a:r>
            <a:r>
              <a:rPr sz="1200" dirty="0">
                <a:latin typeface="Times New Roman"/>
                <a:cs typeface="Times New Roman"/>
              </a:rPr>
              <a:t>The board</a:t>
            </a:r>
            <a:r>
              <a:rPr sz="1200" spc="10" dirty="0">
                <a:latin typeface="Times New Roman"/>
                <a:cs typeface="Times New Roman"/>
              </a:rPr>
              <a:t> </a:t>
            </a:r>
            <a:r>
              <a:rPr sz="1200" dirty="0">
                <a:latin typeface="Times New Roman"/>
                <a:cs typeface="Times New Roman"/>
              </a:rPr>
              <a:t>was</a:t>
            </a:r>
            <a:r>
              <a:rPr sz="1200" spc="10" dirty="0">
                <a:latin typeface="Times New Roman"/>
                <a:cs typeface="Times New Roman"/>
              </a:rPr>
              <a:t> </a:t>
            </a:r>
            <a:r>
              <a:rPr sz="1200" dirty="0">
                <a:latin typeface="Times New Roman"/>
                <a:cs typeface="Times New Roman"/>
              </a:rPr>
              <a:t>etched</a:t>
            </a:r>
            <a:r>
              <a:rPr sz="1200" spc="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remove</a:t>
            </a:r>
            <a:r>
              <a:rPr sz="1200" spc="5" dirty="0">
                <a:latin typeface="Times New Roman"/>
                <a:cs typeface="Times New Roman"/>
              </a:rPr>
              <a:t> </a:t>
            </a:r>
            <a:r>
              <a:rPr sz="1200" spc="-10" dirty="0">
                <a:latin typeface="Times New Roman"/>
                <a:cs typeface="Times New Roman"/>
              </a:rPr>
              <a:t>unwanted </a:t>
            </a:r>
            <a:r>
              <a:rPr sz="1200" dirty="0">
                <a:latin typeface="Times New Roman"/>
                <a:cs typeface="Times New Roman"/>
              </a:rPr>
              <a:t>copper,</a:t>
            </a:r>
            <a:r>
              <a:rPr sz="1200" spc="-25" dirty="0">
                <a:latin typeface="Times New Roman"/>
                <a:cs typeface="Times New Roman"/>
              </a:rPr>
              <a:t> </a:t>
            </a:r>
            <a:r>
              <a:rPr sz="1200" dirty="0">
                <a:latin typeface="Times New Roman"/>
                <a:cs typeface="Times New Roman"/>
              </a:rPr>
              <a:t>followed</a:t>
            </a:r>
            <a:r>
              <a:rPr sz="1200" spc="-2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drilling</a:t>
            </a:r>
            <a:r>
              <a:rPr sz="1200" spc="-20" dirty="0">
                <a:latin typeface="Times New Roman"/>
                <a:cs typeface="Times New Roman"/>
              </a:rPr>
              <a:t> </a:t>
            </a:r>
            <a:r>
              <a:rPr sz="1200" dirty="0">
                <a:latin typeface="Times New Roman"/>
                <a:cs typeface="Times New Roman"/>
              </a:rPr>
              <a:t>holes</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spc="-10" dirty="0">
                <a:latin typeface="Times New Roman"/>
                <a:cs typeface="Times New Roman"/>
              </a:rPr>
              <a:t>component</a:t>
            </a:r>
            <a:r>
              <a:rPr sz="1200" spc="-35" dirty="0">
                <a:latin typeface="Times New Roman"/>
                <a:cs typeface="Times New Roman"/>
              </a:rPr>
              <a:t> </a:t>
            </a:r>
            <a:r>
              <a:rPr sz="1200" dirty="0">
                <a:latin typeface="Times New Roman"/>
                <a:cs typeface="Times New Roman"/>
              </a:rPr>
              <a:t>mounting.</a:t>
            </a:r>
            <a:r>
              <a:rPr sz="1200" spc="-25" dirty="0">
                <a:latin typeface="Times New Roman"/>
                <a:cs typeface="Times New Roman"/>
              </a:rPr>
              <a:t> </a:t>
            </a:r>
            <a:r>
              <a:rPr sz="1200" dirty="0">
                <a:latin typeface="Times New Roman"/>
                <a:cs typeface="Times New Roman"/>
              </a:rPr>
              <a:t>All</a:t>
            </a:r>
            <a:r>
              <a:rPr sz="1200" spc="-35" dirty="0">
                <a:latin typeface="Times New Roman"/>
                <a:cs typeface="Times New Roman"/>
              </a:rPr>
              <a:t> </a:t>
            </a:r>
            <a:r>
              <a:rPr sz="1200" spc="-10" dirty="0">
                <a:latin typeface="Times New Roman"/>
                <a:cs typeface="Times New Roman"/>
              </a:rPr>
              <a:t>components</a:t>
            </a:r>
            <a:r>
              <a:rPr sz="1200" spc="-25" dirty="0">
                <a:latin typeface="Times New Roman"/>
                <a:cs typeface="Times New Roman"/>
              </a:rPr>
              <a:t> </a:t>
            </a:r>
            <a:r>
              <a:rPr sz="1200" dirty="0">
                <a:latin typeface="Times New Roman"/>
                <a:cs typeface="Times New Roman"/>
              </a:rPr>
              <a:t>were</a:t>
            </a:r>
            <a:r>
              <a:rPr sz="1200" spc="-35" dirty="0">
                <a:latin typeface="Times New Roman"/>
                <a:cs typeface="Times New Roman"/>
              </a:rPr>
              <a:t> </a:t>
            </a:r>
            <a:r>
              <a:rPr sz="1200" dirty="0">
                <a:latin typeface="Times New Roman"/>
                <a:cs typeface="Times New Roman"/>
              </a:rPr>
              <a:t>then</a:t>
            </a:r>
            <a:r>
              <a:rPr sz="1200" spc="-25" dirty="0">
                <a:latin typeface="Times New Roman"/>
                <a:cs typeface="Times New Roman"/>
              </a:rPr>
              <a:t> </a:t>
            </a:r>
            <a:r>
              <a:rPr sz="1200" spc="-10" dirty="0">
                <a:latin typeface="Times New Roman"/>
                <a:cs typeface="Times New Roman"/>
              </a:rPr>
              <a:t>placed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soldered</a:t>
            </a:r>
            <a:r>
              <a:rPr sz="1200" spc="-15" dirty="0">
                <a:latin typeface="Times New Roman"/>
                <a:cs typeface="Times New Roman"/>
              </a:rPr>
              <a:t> </a:t>
            </a:r>
            <a:r>
              <a:rPr sz="1200" dirty="0">
                <a:latin typeface="Times New Roman"/>
                <a:cs typeface="Times New Roman"/>
              </a:rPr>
              <a:t>carefully,</a:t>
            </a:r>
            <a:r>
              <a:rPr sz="1200" spc="-20" dirty="0">
                <a:latin typeface="Times New Roman"/>
                <a:cs typeface="Times New Roman"/>
              </a:rPr>
              <a:t> </a:t>
            </a:r>
            <a:r>
              <a:rPr sz="1200" dirty="0">
                <a:latin typeface="Times New Roman"/>
                <a:cs typeface="Times New Roman"/>
              </a:rPr>
              <a:t>using</a:t>
            </a:r>
            <a:r>
              <a:rPr sz="1200" spc="-25" dirty="0">
                <a:latin typeface="Times New Roman"/>
                <a:cs typeface="Times New Roman"/>
              </a:rPr>
              <a:t> </a:t>
            </a:r>
            <a:r>
              <a:rPr sz="1200" dirty="0">
                <a:latin typeface="Times New Roman"/>
                <a:cs typeface="Times New Roman"/>
              </a:rPr>
              <a:t>IC</a:t>
            </a:r>
            <a:r>
              <a:rPr sz="1200" spc="-20" dirty="0">
                <a:latin typeface="Times New Roman"/>
                <a:cs typeface="Times New Roman"/>
              </a:rPr>
              <a:t> </a:t>
            </a:r>
            <a:r>
              <a:rPr sz="1200" dirty="0">
                <a:latin typeface="Times New Roman"/>
                <a:cs typeface="Times New Roman"/>
              </a:rPr>
              <a:t>sockets</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protect</a:t>
            </a:r>
            <a:r>
              <a:rPr sz="1200" spc="-1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flip-</a:t>
            </a:r>
            <a:r>
              <a:rPr sz="1200" dirty="0">
                <a:latin typeface="Times New Roman"/>
                <a:cs typeface="Times New Roman"/>
              </a:rPr>
              <a:t>flops</a:t>
            </a:r>
            <a:r>
              <a:rPr sz="1200" spc="-25"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heat</a:t>
            </a:r>
            <a:r>
              <a:rPr sz="1200" spc="-20" dirty="0">
                <a:latin typeface="Times New Roman"/>
                <a:cs typeface="Times New Roman"/>
              </a:rPr>
              <a:t> </a:t>
            </a:r>
            <a:r>
              <a:rPr sz="1200" spc="-10" dirty="0">
                <a:latin typeface="Times New Roman"/>
                <a:cs typeface="Times New Roman"/>
              </a:rPr>
              <a:t>damage.</a:t>
            </a:r>
            <a:endParaRPr sz="1200">
              <a:latin typeface="Times New Roman"/>
              <a:cs typeface="Times New Roman"/>
            </a:endParaRPr>
          </a:p>
          <a:p>
            <a:pPr>
              <a:lnSpc>
                <a:spcPct val="100000"/>
              </a:lnSpc>
              <a:spcBef>
                <a:spcPts val="25"/>
              </a:spcBef>
            </a:pPr>
            <a:endParaRPr sz="1200">
              <a:latin typeface="Times New Roman"/>
              <a:cs typeface="Times New Roman"/>
            </a:endParaRPr>
          </a:p>
          <a:p>
            <a:pPr marL="12700" marR="10160" algn="just">
              <a:lnSpc>
                <a:spcPts val="1380"/>
              </a:lnSpc>
            </a:pPr>
            <a:r>
              <a:rPr sz="1200" dirty="0">
                <a:latin typeface="Times New Roman"/>
                <a:cs typeface="Times New Roman"/>
              </a:rPr>
              <a:t>Finally,</a:t>
            </a:r>
            <a:r>
              <a:rPr sz="1200" spc="80" dirty="0">
                <a:latin typeface="Times New Roman"/>
                <a:cs typeface="Times New Roman"/>
              </a:rPr>
              <a:t>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circuit</a:t>
            </a:r>
            <a:r>
              <a:rPr sz="1200" spc="85" dirty="0">
                <a:latin typeface="Times New Roman"/>
                <a:cs typeface="Times New Roman"/>
              </a:rPr>
              <a:t> </a:t>
            </a:r>
            <a:r>
              <a:rPr sz="1200" dirty="0">
                <a:latin typeface="Times New Roman"/>
                <a:cs typeface="Times New Roman"/>
              </a:rPr>
              <a:t>was</a:t>
            </a:r>
            <a:r>
              <a:rPr sz="1200" spc="80" dirty="0">
                <a:latin typeface="Times New Roman"/>
                <a:cs typeface="Times New Roman"/>
              </a:rPr>
              <a:t> </a:t>
            </a:r>
            <a:r>
              <a:rPr sz="1200" dirty="0">
                <a:latin typeface="Times New Roman"/>
                <a:cs typeface="Times New Roman"/>
              </a:rPr>
              <a:t>tested</a:t>
            </a:r>
            <a:r>
              <a:rPr sz="1200" spc="85" dirty="0">
                <a:latin typeface="Times New Roman"/>
                <a:cs typeface="Times New Roman"/>
              </a:rPr>
              <a:t> </a:t>
            </a:r>
            <a:r>
              <a:rPr sz="1200" dirty="0">
                <a:latin typeface="Times New Roman"/>
                <a:cs typeface="Times New Roman"/>
              </a:rPr>
              <a:t>by</a:t>
            </a:r>
            <a:r>
              <a:rPr sz="1200" spc="80" dirty="0">
                <a:latin typeface="Times New Roman"/>
                <a:cs typeface="Times New Roman"/>
              </a:rPr>
              <a:t> </a:t>
            </a:r>
            <a:r>
              <a:rPr sz="1200" dirty="0">
                <a:latin typeface="Times New Roman"/>
                <a:cs typeface="Times New Roman"/>
              </a:rPr>
              <a:t>applying</a:t>
            </a:r>
            <a:r>
              <a:rPr sz="1200" spc="85" dirty="0">
                <a:latin typeface="Times New Roman"/>
                <a:cs typeface="Times New Roman"/>
              </a:rPr>
              <a:t> </a:t>
            </a:r>
            <a:r>
              <a:rPr sz="1200" dirty="0">
                <a:latin typeface="Times New Roman"/>
                <a:cs typeface="Times New Roman"/>
              </a:rPr>
              <a:t>DC</a:t>
            </a:r>
            <a:r>
              <a:rPr sz="1200" spc="80" dirty="0">
                <a:latin typeface="Times New Roman"/>
                <a:cs typeface="Times New Roman"/>
              </a:rPr>
              <a:t> </a:t>
            </a:r>
            <a:r>
              <a:rPr sz="1200" dirty="0">
                <a:latin typeface="Times New Roman"/>
                <a:cs typeface="Times New Roman"/>
              </a:rPr>
              <a:t>power</a:t>
            </a:r>
            <a:r>
              <a:rPr sz="1200" spc="80" dirty="0">
                <a:latin typeface="Times New Roman"/>
                <a:cs typeface="Times New Roman"/>
              </a:rPr>
              <a:t> </a:t>
            </a:r>
            <a:r>
              <a:rPr sz="1200" dirty="0">
                <a:latin typeface="Times New Roman"/>
                <a:cs typeface="Times New Roman"/>
              </a:rPr>
              <a:t>and</a:t>
            </a:r>
            <a:r>
              <a:rPr sz="1200" spc="85" dirty="0">
                <a:latin typeface="Times New Roman"/>
                <a:cs typeface="Times New Roman"/>
              </a:rPr>
              <a:t> </a:t>
            </a:r>
            <a:r>
              <a:rPr sz="1200" dirty="0">
                <a:latin typeface="Times New Roman"/>
                <a:cs typeface="Times New Roman"/>
              </a:rPr>
              <a:t>generating</a:t>
            </a:r>
            <a:r>
              <a:rPr sz="1200" spc="80" dirty="0">
                <a:latin typeface="Times New Roman"/>
                <a:cs typeface="Times New Roman"/>
              </a:rPr>
              <a:t> </a:t>
            </a:r>
            <a:r>
              <a:rPr sz="1200" dirty="0">
                <a:latin typeface="Times New Roman"/>
                <a:cs typeface="Times New Roman"/>
              </a:rPr>
              <a:t>clock</a:t>
            </a:r>
            <a:r>
              <a:rPr sz="1200" spc="80" dirty="0">
                <a:latin typeface="Times New Roman"/>
                <a:cs typeface="Times New Roman"/>
              </a:rPr>
              <a:t> </a:t>
            </a:r>
            <a:r>
              <a:rPr sz="1200" dirty="0">
                <a:latin typeface="Times New Roman"/>
                <a:cs typeface="Times New Roman"/>
              </a:rPr>
              <a:t>pulses</a:t>
            </a:r>
            <a:r>
              <a:rPr sz="1200" spc="80" dirty="0">
                <a:latin typeface="Times New Roman"/>
                <a:cs typeface="Times New Roman"/>
              </a:rPr>
              <a:t> </a:t>
            </a:r>
            <a:r>
              <a:rPr sz="1200" dirty="0">
                <a:latin typeface="Times New Roman"/>
                <a:cs typeface="Times New Roman"/>
              </a:rPr>
              <a:t>using</a:t>
            </a:r>
            <a:r>
              <a:rPr sz="1200" spc="85" dirty="0">
                <a:latin typeface="Times New Roman"/>
                <a:cs typeface="Times New Roman"/>
              </a:rPr>
              <a:t> </a:t>
            </a:r>
            <a:r>
              <a:rPr sz="1200" spc="-25" dirty="0">
                <a:latin typeface="Times New Roman"/>
                <a:cs typeface="Times New Roman"/>
              </a:rPr>
              <a:t>the </a:t>
            </a:r>
            <a:r>
              <a:rPr sz="1200" dirty="0">
                <a:latin typeface="Times New Roman"/>
                <a:cs typeface="Times New Roman"/>
              </a:rPr>
              <a:t>push</a:t>
            </a:r>
            <a:r>
              <a:rPr sz="1200" spc="400" dirty="0">
                <a:latin typeface="Times New Roman"/>
                <a:cs typeface="Times New Roman"/>
              </a:rPr>
              <a:t> </a:t>
            </a:r>
            <a:r>
              <a:rPr sz="1200" dirty="0">
                <a:latin typeface="Times New Roman"/>
                <a:cs typeface="Times New Roman"/>
              </a:rPr>
              <a:t>button.</a:t>
            </a:r>
            <a:r>
              <a:rPr sz="1200" spc="405" dirty="0">
                <a:latin typeface="Times New Roman"/>
                <a:cs typeface="Times New Roman"/>
              </a:rPr>
              <a:t> </a:t>
            </a:r>
            <a:r>
              <a:rPr sz="1200" dirty="0">
                <a:latin typeface="Times New Roman"/>
                <a:cs typeface="Times New Roman"/>
              </a:rPr>
              <a:t>The</a:t>
            </a:r>
            <a:r>
              <a:rPr sz="1200" spc="400" dirty="0">
                <a:latin typeface="Times New Roman"/>
                <a:cs typeface="Times New Roman"/>
              </a:rPr>
              <a:t> </a:t>
            </a:r>
            <a:r>
              <a:rPr sz="1200" dirty="0">
                <a:latin typeface="Times New Roman"/>
                <a:cs typeface="Times New Roman"/>
              </a:rPr>
              <a:t>sequential</a:t>
            </a:r>
            <a:r>
              <a:rPr sz="1200" spc="400" dirty="0">
                <a:latin typeface="Times New Roman"/>
                <a:cs typeface="Times New Roman"/>
              </a:rPr>
              <a:t> </a:t>
            </a:r>
            <a:r>
              <a:rPr sz="1200" dirty="0">
                <a:latin typeface="Times New Roman"/>
                <a:cs typeface="Times New Roman"/>
              </a:rPr>
              <a:t>glowing</a:t>
            </a:r>
            <a:r>
              <a:rPr sz="1200" spc="405" dirty="0">
                <a:latin typeface="Times New Roman"/>
                <a:cs typeface="Times New Roman"/>
              </a:rPr>
              <a:t> </a:t>
            </a:r>
            <a:r>
              <a:rPr sz="1200" dirty="0">
                <a:latin typeface="Times New Roman"/>
                <a:cs typeface="Times New Roman"/>
              </a:rPr>
              <a:t>of</a:t>
            </a:r>
            <a:r>
              <a:rPr sz="1200" spc="409" dirty="0">
                <a:latin typeface="Times New Roman"/>
                <a:cs typeface="Times New Roman"/>
              </a:rPr>
              <a:t> </a:t>
            </a:r>
            <a:r>
              <a:rPr sz="1200" dirty="0">
                <a:latin typeface="Times New Roman"/>
                <a:cs typeface="Times New Roman"/>
              </a:rPr>
              <a:t>LEDs</a:t>
            </a:r>
            <a:r>
              <a:rPr sz="1200" spc="400" dirty="0">
                <a:latin typeface="Times New Roman"/>
                <a:cs typeface="Times New Roman"/>
              </a:rPr>
              <a:t> </a:t>
            </a:r>
            <a:r>
              <a:rPr sz="1200" dirty="0">
                <a:latin typeface="Times New Roman"/>
                <a:cs typeface="Times New Roman"/>
              </a:rPr>
              <a:t>confirmed</a:t>
            </a:r>
            <a:r>
              <a:rPr sz="1200" spc="409" dirty="0">
                <a:latin typeface="Times New Roman"/>
                <a:cs typeface="Times New Roman"/>
              </a:rPr>
              <a:t> </a:t>
            </a:r>
            <a:r>
              <a:rPr sz="1200" dirty="0">
                <a:latin typeface="Times New Roman"/>
                <a:cs typeface="Times New Roman"/>
              </a:rPr>
              <a:t>the</a:t>
            </a:r>
            <a:r>
              <a:rPr sz="1200" spc="415" dirty="0">
                <a:latin typeface="Times New Roman"/>
                <a:cs typeface="Times New Roman"/>
              </a:rPr>
              <a:t> </a:t>
            </a:r>
            <a:r>
              <a:rPr sz="1200" dirty="0">
                <a:latin typeface="Times New Roman"/>
                <a:cs typeface="Times New Roman"/>
              </a:rPr>
              <a:t>correct</a:t>
            </a:r>
            <a:r>
              <a:rPr sz="1200" spc="405" dirty="0">
                <a:latin typeface="Times New Roman"/>
                <a:cs typeface="Times New Roman"/>
              </a:rPr>
              <a:t> </a:t>
            </a:r>
            <a:r>
              <a:rPr sz="1200" dirty="0">
                <a:latin typeface="Times New Roman"/>
                <a:cs typeface="Times New Roman"/>
              </a:rPr>
              <a:t>working</a:t>
            </a:r>
            <a:r>
              <a:rPr sz="1200" spc="400" dirty="0">
                <a:latin typeface="Times New Roman"/>
                <a:cs typeface="Times New Roman"/>
              </a:rPr>
              <a:t> </a:t>
            </a:r>
            <a:r>
              <a:rPr sz="1200" dirty="0">
                <a:latin typeface="Times New Roman"/>
                <a:cs typeface="Times New Roman"/>
              </a:rPr>
              <a:t>of</a:t>
            </a:r>
            <a:r>
              <a:rPr sz="1200" spc="409" dirty="0">
                <a:latin typeface="Times New Roman"/>
                <a:cs typeface="Times New Roman"/>
              </a:rPr>
              <a:t> </a:t>
            </a:r>
            <a:r>
              <a:rPr sz="1200" spc="-25" dirty="0">
                <a:latin typeface="Times New Roman"/>
                <a:cs typeface="Times New Roman"/>
              </a:rPr>
              <a:t>the </a:t>
            </a:r>
            <a:r>
              <a:rPr sz="1200" dirty="0">
                <a:latin typeface="Times New Roman"/>
                <a:cs typeface="Times New Roman"/>
              </a:rPr>
              <a:t>synchronous</a:t>
            </a:r>
            <a:r>
              <a:rPr sz="1200" spc="-50" dirty="0">
                <a:latin typeface="Times New Roman"/>
                <a:cs typeface="Times New Roman"/>
              </a:rPr>
              <a:t> </a:t>
            </a:r>
            <a:r>
              <a:rPr sz="1200" dirty="0">
                <a:latin typeface="Times New Roman"/>
                <a:cs typeface="Times New Roman"/>
              </a:rPr>
              <a:t>ring</a:t>
            </a:r>
            <a:r>
              <a:rPr sz="1200" spc="-40" dirty="0">
                <a:latin typeface="Times New Roman"/>
                <a:cs typeface="Times New Roman"/>
              </a:rPr>
              <a:t> </a:t>
            </a:r>
            <a:r>
              <a:rPr sz="1200" spc="-10" dirty="0">
                <a:latin typeface="Times New Roman"/>
                <a:cs typeface="Times New Roman"/>
              </a:rPr>
              <a:t>counter.</a:t>
            </a:r>
            <a:endParaRPr sz="1200">
              <a:latin typeface="Times New Roman"/>
              <a:cs typeface="Times New Roman"/>
            </a:endParaRPr>
          </a:p>
        </p:txBody>
      </p:sp>
      <p:pic>
        <p:nvPicPr>
          <p:cNvPr id="5" name="object 5"/>
          <p:cNvPicPr/>
          <p:nvPr/>
        </p:nvPicPr>
        <p:blipFill>
          <a:blip r:embed="rId2" cstate="print"/>
          <a:stretch>
            <a:fillRect/>
          </a:stretch>
        </p:blipFill>
        <p:spPr>
          <a:xfrm>
            <a:off x="912494" y="1181099"/>
            <a:ext cx="2607310" cy="2373629"/>
          </a:xfrm>
          <a:prstGeom prst="rect">
            <a:avLst/>
          </a:prstGeom>
        </p:spPr>
      </p:pic>
      <p:pic>
        <p:nvPicPr>
          <p:cNvPr id="6" name="object 6"/>
          <p:cNvPicPr/>
          <p:nvPr/>
        </p:nvPicPr>
        <p:blipFill>
          <a:blip r:embed="rId3" cstate="print"/>
          <a:stretch>
            <a:fillRect/>
          </a:stretch>
        </p:blipFill>
        <p:spPr>
          <a:xfrm>
            <a:off x="3975058" y="1323769"/>
            <a:ext cx="2448198" cy="1976640"/>
          </a:xfrm>
          <a:prstGeom prst="rect">
            <a:avLst/>
          </a:prstGeom>
        </p:spPr>
      </p:pic>
      <p:sp>
        <p:nvSpPr>
          <p:cNvPr id="7" name="object 7"/>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14</a:t>
            </a:fld>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88235" y="4573650"/>
            <a:ext cx="29070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Fig</a:t>
            </a:r>
            <a:r>
              <a:rPr sz="1200" spc="-10" dirty="0">
                <a:latin typeface="Times New Roman"/>
                <a:cs typeface="Times New Roman"/>
              </a:rPr>
              <a:t> </a:t>
            </a:r>
            <a:r>
              <a:rPr sz="1200" dirty="0">
                <a:latin typeface="Times New Roman"/>
                <a:cs typeface="Times New Roman"/>
              </a:rPr>
              <a:t>18:</a:t>
            </a:r>
            <a:r>
              <a:rPr sz="1200" spc="-10" dirty="0">
                <a:latin typeface="Times New Roman"/>
                <a:cs typeface="Times New Roman"/>
              </a:rPr>
              <a:t> </a:t>
            </a:r>
            <a:r>
              <a:rPr sz="1200" dirty="0">
                <a:latin typeface="Times New Roman"/>
                <a:cs typeface="Times New Roman"/>
              </a:rPr>
              <a:t>Project </a:t>
            </a:r>
            <a:r>
              <a:rPr sz="1200" spc="-10" dirty="0">
                <a:latin typeface="Times New Roman"/>
                <a:cs typeface="Times New Roman"/>
              </a:rPr>
              <a:t>Implementation</a:t>
            </a:r>
            <a:r>
              <a:rPr sz="1200" spc="-5" dirty="0">
                <a:latin typeface="Times New Roman"/>
                <a:cs typeface="Times New Roman"/>
              </a:rPr>
              <a:t> </a:t>
            </a:r>
            <a:r>
              <a:rPr sz="1200" dirty="0">
                <a:latin typeface="Times New Roman"/>
                <a:cs typeface="Times New Roman"/>
              </a:rPr>
              <a:t>Block</a:t>
            </a:r>
            <a:r>
              <a:rPr sz="1200" spc="-10" dirty="0">
                <a:latin typeface="Times New Roman"/>
                <a:cs typeface="Times New Roman"/>
              </a:rPr>
              <a:t> Diagram</a:t>
            </a:r>
            <a:endParaRPr sz="1200">
              <a:latin typeface="Times New Roman"/>
              <a:cs typeface="Times New Roman"/>
            </a:endParaRPr>
          </a:p>
        </p:txBody>
      </p:sp>
      <p:sp>
        <p:nvSpPr>
          <p:cNvPr id="3" name="object 3"/>
          <p:cNvSpPr txBox="1"/>
          <p:nvPr/>
        </p:nvSpPr>
        <p:spPr>
          <a:xfrm>
            <a:off x="902004" y="5239892"/>
            <a:ext cx="5758815" cy="345186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8.</a:t>
            </a:r>
            <a:r>
              <a:rPr sz="1600" b="1" spc="170" dirty="0">
                <a:latin typeface="Times New Roman"/>
                <a:cs typeface="Times New Roman"/>
              </a:rPr>
              <a:t> </a:t>
            </a:r>
            <a:r>
              <a:rPr sz="1600" b="1" dirty="0">
                <a:latin typeface="Times New Roman"/>
                <a:cs typeface="Times New Roman"/>
              </a:rPr>
              <a:t>LEARNING</a:t>
            </a:r>
            <a:r>
              <a:rPr sz="1600" b="1" spc="-5" dirty="0">
                <a:latin typeface="Times New Roman"/>
                <a:cs typeface="Times New Roman"/>
              </a:rPr>
              <a:t> </a:t>
            </a:r>
            <a:r>
              <a:rPr sz="1600" b="1" spc="-10" dirty="0">
                <a:latin typeface="Times New Roman"/>
                <a:cs typeface="Times New Roman"/>
              </a:rPr>
              <a:t>OUTCOME</a:t>
            </a:r>
            <a:endParaRPr sz="1600">
              <a:latin typeface="Times New Roman"/>
              <a:cs typeface="Times New Roman"/>
            </a:endParaRPr>
          </a:p>
          <a:p>
            <a:pPr marL="12700" marR="5080" algn="just">
              <a:lnSpc>
                <a:spcPct val="95700"/>
              </a:lnSpc>
              <a:spcBef>
                <a:spcPts val="1565"/>
              </a:spcBef>
            </a:pPr>
            <a:r>
              <a:rPr sz="1200" dirty="0">
                <a:latin typeface="Times New Roman"/>
                <a:cs typeface="Times New Roman"/>
              </a:rPr>
              <a:t>Through</a:t>
            </a:r>
            <a:r>
              <a:rPr sz="1200" spc="110" dirty="0">
                <a:latin typeface="Times New Roman"/>
                <a:cs typeface="Times New Roman"/>
              </a:rPr>
              <a:t> </a:t>
            </a:r>
            <a:r>
              <a:rPr sz="1200" dirty="0">
                <a:latin typeface="Times New Roman"/>
                <a:cs typeface="Times New Roman"/>
              </a:rPr>
              <a:t>this</a:t>
            </a:r>
            <a:r>
              <a:rPr sz="1200" spc="110" dirty="0">
                <a:latin typeface="Times New Roman"/>
                <a:cs typeface="Times New Roman"/>
              </a:rPr>
              <a:t> </a:t>
            </a:r>
            <a:r>
              <a:rPr sz="1200" dirty="0">
                <a:latin typeface="Times New Roman"/>
                <a:cs typeface="Times New Roman"/>
              </a:rPr>
              <a:t>project,</a:t>
            </a:r>
            <a:r>
              <a:rPr sz="1200" spc="110" dirty="0">
                <a:latin typeface="Times New Roman"/>
                <a:cs typeface="Times New Roman"/>
              </a:rPr>
              <a:t> </a:t>
            </a:r>
            <a:r>
              <a:rPr sz="1200" dirty="0">
                <a:latin typeface="Times New Roman"/>
                <a:cs typeface="Times New Roman"/>
              </a:rPr>
              <a:t>a</a:t>
            </a:r>
            <a:r>
              <a:rPr sz="1200" spc="100" dirty="0">
                <a:latin typeface="Times New Roman"/>
                <a:cs typeface="Times New Roman"/>
              </a:rPr>
              <a:t> </a:t>
            </a:r>
            <a:r>
              <a:rPr sz="1200" dirty="0">
                <a:latin typeface="Times New Roman"/>
                <a:cs typeface="Times New Roman"/>
              </a:rPr>
              <a:t>clear</a:t>
            </a:r>
            <a:r>
              <a:rPr sz="1200" spc="105" dirty="0">
                <a:latin typeface="Times New Roman"/>
                <a:cs typeface="Times New Roman"/>
              </a:rPr>
              <a:t> </a:t>
            </a:r>
            <a:r>
              <a:rPr sz="1200" dirty="0">
                <a:latin typeface="Times New Roman"/>
                <a:cs typeface="Times New Roman"/>
              </a:rPr>
              <a:t>understanding</a:t>
            </a:r>
            <a:r>
              <a:rPr sz="1200" spc="114" dirty="0">
                <a:latin typeface="Times New Roman"/>
                <a:cs typeface="Times New Roman"/>
              </a:rPr>
              <a:t> </a:t>
            </a:r>
            <a:r>
              <a:rPr sz="1200" dirty="0">
                <a:latin typeface="Times New Roman"/>
                <a:cs typeface="Times New Roman"/>
              </a:rPr>
              <a:t>of</a:t>
            </a:r>
            <a:r>
              <a:rPr sz="1200" spc="105" dirty="0">
                <a:latin typeface="Times New Roman"/>
                <a:cs typeface="Times New Roman"/>
              </a:rPr>
              <a:t> </a:t>
            </a:r>
            <a:r>
              <a:rPr sz="1200" dirty="0">
                <a:latin typeface="Times New Roman"/>
                <a:cs typeface="Times New Roman"/>
              </a:rPr>
              <a:t>the</a:t>
            </a:r>
            <a:r>
              <a:rPr sz="1200" spc="110" dirty="0">
                <a:latin typeface="Times New Roman"/>
                <a:cs typeface="Times New Roman"/>
              </a:rPr>
              <a:t> </a:t>
            </a:r>
            <a:r>
              <a:rPr sz="1200" dirty="0">
                <a:latin typeface="Times New Roman"/>
                <a:cs typeface="Times New Roman"/>
              </a:rPr>
              <a:t>working</a:t>
            </a:r>
            <a:r>
              <a:rPr sz="1200" spc="114" dirty="0">
                <a:latin typeface="Times New Roman"/>
                <a:cs typeface="Times New Roman"/>
              </a:rPr>
              <a:t> </a:t>
            </a:r>
            <a:r>
              <a:rPr sz="1200" dirty="0">
                <a:latin typeface="Times New Roman"/>
                <a:cs typeface="Times New Roman"/>
              </a:rPr>
              <a:t>principle</a:t>
            </a:r>
            <a:r>
              <a:rPr sz="1200" spc="105" dirty="0">
                <a:latin typeface="Times New Roman"/>
                <a:cs typeface="Times New Roman"/>
              </a:rPr>
              <a:t> </a:t>
            </a:r>
            <a:r>
              <a:rPr sz="1200" dirty="0">
                <a:latin typeface="Times New Roman"/>
                <a:cs typeface="Times New Roman"/>
              </a:rPr>
              <a:t>of</a:t>
            </a:r>
            <a:r>
              <a:rPr sz="1200" spc="105" dirty="0">
                <a:latin typeface="Times New Roman"/>
                <a:cs typeface="Times New Roman"/>
              </a:rPr>
              <a:t> </a:t>
            </a:r>
            <a:r>
              <a:rPr sz="1200" dirty="0">
                <a:latin typeface="Times New Roman"/>
                <a:cs typeface="Times New Roman"/>
              </a:rPr>
              <a:t>a</a:t>
            </a:r>
            <a:r>
              <a:rPr sz="1200" spc="105" dirty="0">
                <a:latin typeface="Times New Roman"/>
                <a:cs typeface="Times New Roman"/>
              </a:rPr>
              <a:t> </a:t>
            </a:r>
            <a:r>
              <a:rPr sz="1200" dirty="0">
                <a:latin typeface="Times New Roman"/>
                <a:cs typeface="Times New Roman"/>
              </a:rPr>
              <a:t>synchronous</a:t>
            </a:r>
            <a:r>
              <a:rPr sz="1200" spc="110" dirty="0">
                <a:latin typeface="Times New Roman"/>
                <a:cs typeface="Times New Roman"/>
              </a:rPr>
              <a:t> </a:t>
            </a:r>
            <a:r>
              <a:rPr sz="1200" spc="-20" dirty="0">
                <a:latin typeface="Times New Roman"/>
                <a:cs typeface="Times New Roman"/>
              </a:rPr>
              <a:t>ring </a:t>
            </a:r>
            <a:r>
              <a:rPr sz="1200" dirty="0">
                <a:latin typeface="Times New Roman"/>
                <a:cs typeface="Times New Roman"/>
              </a:rPr>
              <a:t>counter</a:t>
            </a:r>
            <a:r>
              <a:rPr sz="1200" spc="145" dirty="0">
                <a:latin typeface="Times New Roman"/>
                <a:cs typeface="Times New Roman"/>
              </a:rPr>
              <a:t> </a:t>
            </a:r>
            <a:r>
              <a:rPr sz="1200" dirty="0">
                <a:latin typeface="Times New Roman"/>
                <a:cs typeface="Times New Roman"/>
              </a:rPr>
              <a:t>using</a:t>
            </a:r>
            <a:r>
              <a:rPr sz="1200" spc="160" dirty="0">
                <a:latin typeface="Times New Roman"/>
                <a:cs typeface="Times New Roman"/>
              </a:rPr>
              <a:t> </a:t>
            </a:r>
            <a:r>
              <a:rPr sz="1200" dirty="0">
                <a:latin typeface="Times New Roman"/>
                <a:cs typeface="Times New Roman"/>
              </a:rPr>
              <a:t>74LS74</a:t>
            </a:r>
            <a:r>
              <a:rPr sz="1200" spc="145" dirty="0">
                <a:latin typeface="Times New Roman"/>
                <a:cs typeface="Times New Roman"/>
              </a:rPr>
              <a:t> </a:t>
            </a:r>
            <a:r>
              <a:rPr sz="1200" dirty="0">
                <a:latin typeface="Times New Roman"/>
                <a:cs typeface="Times New Roman"/>
              </a:rPr>
              <a:t>D</a:t>
            </a:r>
            <a:r>
              <a:rPr sz="1200" spc="150" dirty="0">
                <a:latin typeface="Times New Roman"/>
                <a:cs typeface="Times New Roman"/>
              </a:rPr>
              <a:t> </a:t>
            </a:r>
            <a:r>
              <a:rPr sz="1200" spc="-10" dirty="0">
                <a:latin typeface="Times New Roman"/>
                <a:cs typeface="Times New Roman"/>
              </a:rPr>
              <a:t>flip-</a:t>
            </a:r>
            <a:r>
              <a:rPr sz="1200" dirty="0">
                <a:latin typeface="Times New Roman"/>
                <a:cs typeface="Times New Roman"/>
              </a:rPr>
              <a:t>flop</a:t>
            </a:r>
            <a:r>
              <a:rPr sz="1200" spc="155" dirty="0">
                <a:latin typeface="Times New Roman"/>
                <a:cs typeface="Times New Roman"/>
              </a:rPr>
              <a:t> </a:t>
            </a:r>
            <a:r>
              <a:rPr sz="1200" dirty="0">
                <a:latin typeface="Times New Roman"/>
                <a:cs typeface="Times New Roman"/>
              </a:rPr>
              <a:t>ICs</a:t>
            </a:r>
            <a:r>
              <a:rPr sz="1200" spc="155" dirty="0">
                <a:latin typeface="Times New Roman"/>
                <a:cs typeface="Times New Roman"/>
              </a:rPr>
              <a:t> </a:t>
            </a:r>
            <a:r>
              <a:rPr sz="1200" dirty="0">
                <a:latin typeface="Times New Roman"/>
                <a:cs typeface="Times New Roman"/>
              </a:rPr>
              <a:t>was</a:t>
            </a:r>
            <a:r>
              <a:rPr sz="1200" spc="150" dirty="0">
                <a:latin typeface="Times New Roman"/>
                <a:cs typeface="Times New Roman"/>
              </a:rPr>
              <a:t> </a:t>
            </a:r>
            <a:r>
              <a:rPr sz="1200" dirty="0">
                <a:latin typeface="Times New Roman"/>
                <a:cs typeface="Times New Roman"/>
              </a:rPr>
              <a:t>gained,</a:t>
            </a:r>
            <a:r>
              <a:rPr sz="1200" spc="155" dirty="0">
                <a:latin typeface="Times New Roman"/>
                <a:cs typeface="Times New Roman"/>
              </a:rPr>
              <a:t> </a:t>
            </a:r>
            <a:r>
              <a:rPr sz="1200" dirty="0">
                <a:latin typeface="Times New Roman"/>
                <a:cs typeface="Times New Roman"/>
              </a:rPr>
              <a:t>including</a:t>
            </a:r>
            <a:r>
              <a:rPr sz="1200" spc="160" dirty="0">
                <a:latin typeface="Times New Roman"/>
                <a:cs typeface="Times New Roman"/>
              </a:rPr>
              <a:t> </a:t>
            </a:r>
            <a:r>
              <a:rPr sz="1200" dirty="0">
                <a:latin typeface="Times New Roman"/>
                <a:cs typeface="Times New Roman"/>
              </a:rPr>
              <a:t>how</a:t>
            </a:r>
            <a:r>
              <a:rPr sz="1200" spc="150" dirty="0">
                <a:latin typeface="Times New Roman"/>
                <a:cs typeface="Times New Roman"/>
              </a:rPr>
              <a:t> </a:t>
            </a:r>
            <a:r>
              <a:rPr sz="1200" dirty="0">
                <a:latin typeface="Times New Roman"/>
                <a:cs typeface="Times New Roman"/>
              </a:rPr>
              <a:t>clock</a:t>
            </a:r>
            <a:r>
              <a:rPr sz="1200" spc="155" dirty="0">
                <a:latin typeface="Times New Roman"/>
                <a:cs typeface="Times New Roman"/>
              </a:rPr>
              <a:t> </a:t>
            </a:r>
            <a:r>
              <a:rPr sz="1200" dirty="0">
                <a:latin typeface="Times New Roman"/>
                <a:cs typeface="Times New Roman"/>
              </a:rPr>
              <a:t>pulses</a:t>
            </a:r>
            <a:r>
              <a:rPr sz="1200" spc="155" dirty="0">
                <a:latin typeface="Times New Roman"/>
                <a:cs typeface="Times New Roman"/>
              </a:rPr>
              <a:t> </a:t>
            </a:r>
            <a:r>
              <a:rPr sz="1200" dirty="0">
                <a:latin typeface="Times New Roman"/>
                <a:cs typeface="Times New Roman"/>
              </a:rPr>
              <a:t>control</a:t>
            </a:r>
            <a:r>
              <a:rPr sz="1200" spc="155" dirty="0">
                <a:latin typeface="Times New Roman"/>
                <a:cs typeface="Times New Roman"/>
              </a:rPr>
              <a:t> </a:t>
            </a:r>
            <a:r>
              <a:rPr sz="1200" spc="-25" dirty="0">
                <a:latin typeface="Times New Roman"/>
                <a:cs typeface="Times New Roman"/>
              </a:rPr>
              <a:t>the </a:t>
            </a:r>
            <a:r>
              <a:rPr sz="1200" dirty="0">
                <a:latin typeface="Times New Roman"/>
                <a:cs typeface="Times New Roman"/>
              </a:rPr>
              <a:t>shifting</a:t>
            </a:r>
            <a:r>
              <a:rPr sz="1200" spc="85" dirty="0">
                <a:latin typeface="Times New Roman"/>
                <a:cs typeface="Times New Roman"/>
              </a:rPr>
              <a:t> </a:t>
            </a:r>
            <a:r>
              <a:rPr sz="1200" dirty="0">
                <a:latin typeface="Times New Roman"/>
                <a:cs typeface="Times New Roman"/>
              </a:rPr>
              <a:t>of</a:t>
            </a:r>
            <a:r>
              <a:rPr sz="1200" spc="80" dirty="0">
                <a:latin typeface="Times New Roman"/>
                <a:cs typeface="Times New Roman"/>
              </a:rPr>
              <a:t> </a:t>
            </a:r>
            <a:r>
              <a:rPr sz="1200" dirty="0">
                <a:latin typeface="Times New Roman"/>
                <a:cs typeface="Times New Roman"/>
              </a:rPr>
              <a:t>logic</a:t>
            </a:r>
            <a:r>
              <a:rPr sz="1200" spc="80" dirty="0">
                <a:latin typeface="Times New Roman"/>
                <a:cs typeface="Times New Roman"/>
              </a:rPr>
              <a:t> </a:t>
            </a:r>
            <a:r>
              <a:rPr sz="1200" dirty="0">
                <a:latin typeface="Times New Roman"/>
                <a:cs typeface="Times New Roman"/>
              </a:rPr>
              <a:t>levels</a:t>
            </a:r>
            <a:r>
              <a:rPr sz="1200" spc="95" dirty="0">
                <a:latin typeface="Times New Roman"/>
                <a:cs typeface="Times New Roman"/>
              </a:rPr>
              <a:t> </a:t>
            </a:r>
            <a:r>
              <a:rPr sz="1200" dirty="0">
                <a:latin typeface="Times New Roman"/>
                <a:cs typeface="Times New Roman"/>
              </a:rPr>
              <a:t>from</a:t>
            </a:r>
            <a:r>
              <a:rPr sz="1200" spc="85" dirty="0">
                <a:latin typeface="Times New Roman"/>
                <a:cs typeface="Times New Roman"/>
              </a:rPr>
              <a:t> </a:t>
            </a:r>
            <a:r>
              <a:rPr sz="1200" dirty="0">
                <a:latin typeface="Times New Roman"/>
                <a:cs typeface="Times New Roman"/>
              </a:rPr>
              <a:t>one</a:t>
            </a:r>
            <a:r>
              <a:rPr sz="1200" spc="80" dirty="0">
                <a:latin typeface="Times New Roman"/>
                <a:cs typeface="Times New Roman"/>
              </a:rPr>
              <a:t> </a:t>
            </a:r>
            <a:r>
              <a:rPr sz="1200" spc="-10" dirty="0">
                <a:latin typeface="Times New Roman"/>
                <a:cs typeface="Times New Roman"/>
              </a:rPr>
              <a:t>flip-</a:t>
            </a:r>
            <a:r>
              <a:rPr sz="1200" dirty="0">
                <a:latin typeface="Times New Roman"/>
                <a:cs typeface="Times New Roman"/>
              </a:rPr>
              <a:t>flop</a:t>
            </a:r>
            <a:r>
              <a:rPr sz="1200" spc="90" dirty="0">
                <a:latin typeface="Times New Roman"/>
                <a:cs typeface="Times New Roman"/>
              </a:rPr>
              <a:t> </a:t>
            </a:r>
            <a:r>
              <a:rPr sz="1200" dirty="0">
                <a:latin typeface="Times New Roman"/>
                <a:cs typeface="Times New Roman"/>
              </a:rPr>
              <a:t>to</a:t>
            </a:r>
            <a:r>
              <a:rPr sz="1200" spc="85" dirty="0">
                <a:latin typeface="Times New Roman"/>
                <a:cs typeface="Times New Roman"/>
              </a:rPr>
              <a:t>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next.</a:t>
            </a:r>
            <a:r>
              <a:rPr sz="1200" spc="85" dirty="0">
                <a:latin typeface="Times New Roman"/>
                <a:cs typeface="Times New Roman"/>
              </a:rPr>
              <a:t> </a:t>
            </a:r>
            <a:r>
              <a:rPr sz="1200" dirty="0">
                <a:latin typeface="Times New Roman"/>
                <a:cs typeface="Times New Roman"/>
              </a:rPr>
              <a:t>The</a:t>
            </a:r>
            <a:r>
              <a:rPr sz="1200" spc="85" dirty="0">
                <a:latin typeface="Times New Roman"/>
                <a:cs typeface="Times New Roman"/>
              </a:rPr>
              <a:t> </a:t>
            </a:r>
            <a:r>
              <a:rPr sz="1200" dirty="0">
                <a:latin typeface="Times New Roman"/>
                <a:cs typeface="Times New Roman"/>
              </a:rPr>
              <a:t>role</a:t>
            </a:r>
            <a:r>
              <a:rPr sz="1200" spc="80" dirty="0">
                <a:latin typeface="Times New Roman"/>
                <a:cs typeface="Times New Roman"/>
              </a:rPr>
              <a:t> </a:t>
            </a:r>
            <a:r>
              <a:rPr sz="1200" dirty="0">
                <a:latin typeface="Times New Roman"/>
                <a:cs typeface="Times New Roman"/>
              </a:rPr>
              <a:t>of</a:t>
            </a:r>
            <a:r>
              <a:rPr sz="1200" spc="80" dirty="0">
                <a:latin typeface="Times New Roman"/>
                <a:cs typeface="Times New Roman"/>
              </a:rPr>
              <a:t> </a:t>
            </a:r>
            <a:r>
              <a:rPr sz="1200" dirty="0">
                <a:latin typeface="Times New Roman"/>
                <a:cs typeface="Times New Roman"/>
              </a:rPr>
              <a:t>preset</a:t>
            </a:r>
            <a:r>
              <a:rPr sz="1200" spc="100" dirty="0">
                <a:latin typeface="Times New Roman"/>
                <a:cs typeface="Times New Roman"/>
              </a:rPr>
              <a:t> </a:t>
            </a:r>
            <a:r>
              <a:rPr sz="1200" dirty="0">
                <a:latin typeface="Times New Roman"/>
                <a:cs typeface="Times New Roman"/>
              </a:rPr>
              <a:t>and</a:t>
            </a:r>
            <a:r>
              <a:rPr sz="1200" spc="90" dirty="0">
                <a:latin typeface="Times New Roman"/>
                <a:cs typeface="Times New Roman"/>
              </a:rPr>
              <a:t> </a:t>
            </a:r>
            <a:r>
              <a:rPr sz="1200" dirty="0">
                <a:latin typeface="Times New Roman"/>
                <a:cs typeface="Times New Roman"/>
              </a:rPr>
              <a:t>clear</a:t>
            </a:r>
            <a:r>
              <a:rPr sz="1200" spc="80" dirty="0">
                <a:latin typeface="Times New Roman"/>
                <a:cs typeface="Times New Roman"/>
              </a:rPr>
              <a:t> </a:t>
            </a:r>
            <a:r>
              <a:rPr sz="1200" dirty="0">
                <a:latin typeface="Times New Roman"/>
                <a:cs typeface="Times New Roman"/>
              </a:rPr>
              <a:t>inputs</a:t>
            </a:r>
            <a:r>
              <a:rPr sz="1200" spc="85" dirty="0">
                <a:latin typeface="Times New Roman"/>
                <a:cs typeface="Times New Roman"/>
              </a:rPr>
              <a:t> </a:t>
            </a:r>
            <a:r>
              <a:rPr sz="1200" spc="-25" dirty="0">
                <a:latin typeface="Times New Roman"/>
                <a:cs typeface="Times New Roman"/>
              </a:rPr>
              <a:t>in </a:t>
            </a:r>
            <a:r>
              <a:rPr sz="1200" spc="-10" dirty="0">
                <a:latin typeface="Times New Roman"/>
                <a:cs typeface="Times New Roman"/>
              </a:rPr>
              <a:t>initializing</a:t>
            </a:r>
            <a:r>
              <a:rPr sz="1200" spc="-40" dirty="0">
                <a:latin typeface="Times New Roman"/>
                <a:cs typeface="Times New Roman"/>
              </a:rPr>
              <a:t> </a:t>
            </a:r>
            <a:r>
              <a:rPr sz="1200" spc="-10" dirty="0">
                <a:latin typeface="Times New Roman"/>
                <a:cs typeface="Times New Roman"/>
              </a:rPr>
              <a:t>the</a:t>
            </a:r>
            <a:r>
              <a:rPr sz="1200" spc="-40" dirty="0">
                <a:latin typeface="Times New Roman"/>
                <a:cs typeface="Times New Roman"/>
              </a:rPr>
              <a:t> </a:t>
            </a:r>
            <a:r>
              <a:rPr sz="1200" spc="-10" dirty="0">
                <a:latin typeface="Times New Roman"/>
                <a:cs typeface="Times New Roman"/>
              </a:rPr>
              <a:t>counter</a:t>
            </a:r>
            <a:r>
              <a:rPr sz="1200" spc="-50" dirty="0">
                <a:latin typeface="Times New Roman"/>
                <a:cs typeface="Times New Roman"/>
              </a:rPr>
              <a:t> </a:t>
            </a:r>
            <a:r>
              <a:rPr sz="1200" spc="-20" dirty="0">
                <a:latin typeface="Times New Roman"/>
                <a:cs typeface="Times New Roman"/>
              </a:rPr>
              <a:t>was</a:t>
            </a:r>
            <a:r>
              <a:rPr sz="1200" spc="-45" dirty="0">
                <a:latin typeface="Times New Roman"/>
                <a:cs typeface="Times New Roman"/>
              </a:rPr>
              <a:t> </a:t>
            </a:r>
            <a:r>
              <a:rPr sz="1200" spc="-10" dirty="0">
                <a:latin typeface="Times New Roman"/>
                <a:cs typeface="Times New Roman"/>
              </a:rPr>
              <a:t>properly</a:t>
            </a:r>
            <a:r>
              <a:rPr sz="1200" spc="-40" dirty="0">
                <a:latin typeface="Times New Roman"/>
                <a:cs typeface="Times New Roman"/>
              </a:rPr>
              <a:t> </a:t>
            </a:r>
            <a:r>
              <a:rPr sz="1200" spc="-10" dirty="0">
                <a:latin typeface="Times New Roman"/>
                <a:cs typeface="Times New Roman"/>
              </a:rPr>
              <a:t>understood,</a:t>
            </a:r>
            <a:r>
              <a:rPr sz="1200" spc="-45" dirty="0">
                <a:latin typeface="Times New Roman"/>
                <a:cs typeface="Times New Roman"/>
              </a:rPr>
              <a:t> </a:t>
            </a:r>
            <a:r>
              <a:rPr sz="1200" spc="-10" dirty="0">
                <a:latin typeface="Times New Roman"/>
                <a:cs typeface="Times New Roman"/>
              </a:rPr>
              <a:t>along</a:t>
            </a:r>
            <a:r>
              <a:rPr sz="1200" spc="-40" dirty="0">
                <a:latin typeface="Times New Roman"/>
                <a:cs typeface="Times New Roman"/>
              </a:rPr>
              <a:t> </a:t>
            </a:r>
            <a:r>
              <a:rPr sz="1200" spc="-10" dirty="0">
                <a:latin typeface="Times New Roman"/>
                <a:cs typeface="Times New Roman"/>
              </a:rPr>
              <a:t>with</a:t>
            </a:r>
            <a:r>
              <a:rPr sz="1200" spc="-40" dirty="0">
                <a:latin typeface="Times New Roman"/>
                <a:cs typeface="Times New Roman"/>
              </a:rPr>
              <a:t> </a:t>
            </a:r>
            <a:r>
              <a:rPr sz="1200" spc="-10" dirty="0">
                <a:latin typeface="Times New Roman"/>
                <a:cs typeface="Times New Roman"/>
              </a:rPr>
              <a:t>the</a:t>
            </a:r>
            <a:r>
              <a:rPr sz="1200" spc="-40" dirty="0">
                <a:latin typeface="Times New Roman"/>
                <a:cs typeface="Times New Roman"/>
              </a:rPr>
              <a:t> </a:t>
            </a:r>
            <a:r>
              <a:rPr sz="1200" spc="-10" dirty="0">
                <a:latin typeface="Times New Roman"/>
                <a:cs typeface="Times New Roman"/>
              </a:rPr>
              <a:t>concept</a:t>
            </a:r>
            <a:r>
              <a:rPr sz="1200" spc="-40" dirty="0">
                <a:latin typeface="Times New Roman"/>
                <a:cs typeface="Times New Roman"/>
              </a:rPr>
              <a:t> </a:t>
            </a:r>
            <a:r>
              <a:rPr sz="1200" spc="-20" dirty="0">
                <a:latin typeface="Times New Roman"/>
                <a:cs typeface="Times New Roman"/>
              </a:rPr>
              <a:t>of</a:t>
            </a:r>
            <a:r>
              <a:rPr sz="1200" spc="-50" dirty="0">
                <a:latin typeface="Times New Roman"/>
                <a:cs typeface="Times New Roman"/>
              </a:rPr>
              <a:t> </a:t>
            </a:r>
            <a:r>
              <a:rPr sz="1200" spc="-10" dirty="0">
                <a:latin typeface="Times New Roman"/>
                <a:cs typeface="Times New Roman"/>
              </a:rPr>
              <a:t>feedback</a:t>
            </a:r>
            <a:r>
              <a:rPr sz="1200" spc="-40" dirty="0">
                <a:latin typeface="Times New Roman"/>
                <a:cs typeface="Times New Roman"/>
              </a:rPr>
              <a:t> </a:t>
            </a:r>
            <a:r>
              <a:rPr sz="1200" spc="-10" dirty="0">
                <a:latin typeface="Times New Roman"/>
                <a:cs typeface="Times New Roman"/>
              </a:rPr>
              <a:t>connection </a:t>
            </a:r>
            <a:r>
              <a:rPr sz="1200" dirty="0">
                <a:latin typeface="Times New Roman"/>
                <a:cs typeface="Times New Roman"/>
              </a:rPr>
              <a:t>that</a:t>
            </a:r>
            <a:r>
              <a:rPr sz="1200" spc="70" dirty="0">
                <a:latin typeface="Times New Roman"/>
                <a:cs typeface="Times New Roman"/>
              </a:rPr>
              <a:t> </a:t>
            </a:r>
            <a:r>
              <a:rPr sz="1200" dirty="0">
                <a:latin typeface="Times New Roman"/>
                <a:cs typeface="Times New Roman"/>
              </a:rPr>
              <a:t>forms</a:t>
            </a:r>
            <a:r>
              <a:rPr sz="1200" spc="75"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ring</a:t>
            </a:r>
            <a:r>
              <a:rPr sz="1200" spc="70" dirty="0">
                <a:latin typeface="Times New Roman"/>
                <a:cs typeface="Times New Roman"/>
              </a:rPr>
              <a:t> </a:t>
            </a:r>
            <a:r>
              <a:rPr sz="1200" dirty="0">
                <a:latin typeface="Times New Roman"/>
                <a:cs typeface="Times New Roman"/>
              </a:rPr>
              <a:t>structure.</a:t>
            </a:r>
            <a:r>
              <a:rPr sz="1200" spc="75" dirty="0">
                <a:latin typeface="Times New Roman"/>
                <a:cs typeface="Times New Roman"/>
              </a:rPr>
              <a:t> </a:t>
            </a:r>
            <a:r>
              <a:rPr sz="1200" dirty="0">
                <a:latin typeface="Times New Roman"/>
                <a:cs typeface="Times New Roman"/>
              </a:rPr>
              <a:t>The</a:t>
            </a:r>
            <a:r>
              <a:rPr sz="1200" spc="65" dirty="0">
                <a:latin typeface="Times New Roman"/>
                <a:cs typeface="Times New Roman"/>
              </a:rPr>
              <a:t> </a:t>
            </a:r>
            <a:r>
              <a:rPr sz="1200" dirty="0">
                <a:latin typeface="Times New Roman"/>
                <a:cs typeface="Times New Roman"/>
              </a:rPr>
              <a:t>project</a:t>
            </a:r>
            <a:r>
              <a:rPr sz="1200" spc="75" dirty="0">
                <a:latin typeface="Times New Roman"/>
                <a:cs typeface="Times New Roman"/>
              </a:rPr>
              <a:t> </a:t>
            </a:r>
            <a:r>
              <a:rPr sz="1200" dirty="0">
                <a:latin typeface="Times New Roman"/>
                <a:cs typeface="Times New Roman"/>
              </a:rPr>
              <a:t>enhanced</a:t>
            </a:r>
            <a:r>
              <a:rPr sz="1200" spc="70" dirty="0">
                <a:latin typeface="Times New Roman"/>
                <a:cs typeface="Times New Roman"/>
              </a:rPr>
              <a:t> </a:t>
            </a:r>
            <a:r>
              <a:rPr sz="1200" dirty="0">
                <a:latin typeface="Times New Roman"/>
                <a:cs typeface="Times New Roman"/>
              </a:rPr>
              <a:t>knowledge</a:t>
            </a:r>
            <a:r>
              <a:rPr sz="1200" spc="70" dirty="0">
                <a:latin typeface="Times New Roman"/>
                <a:cs typeface="Times New Roman"/>
              </a:rPr>
              <a:t> </a:t>
            </a:r>
            <a:r>
              <a:rPr sz="1200" dirty="0">
                <a:latin typeface="Times New Roman"/>
                <a:cs typeface="Times New Roman"/>
              </a:rPr>
              <a:t>of</a:t>
            </a:r>
            <a:r>
              <a:rPr sz="1200" spc="70" dirty="0">
                <a:latin typeface="Times New Roman"/>
                <a:cs typeface="Times New Roman"/>
              </a:rPr>
              <a:t> </a:t>
            </a:r>
            <a:r>
              <a:rPr sz="1200" dirty="0">
                <a:latin typeface="Times New Roman"/>
                <a:cs typeface="Times New Roman"/>
              </a:rPr>
              <a:t>sequential</a:t>
            </a:r>
            <a:r>
              <a:rPr sz="1200" spc="70" dirty="0">
                <a:latin typeface="Times New Roman"/>
                <a:cs typeface="Times New Roman"/>
              </a:rPr>
              <a:t> </a:t>
            </a:r>
            <a:r>
              <a:rPr sz="1200" dirty="0">
                <a:latin typeface="Times New Roman"/>
                <a:cs typeface="Times New Roman"/>
              </a:rPr>
              <a:t>digital</a:t>
            </a:r>
            <a:r>
              <a:rPr sz="1200" spc="70" dirty="0">
                <a:latin typeface="Times New Roman"/>
                <a:cs typeface="Times New Roman"/>
              </a:rPr>
              <a:t> </a:t>
            </a:r>
            <a:r>
              <a:rPr sz="1200" spc="-10" dirty="0">
                <a:latin typeface="Times New Roman"/>
                <a:cs typeface="Times New Roman"/>
              </a:rPr>
              <a:t>circuits, </a:t>
            </a:r>
            <a:r>
              <a:rPr sz="1200" dirty="0">
                <a:latin typeface="Times New Roman"/>
                <a:cs typeface="Times New Roman"/>
              </a:rPr>
              <a:t>clock</a:t>
            </a:r>
            <a:r>
              <a:rPr sz="1200" spc="-25" dirty="0">
                <a:latin typeface="Times New Roman"/>
                <a:cs typeface="Times New Roman"/>
              </a:rPr>
              <a:t> </a:t>
            </a:r>
            <a:r>
              <a:rPr sz="1200" spc="-10" dirty="0">
                <a:latin typeface="Times New Roman"/>
                <a:cs typeface="Times New Roman"/>
              </a:rPr>
              <a:t>synchronization,</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practical</a:t>
            </a:r>
            <a:r>
              <a:rPr sz="1200" spc="-10" dirty="0">
                <a:latin typeface="Times New Roman"/>
                <a:cs typeface="Times New Roman"/>
              </a:rPr>
              <a:t> </a:t>
            </a:r>
            <a:r>
              <a:rPr sz="1200" dirty="0">
                <a:latin typeface="Times New Roman"/>
                <a:cs typeface="Times New Roman"/>
              </a:rPr>
              <a:t>applications</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ring</a:t>
            </a:r>
            <a:r>
              <a:rPr sz="1200" spc="-25" dirty="0">
                <a:latin typeface="Times New Roman"/>
                <a:cs typeface="Times New Roman"/>
              </a:rPr>
              <a:t> </a:t>
            </a:r>
            <a:r>
              <a:rPr sz="1200" dirty="0">
                <a:latin typeface="Times New Roman"/>
                <a:cs typeface="Times New Roman"/>
              </a:rPr>
              <a:t>counters</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digital</a:t>
            </a:r>
            <a:r>
              <a:rPr sz="1200" spc="-15" dirty="0">
                <a:latin typeface="Times New Roman"/>
                <a:cs typeface="Times New Roman"/>
              </a:rPr>
              <a:t> </a:t>
            </a:r>
            <a:r>
              <a:rPr sz="1200" spc="-10" dirty="0">
                <a:latin typeface="Times New Roman"/>
                <a:cs typeface="Times New Roman"/>
              </a:rPr>
              <a:t>systems.</a:t>
            </a:r>
            <a:endParaRPr sz="1200">
              <a:latin typeface="Times New Roman"/>
              <a:cs typeface="Times New Roman"/>
            </a:endParaRPr>
          </a:p>
          <a:p>
            <a:pPr>
              <a:lnSpc>
                <a:spcPct val="100000"/>
              </a:lnSpc>
              <a:spcBef>
                <a:spcPts val="65"/>
              </a:spcBef>
            </a:pPr>
            <a:endParaRPr sz="1200">
              <a:latin typeface="Times New Roman"/>
              <a:cs typeface="Times New Roman"/>
            </a:endParaRPr>
          </a:p>
          <a:p>
            <a:pPr marL="12700" marR="5080" algn="just">
              <a:lnSpc>
                <a:spcPts val="1380"/>
              </a:lnSpc>
            </a:pPr>
            <a:r>
              <a:rPr sz="1200" spc="-10" dirty="0">
                <a:latin typeface="Times New Roman"/>
                <a:cs typeface="Times New Roman"/>
              </a:rPr>
              <a:t>Hands-</a:t>
            </a:r>
            <a:r>
              <a:rPr sz="1200" dirty="0">
                <a:latin typeface="Times New Roman"/>
                <a:cs typeface="Times New Roman"/>
              </a:rPr>
              <a:t>on</a:t>
            </a:r>
            <a:r>
              <a:rPr sz="1200" spc="-40" dirty="0">
                <a:latin typeface="Times New Roman"/>
                <a:cs typeface="Times New Roman"/>
              </a:rPr>
              <a:t> </a:t>
            </a:r>
            <a:r>
              <a:rPr sz="1200" spc="-10" dirty="0">
                <a:latin typeface="Times New Roman"/>
                <a:cs typeface="Times New Roman"/>
              </a:rPr>
              <a:t>experience</a:t>
            </a:r>
            <a:r>
              <a:rPr sz="1200" spc="-45" dirty="0">
                <a:latin typeface="Times New Roman"/>
                <a:cs typeface="Times New Roman"/>
              </a:rPr>
              <a:t> </a:t>
            </a:r>
            <a:r>
              <a:rPr sz="1200" dirty="0">
                <a:latin typeface="Times New Roman"/>
                <a:cs typeface="Times New Roman"/>
              </a:rPr>
              <a:t>was</a:t>
            </a:r>
            <a:r>
              <a:rPr sz="1200" spc="-25" dirty="0">
                <a:latin typeface="Times New Roman"/>
                <a:cs typeface="Times New Roman"/>
              </a:rPr>
              <a:t> </a:t>
            </a:r>
            <a:r>
              <a:rPr sz="1200" spc="-10" dirty="0">
                <a:latin typeface="Times New Roman"/>
                <a:cs typeface="Times New Roman"/>
              </a:rPr>
              <a:t>developed</a:t>
            </a:r>
            <a:r>
              <a:rPr sz="1200" spc="-45"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spc="-10" dirty="0">
                <a:latin typeface="Times New Roman"/>
                <a:cs typeface="Times New Roman"/>
              </a:rPr>
              <a:t>schematic</a:t>
            </a:r>
            <a:r>
              <a:rPr sz="1200" spc="-25" dirty="0">
                <a:latin typeface="Times New Roman"/>
                <a:cs typeface="Times New Roman"/>
              </a:rPr>
              <a:t> </a:t>
            </a:r>
            <a:r>
              <a:rPr sz="1200" spc="-10" dirty="0">
                <a:latin typeface="Times New Roman"/>
                <a:cs typeface="Times New Roman"/>
              </a:rPr>
              <a:t>creation</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PCB</a:t>
            </a:r>
            <a:r>
              <a:rPr sz="1200" spc="-35" dirty="0">
                <a:latin typeface="Times New Roman"/>
                <a:cs typeface="Times New Roman"/>
              </a:rPr>
              <a:t> </a:t>
            </a:r>
            <a:r>
              <a:rPr sz="1200" spc="-10" dirty="0">
                <a:latin typeface="Times New Roman"/>
                <a:cs typeface="Times New Roman"/>
              </a:rPr>
              <a:t>layout</a:t>
            </a:r>
            <a:r>
              <a:rPr sz="1200" spc="-40" dirty="0">
                <a:latin typeface="Times New Roman"/>
                <a:cs typeface="Times New Roman"/>
              </a:rPr>
              <a:t> </a:t>
            </a:r>
            <a:r>
              <a:rPr sz="1200" dirty="0">
                <a:latin typeface="Times New Roman"/>
                <a:cs typeface="Times New Roman"/>
              </a:rPr>
              <a:t>design</a:t>
            </a:r>
            <a:r>
              <a:rPr sz="1200" spc="-35" dirty="0">
                <a:latin typeface="Times New Roman"/>
                <a:cs typeface="Times New Roman"/>
              </a:rPr>
              <a:t> </a:t>
            </a:r>
            <a:r>
              <a:rPr sz="1200" dirty="0">
                <a:latin typeface="Times New Roman"/>
                <a:cs typeface="Times New Roman"/>
              </a:rPr>
              <a:t>using</a:t>
            </a:r>
            <a:r>
              <a:rPr sz="1200" spc="-35" dirty="0">
                <a:latin typeface="Times New Roman"/>
                <a:cs typeface="Times New Roman"/>
              </a:rPr>
              <a:t> </a:t>
            </a:r>
            <a:r>
              <a:rPr sz="1200" spc="-10" dirty="0">
                <a:latin typeface="Times New Roman"/>
                <a:cs typeface="Times New Roman"/>
              </a:rPr>
              <a:t>KiCad software.</a:t>
            </a:r>
            <a:r>
              <a:rPr sz="1200" spc="-35" dirty="0">
                <a:latin typeface="Times New Roman"/>
                <a:cs typeface="Times New Roman"/>
              </a:rPr>
              <a:t> </a:t>
            </a:r>
            <a:r>
              <a:rPr sz="1200" spc="-10" dirty="0">
                <a:latin typeface="Times New Roman"/>
                <a:cs typeface="Times New Roman"/>
              </a:rPr>
              <a:t>Practical</a:t>
            </a:r>
            <a:r>
              <a:rPr sz="1200" spc="-35" dirty="0">
                <a:latin typeface="Times New Roman"/>
                <a:cs typeface="Times New Roman"/>
              </a:rPr>
              <a:t> </a:t>
            </a:r>
            <a:r>
              <a:rPr sz="1200" spc="-10" dirty="0">
                <a:latin typeface="Times New Roman"/>
                <a:cs typeface="Times New Roman"/>
              </a:rPr>
              <a:t>skills</a:t>
            </a:r>
            <a:r>
              <a:rPr sz="1200" spc="-45" dirty="0">
                <a:latin typeface="Times New Roman"/>
                <a:cs typeface="Times New Roman"/>
              </a:rPr>
              <a:t> </a:t>
            </a:r>
            <a:r>
              <a:rPr sz="1200" spc="-10" dirty="0">
                <a:latin typeface="Times New Roman"/>
                <a:cs typeface="Times New Roman"/>
              </a:rPr>
              <a:t>were</a:t>
            </a:r>
            <a:r>
              <a:rPr sz="1200" spc="-45" dirty="0">
                <a:latin typeface="Times New Roman"/>
                <a:cs typeface="Times New Roman"/>
              </a:rPr>
              <a:t> </a:t>
            </a:r>
            <a:r>
              <a:rPr sz="1200" dirty="0">
                <a:latin typeface="Times New Roman"/>
                <a:cs typeface="Times New Roman"/>
              </a:rPr>
              <a:t>also</a:t>
            </a:r>
            <a:r>
              <a:rPr sz="1200" spc="-30" dirty="0">
                <a:latin typeface="Times New Roman"/>
                <a:cs typeface="Times New Roman"/>
              </a:rPr>
              <a:t> </a:t>
            </a:r>
            <a:r>
              <a:rPr sz="1200" spc="-10" dirty="0">
                <a:latin typeface="Times New Roman"/>
                <a:cs typeface="Times New Roman"/>
              </a:rPr>
              <a:t>gained</a:t>
            </a:r>
            <a:r>
              <a:rPr sz="1200" spc="-4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PCB</a:t>
            </a:r>
            <a:r>
              <a:rPr sz="1200" spc="-45" dirty="0">
                <a:latin typeface="Times New Roman"/>
                <a:cs typeface="Times New Roman"/>
              </a:rPr>
              <a:t> </a:t>
            </a:r>
            <a:r>
              <a:rPr sz="1200" spc="-10" dirty="0">
                <a:latin typeface="Times New Roman"/>
                <a:cs typeface="Times New Roman"/>
              </a:rPr>
              <a:t>fabrication</a:t>
            </a:r>
            <a:r>
              <a:rPr sz="1200" spc="-35" dirty="0">
                <a:latin typeface="Times New Roman"/>
                <a:cs typeface="Times New Roman"/>
              </a:rPr>
              <a:t> </a:t>
            </a:r>
            <a:r>
              <a:rPr sz="1200" spc="-10" dirty="0">
                <a:latin typeface="Times New Roman"/>
                <a:cs typeface="Times New Roman"/>
              </a:rPr>
              <a:t>processes</a:t>
            </a:r>
            <a:r>
              <a:rPr sz="1200" spc="-35" dirty="0">
                <a:latin typeface="Times New Roman"/>
                <a:cs typeface="Times New Roman"/>
              </a:rPr>
              <a:t> </a:t>
            </a:r>
            <a:r>
              <a:rPr sz="1200" dirty="0">
                <a:latin typeface="Times New Roman"/>
                <a:cs typeface="Times New Roman"/>
              </a:rPr>
              <a:t>such</a:t>
            </a:r>
            <a:r>
              <a:rPr sz="1200" spc="-35"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spc="-10" dirty="0">
                <a:latin typeface="Times New Roman"/>
                <a:cs typeface="Times New Roman"/>
              </a:rPr>
              <a:t>layout</a:t>
            </a:r>
            <a:r>
              <a:rPr sz="1200" spc="-30" dirty="0">
                <a:latin typeface="Times New Roman"/>
                <a:cs typeface="Times New Roman"/>
              </a:rPr>
              <a:t> </a:t>
            </a:r>
            <a:r>
              <a:rPr sz="1200" spc="-10" dirty="0">
                <a:latin typeface="Times New Roman"/>
                <a:cs typeface="Times New Roman"/>
              </a:rPr>
              <a:t>printing, toner</a:t>
            </a:r>
            <a:r>
              <a:rPr sz="1200" spc="-45" dirty="0">
                <a:latin typeface="Times New Roman"/>
                <a:cs typeface="Times New Roman"/>
              </a:rPr>
              <a:t> </a:t>
            </a:r>
            <a:r>
              <a:rPr sz="1200" spc="-10" dirty="0">
                <a:latin typeface="Times New Roman"/>
                <a:cs typeface="Times New Roman"/>
              </a:rPr>
              <a:t>transfer</a:t>
            </a:r>
            <a:r>
              <a:rPr sz="1200" spc="-40" dirty="0">
                <a:latin typeface="Times New Roman"/>
                <a:cs typeface="Times New Roman"/>
              </a:rPr>
              <a:t> </a:t>
            </a:r>
            <a:r>
              <a:rPr sz="1200" dirty="0">
                <a:latin typeface="Times New Roman"/>
                <a:cs typeface="Times New Roman"/>
              </a:rPr>
              <a:t>onto</a:t>
            </a:r>
            <a:r>
              <a:rPr sz="1200" spc="-20" dirty="0">
                <a:latin typeface="Times New Roman"/>
                <a:cs typeface="Times New Roman"/>
              </a:rPr>
              <a:t> </a:t>
            </a:r>
            <a:r>
              <a:rPr sz="1200" spc="-10" dirty="0">
                <a:latin typeface="Times New Roman"/>
                <a:cs typeface="Times New Roman"/>
              </a:rPr>
              <a:t>copper</a:t>
            </a:r>
            <a:r>
              <a:rPr sz="1200" spc="-30" dirty="0">
                <a:latin typeface="Times New Roman"/>
                <a:cs typeface="Times New Roman"/>
              </a:rPr>
              <a:t> </a:t>
            </a:r>
            <a:r>
              <a:rPr sz="1200" spc="-10" dirty="0">
                <a:latin typeface="Times New Roman"/>
                <a:cs typeface="Times New Roman"/>
              </a:rPr>
              <a:t>board,</a:t>
            </a:r>
            <a:r>
              <a:rPr sz="1200" spc="-25" dirty="0">
                <a:latin typeface="Times New Roman"/>
                <a:cs typeface="Times New Roman"/>
              </a:rPr>
              <a:t> </a:t>
            </a:r>
            <a:r>
              <a:rPr sz="1200" spc="-10" dirty="0">
                <a:latin typeface="Times New Roman"/>
                <a:cs typeface="Times New Roman"/>
              </a:rPr>
              <a:t>etching</a:t>
            </a:r>
            <a:r>
              <a:rPr sz="1200" spc="-35" dirty="0">
                <a:latin typeface="Times New Roman"/>
                <a:cs typeface="Times New Roman"/>
              </a:rPr>
              <a:t> </a:t>
            </a:r>
            <a:r>
              <a:rPr sz="1200" dirty="0">
                <a:latin typeface="Times New Roman"/>
                <a:cs typeface="Times New Roman"/>
              </a:rPr>
              <a:t>using</a:t>
            </a:r>
            <a:r>
              <a:rPr sz="1200" spc="-20" dirty="0">
                <a:latin typeface="Times New Roman"/>
                <a:cs typeface="Times New Roman"/>
              </a:rPr>
              <a:t> </a:t>
            </a:r>
            <a:r>
              <a:rPr sz="1200" spc="-10" dirty="0">
                <a:latin typeface="Times New Roman"/>
                <a:cs typeface="Times New Roman"/>
              </a:rPr>
              <a:t>Ferric</a:t>
            </a:r>
            <a:r>
              <a:rPr sz="1200" spc="-40" dirty="0">
                <a:latin typeface="Times New Roman"/>
                <a:cs typeface="Times New Roman"/>
              </a:rPr>
              <a:t> </a:t>
            </a:r>
            <a:r>
              <a:rPr sz="1200" spc="-10" dirty="0">
                <a:latin typeface="Times New Roman"/>
                <a:cs typeface="Times New Roman"/>
              </a:rPr>
              <a:t>Chloride,</a:t>
            </a:r>
            <a:r>
              <a:rPr sz="1200" spc="-30" dirty="0">
                <a:latin typeface="Times New Roman"/>
                <a:cs typeface="Times New Roman"/>
              </a:rPr>
              <a:t> </a:t>
            </a:r>
            <a:r>
              <a:rPr sz="1200" spc="-10" dirty="0">
                <a:latin typeface="Times New Roman"/>
                <a:cs typeface="Times New Roman"/>
              </a:rPr>
              <a:t>drilling,</a:t>
            </a:r>
            <a:r>
              <a:rPr sz="1200" spc="-35" dirty="0">
                <a:latin typeface="Times New Roman"/>
                <a:cs typeface="Times New Roman"/>
              </a:rPr>
              <a:t> </a:t>
            </a:r>
            <a:r>
              <a:rPr sz="1200" spc="-10" dirty="0">
                <a:latin typeface="Times New Roman"/>
                <a:cs typeface="Times New Roman"/>
              </a:rPr>
              <a:t>component</a:t>
            </a:r>
            <a:r>
              <a:rPr sz="1200" spc="-35" dirty="0">
                <a:latin typeface="Times New Roman"/>
                <a:cs typeface="Times New Roman"/>
              </a:rPr>
              <a:t> </a:t>
            </a:r>
            <a:r>
              <a:rPr sz="1200" spc="-10" dirty="0">
                <a:latin typeface="Times New Roman"/>
                <a:cs typeface="Times New Roman"/>
              </a:rPr>
              <a:t>placement, </a:t>
            </a:r>
            <a:r>
              <a:rPr sz="1200" dirty="0">
                <a:latin typeface="Times New Roman"/>
                <a:cs typeface="Times New Roman"/>
              </a:rPr>
              <a:t>and</a:t>
            </a:r>
            <a:r>
              <a:rPr sz="1200" spc="185" dirty="0">
                <a:latin typeface="Times New Roman"/>
                <a:cs typeface="Times New Roman"/>
              </a:rPr>
              <a:t> </a:t>
            </a:r>
            <a:r>
              <a:rPr sz="1200" dirty="0">
                <a:latin typeface="Times New Roman"/>
                <a:cs typeface="Times New Roman"/>
              </a:rPr>
              <a:t>soldering.</a:t>
            </a:r>
            <a:r>
              <a:rPr sz="1200" spc="185" dirty="0">
                <a:latin typeface="Times New Roman"/>
                <a:cs typeface="Times New Roman"/>
              </a:rPr>
              <a:t> </a:t>
            </a:r>
            <a:r>
              <a:rPr sz="1200" dirty="0">
                <a:latin typeface="Times New Roman"/>
                <a:cs typeface="Times New Roman"/>
              </a:rPr>
              <a:t>Additionally,</a:t>
            </a:r>
            <a:r>
              <a:rPr sz="1200" spc="185" dirty="0">
                <a:latin typeface="Times New Roman"/>
                <a:cs typeface="Times New Roman"/>
              </a:rPr>
              <a:t> </a:t>
            </a:r>
            <a:r>
              <a:rPr sz="1200" dirty="0">
                <a:latin typeface="Times New Roman"/>
                <a:cs typeface="Times New Roman"/>
              </a:rPr>
              <a:t>the</a:t>
            </a:r>
            <a:r>
              <a:rPr sz="1200" spc="180" dirty="0">
                <a:latin typeface="Times New Roman"/>
                <a:cs typeface="Times New Roman"/>
              </a:rPr>
              <a:t> </a:t>
            </a:r>
            <a:r>
              <a:rPr sz="1200" dirty="0">
                <a:latin typeface="Times New Roman"/>
                <a:cs typeface="Times New Roman"/>
              </a:rPr>
              <a:t>project</a:t>
            </a:r>
            <a:r>
              <a:rPr sz="1200" spc="190" dirty="0">
                <a:latin typeface="Times New Roman"/>
                <a:cs typeface="Times New Roman"/>
              </a:rPr>
              <a:t> </a:t>
            </a:r>
            <a:r>
              <a:rPr sz="1200" dirty="0">
                <a:latin typeface="Times New Roman"/>
                <a:cs typeface="Times New Roman"/>
              </a:rPr>
              <a:t>improved</a:t>
            </a:r>
            <a:r>
              <a:rPr sz="1200" spc="185" dirty="0">
                <a:latin typeface="Times New Roman"/>
                <a:cs typeface="Times New Roman"/>
              </a:rPr>
              <a:t> </a:t>
            </a:r>
            <a:r>
              <a:rPr sz="1200" dirty="0">
                <a:latin typeface="Times New Roman"/>
                <a:cs typeface="Times New Roman"/>
              </a:rPr>
              <a:t>testing,</a:t>
            </a:r>
            <a:r>
              <a:rPr sz="1200" spc="190" dirty="0">
                <a:latin typeface="Times New Roman"/>
                <a:cs typeface="Times New Roman"/>
              </a:rPr>
              <a:t> </a:t>
            </a:r>
            <a:r>
              <a:rPr sz="1200" dirty="0">
                <a:latin typeface="Times New Roman"/>
                <a:cs typeface="Times New Roman"/>
              </a:rPr>
              <a:t>debugging,</a:t>
            </a:r>
            <a:r>
              <a:rPr sz="1200" spc="185" dirty="0">
                <a:latin typeface="Times New Roman"/>
                <a:cs typeface="Times New Roman"/>
              </a:rPr>
              <a:t> </a:t>
            </a:r>
            <a:r>
              <a:rPr sz="1200" dirty="0">
                <a:latin typeface="Times New Roman"/>
                <a:cs typeface="Times New Roman"/>
              </a:rPr>
              <a:t>and</a:t>
            </a:r>
            <a:r>
              <a:rPr sz="1200" spc="185" dirty="0">
                <a:latin typeface="Times New Roman"/>
                <a:cs typeface="Times New Roman"/>
              </a:rPr>
              <a:t> </a:t>
            </a:r>
            <a:r>
              <a:rPr sz="1200" spc="-10" dirty="0">
                <a:latin typeface="Times New Roman"/>
                <a:cs typeface="Times New Roman"/>
              </a:rPr>
              <a:t>troubleshooting </a:t>
            </a:r>
            <a:r>
              <a:rPr sz="1200" dirty="0">
                <a:latin typeface="Times New Roman"/>
                <a:cs typeface="Times New Roman"/>
              </a:rPr>
              <a:t>abilities,</a:t>
            </a:r>
            <a:r>
              <a:rPr sz="1200" spc="-5" dirty="0">
                <a:latin typeface="Times New Roman"/>
                <a:cs typeface="Times New Roman"/>
              </a:rPr>
              <a:t> </a:t>
            </a:r>
            <a:r>
              <a:rPr sz="1200" dirty="0">
                <a:latin typeface="Times New Roman"/>
                <a:cs typeface="Times New Roman"/>
              </a:rPr>
              <a:t>especially</a:t>
            </a:r>
            <a:r>
              <a:rPr sz="1200" spc="-5" dirty="0">
                <a:latin typeface="Times New Roman"/>
                <a:cs typeface="Times New Roman"/>
              </a:rPr>
              <a:t> </a:t>
            </a:r>
            <a:r>
              <a:rPr sz="1200" dirty="0">
                <a:latin typeface="Times New Roman"/>
                <a:cs typeface="Times New Roman"/>
              </a:rPr>
              <a:t>in identifying wiring</a:t>
            </a:r>
            <a:r>
              <a:rPr sz="1200" spc="-5" dirty="0">
                <a:latin typeface="Times New Roman"/>
                <a:cs typeface="Times New Roman"/>
              </a:rPr>
              <a:t> </a:t>
            </a:r>
            <a:r>
              <a:rPr sz="1200" dirty="0">
                <a:latin typeface="Times New Roman"/>
                <a:cs typeface="Times New Roman"/>
              </a:rPr>
              <a:t>errors,</a:t>
            </a:r>
            <a:r>
              <a:rPr sz="1200" spc="-5" dirty="0">
                <a:latin typeface="Times New Roman"/>
                <a:cs typeface="Times New Roman"/>
              </a:rPr>
              <a:t> </a:t>
            </a:r>
            <a:r>
              <a:rPr sz="1200" dirty="0">
                <a:latin typeface="Times New Roman"/>
                <a:cs typeface="Times New Roman"/>
              </a:rPr>
              <a:t>checking regulated</a:t>
            </a:r>
            <a:r>
              <a:rPr sz="1200" spc="-5" dirty="0">
                <a:latin typeface="Times New Roman"/>
                <a:cs typeface="Times New Roman"/>
              </a:rPr>
              <a:t> </a:t>
            </a:r>
            <a:r>
              <a:rPr sz="1200" dirty="0">
                <a:latin typeface="Times New Roman"/>
                <a:cs typeface="Times New Roman"/>
              </a:rPr>
              <a:t>power</a:t>
            </a:r>
            <a:r>
              <a:rPr sz="1200" spc="5" dirty="0">
                <a:latin typeface="Times New Roman"/>
                <a:cs typeface="Times New Roman"/>
              </a:rPr>
              <a:t> </a:t>
            </a:r>
            <a:r>
              <a:rPr sz="1200" dirty="0">
                <a:latin typeface="Times New Roman"/>
                <a:cs typeface="Times New Roman"/>
              </a:rPr>
              <a:t>supply</a:t>
            </a:r>
            <a:r>
              <a:rPr sz="1200" spc="-5" dirty="0">
                <a:latin typeface="Times New Roman"/>
                <a:cs typeface="Times New Roman"/>
              </a:rPr>
              <a:t> </a:t>
            </a:r>
            <a:r>
              <a:rPr sz="1200" dirty="0">
                <a:latin typeface="Times New Roman"/>
                <a:cs typeface="Times New Roman"/>
              </a:rPr>
              <a:t>output,</a:t>
            </a:r>
            <a:r>
              <a:rPr sz="1200" spc="-5" dirty="0">
                <a:latin typeface="Times New Roman"/>
                <a:cs typeface="Times New Roman"/>
              </a:rPr>
              <a:t> </a:t>
            </a:r>
            <a:r>
              <a:rPr sz="1200" spc="-25" dirty="0">
                <a:latin typeface="Times New Roman"/>
                <a:cs typeface="Times New Roman"/>
              </a:rPr>
              <a:t>and </a:t>
            </a:r>
            <a:r>
              <a:rPr sz="1200" dirty="0">
                <a:latin typeface="Times New Roman"/>
                <a:cs typeface="Times New Roman"/>
              </a:rPr>
              <a:t>verifying</a:t>
            </a:r>
            <a:r>
              <a:rPr sz="1200" spc="-50" dirty="0">
                <a:latin typeface="Times New Roman"/>
                <a:cs typeface="Times New Roman"/>
              </a:rPr>
              <a:t> </a:t>
            </a:r>
            <a:r>
              <a:rPr sz="1200" dirty="0">
                <a:latin typeface="Times New Roman"/>
                <a:cs typeface="Times New Roman"/>
              </a:rPr>
              <a:t>sequential</a:t>
            </a:r>
            <a:r>
              <a:rPr sz="1200" spc="-50" dirty="0">
                <a:latin typeface="Times New Roman"/>
                <a:cs typeface="Times New Roman"/>
              </a:rPr>
              <a:t> </a:t>
            </a:r>
            <a:r>
              <a:rPr sz="1200" dirty="0">
                <a:latin typeface="Times New Roman"/>
                <a:cs typeface="Times New Roman"/>
              </a:rPr>
              <a:t>LED</a:t>
            </a:r>
            <a:r>
              <a:rPr sz="1200" spc="-50" dirty="0">
                <a:latin typeface="Times New Roman"/>
                <a:cs typeface="Times New Roman"/>
              </a:rPr>
              <a:t> </a:t>
            </a:r>
            <a:r>
              <a:rPr sz="1200" spc="-10" dirty="0">
                <a:latin typeface="Times New Roman"/>
                <a:cs typeface="Times New Roman"/>
              </a:rPr>
              <a:t>operation.</a:t>
            </a:r>
            <a:endParaRPr sz="1200">
              <a:latin typeface="Times New Roman"/>
              <a:cs typeface="Times New Roman"/>
            </a:endParaRPr>
          </a:p>
          <a:p>
            <a:pPr>
              <a:lnSpc>
                <a:spcPct val="100000"/>
              </a:lnSpc>
              <a:spcBef>
                <a:spcPts val="20"/>
              </a:spcBef>
            </a:pPr>
            <a:endParaRPr sz="1200">
              <a:latin typeface="Times New Roman"/>
              <a:cs typeface="Times New Roman"/>
            </a:endParaRPr>
          </a:p>
          <a:p>
            <a:pPr marL="12700" marR="6985" algn="just">
              <a:lnSpc>
                <a:spcPts val="1380"/>
              </a:lnSpc>
              <a:spcBef>
                <a:spcPts val="5"/>
              </a:spcBef>
            </a:pPr>
            <a:r>
              <a:rPr sz="1200" dirty="0">
                <a:latin typeface="Times New Roman"/>
                <a:cs typeface="Times New Roman"/>
              </a:rPr>
              <a:t>Overall,</a:t>
            </a:r>
            <a:r>
              <a:rPr sz="1200" spc="75" dirty="0">
                <a:latin typeface="Times New Roman"/>
                <a:cs typeface="Times New Roman"/>
              </a:rPr>
              <a:t> </a:t>
            </a: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project</a:t>
            </a:r>
            <a:r>
              <a:rPr sz="1200" spc="80" dirty="0">
                <a:latin typeface="Times New Roman"/>
                <a:cs typeface="Times New Roman"/>
              </a:rPr>
              <a:t> </a:t>
            </a:r>
            <a:r>
              <a:rPr sz="1200" dirty="0">
                <a:latin typeface="Times New Roman"/>
                <a:cs typeface="Times New Roman"/>
              </a:rPr>
              <a:t>provided</a:t>
            </a:r>
            <a:r>
              <a:rPr sz="1200" spc="75" dirty="0">
                <a:latin typeface="Times New Roman"/>
                <a:cs typeface="Times New Roman"/>
              </a:rPr>
              <a:t> </a:t>
            </a:r>
            <a:r>
              <a:rPr sz="1200" dirty="0">
                <a:latin typeface="Times New Roman"/>
                <a:cs typeface="Times New Roman"/>
              </a:rPr>
              <a:t>complete</a:t>
            </a:r>
            <a:r>
              <a:rPr sz="1200" spc="75" dirty="0">
                <a:latin typeface="Times New Roman"/>
                <a:cs typeface="Times New Roman"/>
              </a:rPr>
              <a:t> </a:t>
            </a:r>
            <a:r>
              <a:rPr sz="1200" dirty="0">
                <a:latin typeface="Times New Roman"/>
                <a:cs typeface="Times New Roman"/>
              </a:rPr>
              <a:t>exposure</a:t>
            </a:r>
            <a:r>
              <a:rPr sz="1200" spc="70" dirty="0">
                <a:latin typeface="Times New Roman"/>
                <a:cs typeface="Times New Roman"/>
              </a:rPr>
              <a:t> </a:t>
            </a:r>
            <a:r>
              <a:rPr sz="1200" dirty="0">
                <a:latin typeface="Times New Roman"/>
                <a:cs typeface="Times New Roman"/>
              </a:rPr>
              <a:t>to</a:t>
            </a:r>
            <a:r>
              <a:rPr sz="1200" spc="8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75" dirty="0">
                <a:latin typeface="Times New Roman"/>
                <a:cs typeface="Times New Roman"/>
              </a:rPr>
              <a:t> </a:t>
            </a:r>
            <a:r>
              <a:rPr sz="1200" dirty="0">
                <a:latin typeface="Times New Roman"/>
                <a:cs typeface="Times New Roman"/>
              </a:rPr>
              <a:t>digital</a:t>
            </a:r>
            <a:r>
              <a:rPr sz="1200" spc="75" dirty="0">
                <a:latin typeface="Times New Roman"/>
                <a:cs typeface="Times New Roman"/>
              </a:rPr>
              <a:t> </a:t>
            </a:r>
            <a:r>
              <a:rPr sz="1200" dirty="0">
                <a:latin typeface="Times New Roman"/>
                <a:cs typeface="Times New Roman"/>
              </a:rPr>
              <a:t>hardware</a:t>
            </a:r>
            <a:r>
              <a:rPr sz="1200" spc="70" dirty="0">
                <a:latin typeface="Times New Roman"/>
                <a:cs typeface="Times New Roman"/>
              </a:rPr>
              <a:t> </a:t>
            </a:r>
            <a:r>
              <a:rPr sz="1200" spc="-10" dirty="0">
                <a:latin typeface="Times New Roman"/>
                <a:cs typeface="Times New Roman"/>
              </a:rPr>
              <a:t>development, </a:t>
            </a:r>
            <a:r>
              <a:rPr sz="1200" dirty="0">
                <a:latin typeface="Times New Roman"/>
                <a:cs typeface="Times New Roman"/>
              </a:rPr>
              <a:t>starting</a:t>
            </a:r>
            <a:r>
              <a:rPr sz="1200" spc="-25"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dirty="0">
                <a:latin typeface="Times New Roman"/>
                <a:cs typeface="Times New Roman"/>
              </a:rPr>
              <a:t>circuit</a:t>
            </a:r>
            <a:r>
              <a:rPr sz="1200" spc="-20" dirty="0">
                <a:latin typeface="Times New Roman"/>
                <a:cs typeface="Times New Roman"/>
              </a:rPr>
              <a:t> </a:t>
            </a:r>
            <a:r>
              <a:rPr sz="1200" dirty="0">
                <a:latin typeface="Times New Roman"/>
                <a:cs typeface="Times New Roman"/>
              </a:rPr>
              <a:t>design</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final</a:t>
            </a:r>
            <a:r>
              <a:rPr sz="1200" spc="-20" dirty="0">
                <a:latin typeface="Times New Roman"/>
                <a:cs typeface="Times New Roman"/>
              </a:rPr>
              <a:t> </a:t>
            </a:r>
            <a:r>
              <a:rPr sz="1200" spc="-10" dirty="0">
                <a:latin typeface="Times New Roman"/>
                <a:cs typeface="Times New Roman"/>
              </a:rPr>
              <a:t>implementation</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testing</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synchronous</a:t>
            </a:r>
            <a:r>
              <a:rPr sz="1200" spc="-25" dirty="0">
                <a:latin typeface="Times New Roman"/>
                <a:cs typeface="Times New Roman"/>
              </a:rPr>
              <a:t> </a:t>
            </a:r>
            <a:r>
              <a:rPr sz="1200" spc="-20" dirty="0">
                <a:latin typeface="Times New Roman"/>
                <a:cs typeface="Times New Roman"/>
              </a:rPr>
              <a:t>ring </a:t>
            </a:r>
            <a:r>
              <a:rPr sz="1200" dirty="0">
                <a:latin typeface="Times New Roman"/>
                <a:cs typeface="Times New Roman"/>
              </a:rPr>
              <a:t>counter</a:t>
            </a:r>
            <a:r>
              <a:rPr sz="1200" spc="-5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p:txBody>
      </p:sp>
      <p:pic>
        <p:nvPicPr>
          <p:cNvPr id="4" name="object 4"/>
          <p:cNvPicPr/>
          <p:nvPr/>
        </p:nvPicPr>
        <p:blipFill>
          <a:blip r:embed="rId2" cstate="print"/>
          <a:stretch>
            <a:fillRect/>
          </a:stretch>
        </p:blipFill>
        <p:spPr>
          <a:xfrm>
            <a:off x="914400" y="1142364"/>
            <a:ext cx="5518785" cy="3462020"/>
          </a:xfrm>
          <a:prstGeom prst="rect">
            <a:avLst/>
          </a:prstGeom>
        </p:spPr>
      </p:pic>
      <p:sp>
        <p:nvSpPr>
          <p:cNvPr id="5" name="object 5"/>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2004" y="1139698"/>
            <a:ext cx="348234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9.</a:t>
            </a:r>
            <a:r>
              <a:rPr sz="1600" b="1" spc="180" dirty="0">
                <a:latin typeface="Times New Roman"/>
                <a:cs typeface="Times New Roman"/>
              </a:rPr>
              <a:t> </a:t>
            </a:r>
            <a:r>
              <a:rPr sz="1600" b="1" dirty="0">
                <a:latin typeface="Times New Roman"/>
                <a:cs typeface="Times New Roman"/>
              </a:rPr>
              <a:t>ADVANTAGES</a:t>
            </a:r>
            <a:r>
              <a:rPr sz="1600" b="1" spc="-5" dirty="0">
                <a:latin typeface="Times New Roman"/>
                <a:cs typeface="Times New Roman"/>
              </a:rPr>
              <a:t> </a:t>
            </a:r>
            <a:r>
              <a:rPr sz="1600" b="1" dirty="0">
                <a:latin typeface="Times New Roman"/>
                <a:cs typeface="Times New Roman"/>
              </a:rPr>
              <a:t>&amp;</a:t>
            </a:r>
            <a:r>
              <a:rPr sz="1600" b="1" spc="-15" dirty="0">
                <a:latin typeface="Times New Roman"/>
                <a:cs typeface="Times New Roman"/>
              </a:rPr>
              <a:t> </a:t>
            </a:r>
            <a:r>
              <a:rPr sz="1600" b="1" spc="-10" dirty="0">
                <a:latin typeface="Times New Roman"/>
                <a:cs typeface="Times New Roman"/>
              </a:rPr>
              <a:t>APPLICATIONS</a:t>
            </a:r>
            <a:endParaRPr sz="1600">
              <a:latin typeface="Times New Roman"/>
              <a:cs typeface="Times New Roman"/>
            </a:endParaRPr>
          </a:p>
        </p:txBody>
      </p:sp>
      <p:graphicFrame>
        <p:nvGraphicFramePr>
          <p:cNvPr id="3" name="object 3"/>
          <p:cNvGraphicFramePr>
            <a:graphicFrameLocks noGrp="1"/>
          </p:cNvGraphicFramePr>
          <p:nvPr>
            <p:extLst>
              <p:ext uri="{D42A27DB-BD31-4B8C-83A1-F6EECF244321}">
                <p14:modId xmlns:p14="http://schemas.microsoft.com/office/powerpoint/2010/main" val="2422059474"/>
              </p:ext>
            </p:extLst>
          </p:nvPr>
        </p:nvGraphicFramePr>
        <p:xfrm>
          <a:off x="577850" y="1408938"/>
          <a:ext cx="5726429" cy="1997037"/>
        </p:xfrm>
        <a:graphic>
          <a:graphicData uri="http://schemas.openxmlformats.org/drawingml/2006/table">
            <a:tbl>
              <a:tblPr firstRow="1" bandRow="1">
                <a:tableStyleId>{2D5ABB26-0587-4C30-8999-92F81FD0307C}</a:tableStyleId>
              </a:tblPr>
              <a:tblGrid>
                <a:gridCol w="2862580">
                  <a:extLst>
                    <a:ext uri="{9D8B030D-6E8A-4147-A177-3AD203B41FA5}">
                      <a16:colId xmlns:a16="http://schemas.microsoft.com/office/drawing/2014/main" val="20000"/>
                    </a:ext>
                  </a:extLst>
                </a:gridCol>
                <a:gridCol w="2863849">
                  <a:extLst>
                    <a:ext uri="{9D8B030D-6E8A-4147-A177-3AD203B41FA5}">
                      <a16:colId xmlns:a16="http://schemas.microsoft.com/office/drawing/2014/main" val="20001"/>
                    </a:ext>
                  </a:extLst>
                </a:gridCol>
              </a:tblGrid>
              <a:tr h="328883">
                <a:tc>
                  <a:txBody>
                    <a:bodyPr/>
                    <a:lstStyle/>
                    <a:p>
                      <a:pPr algn="ctr">
                        <a:lnSpc>
                          <a:spcPts val="1380"/>
                        </a:lnSpc>
                      </a:pPr>
                      <a:r>
                        <a:rPr sz="1200" spc="-10" dirty="0">
                          <a:solidFill>
                            <a:srgbClr val="202020"/>
                          </a:solidFill>
                          <a:latin typeface="Times New Roman"/>
                          <a:cs typeface="Times New Roman"/>
                        </a:rPr>
                        <a:t>Advantages</a:t>
                      </a:r>
                      <a:endParaRPr sz="1200">
                        <a:latin typeface="Times New Roman"/>
                        <a:cs typeface="Times New Roman"/>
                      </a:endParaRPr>
                    </a:p>
                  </a:txBody>
                  <a:tcPr marL="0" marR="0" marT="0" marB="0">
                    <a:lnL w="6350">
                      <a:solidFill>
                        <a:srgbClr val="C8C8C8"/>
                      </a:solidFill>
                      <a:prstDash val="solid"/>
                    </a:lnL>
                    <a:lnR w="6350">
                      <a:solidFill>
                        <a:srgbClr val="C8C8C8"/>
                      </a:solidFill>
                      <a:prstDash val="solid"/>
                    </a:lnR>
                    <a:lnT w="6350">
                      <a:solidFill>
                        <a:srgbClr val="C8C8C8"/>
                      </a:solidFill>
                      <a:prstDash val="solid"/>
                    </a:lnT>
                    <a:lnB w="19050">
                      <a:solidFill>
                        <a:srgbClr val="C8C8C8"/>
                      </a:solidFill>
                      <a:prstDash val="solid"/>
                    </a:lnB>
                  </a:tcPr>
                </a:tc>
                <a:tc>
                  <a:txBody>
                    <a:bodyPr/>
                    <a:lstStyle/>
                    <a:p>
                      <a:pPr marL="1155065">
                        <a:lnSpc>
                          <a:spcPts val="1380"/>
                        </a:lnSpc>
                      </a:pPr>
                      <a:r>
                        <a:rPr sz="1200" spc="-10" dirty="0">
                          <a:solidFill>
                            <a:srgbClr val="202020"/>
                          </a:solidFill>
                          <a:latin typeface="Times New Roman"/>
                          <a:cs typeface="Times New Roman"/>
                        </a:rPr>
                        <a:t>Applications</a:t>
                      </a:r>
                      <a:endParaRPr sz="1200">
                        <a:latin typeface="Times New Roman"/>
                        <a:cs typeface="Times New Roman"/>
                      </a:endParaRPr>
                    </a:p>
                  </a:txBody>
                  <a:tcPr marL="0" marR="0" marT="0" marB="0">
                    <a:lnL w="6350">
                      <a:solidFill>
                        <a:srgbClr val="C8C8C8"/>
                      </a:solidFill>
                      <a:prstDash val="solid"/>
                    </a:lnL>
                    <a:lnR w="6350">
                      <a:solidFill>
                        <a:srgbClr val="C8C8C8"/>
                      </a:solidFill>
                      <a:prstDash val="solid"/>
                    </a:lnR>
                    <a:lnT w="6350">
                      <a:solidFill>
                        <a:srgbClr val="C8C8C8"/>
                      </a:solidFill>
                      <a:prstDash val="solid"/>
                    </a:lnT>
                    <a:lnB w="19050">
                      <a:solidFill>
                        <a:srgbClr val="C8C8C8"/>
                      </a:solidFill>
                      <a:prstDash val="solid"/>
                    </a:lnB>
                  </a:tcPr>
                </a:tc>
                <a:extLst>
                  <a:ext uri="{0D108BD9-81ED-4DB2-BD59-A6C34878D82A}">
                    <a16:rowId xmlns:a16="http://schemas.microsoft.com/office/drawing/2014/main" val="10000"/>
                  </a:ext>
                </a:extLst>
              </a:tr>
              <a:tr h="418182">
                <a:tc>
                  <a:txBody>
                    <a:bodyPr/>
                    <a:lstStyle/>
                    <a:p>
                      <a:pPr algn="ctr">
                        <a:lnSpc>
                          <a:spcPct val="100000"/>
                        </a:lnSpc>
                      </a:pPr>
                      <a:r>
                        <a:rPr lang="en-US" sz="1200" dirty="0"/>
                        <a:t>Provides accurate and real-time heart rate measurement</a:t>
                      </a:r>
                      <a:endParaRPr sz="1200" dirty="0">
                        <a:latin typeface="Times New Roman"/>
                        <a:cs typeface="Times New Roman"/>
                      </a:endParaRPr>
                    </a:p>
                  </a:txBody>
                  <a:tcPr marL="0" marR="0" marT="0" marB="0">
                    <a:lnL w="6350">
                      <a:solidFill>
                        <a:srgbClr val="C8C8C8"/>
                      </a:solidFill>
                      <a:prstDash val="solid"/>
                    </a:lnL>
                    <a:lnR w="6350">
                      <a:solidFill>
                        <a:srgbClr val="C8C8C8"/>
                      </a:solidFill>
                      <a:prstDash val="solid"/>
                    </a:lnR>
                    <a:lnT w="19050">
                      <a:solidFill>
                        <a:srgbClr val="C8C8C8"/>
                      </a:solidFill>
                      <a:prstDash val="solid"/>
                    </a:lnT>
                    <a:lnB w="6350">
                      <a:solidFill>
                        <a:srgbClr val="C8C8C8"/>
                      </a:solidFill>
                      <a:prstDash val="solid"/>
                    </a:lnB>
                  </a:tcPr>
                </a:tc>
                <a:tc>
                  <a:txBody>
                    <a:bodyPr/>
                    <a:lstStyle/>
                    <a:p>
                      <a:pPr marL="825500">
                        <a:lnSpc>
                          <a:spcPct val="100000"/>
                        </a:lnSpc>
                      </a:pPr>
                      <a:r>
                        <a:rPr lang="en-US" sz="1200" dirty="0"/>
                        <a:t>Used in hospitals and clinics for patient monitoring</a:t>
                      </a:r>
                      <a:endParaRPr sz="1200" dirty="0">
                        <a:latin typeface="Times New Roman"/>
                        <a:cs typeface="Times New Roman"/>
                      </a:endParaRPr>
                    </a:p>
                  </a:txBody>
                  <a:tcPr marL="0" marR="0" marT="0" marB="0">
                    <a:lnL w="6350">
                      <a:solidFill>
                        <a:srgbClr val="C8C8C8"/>
                      </a:solidFill>
                      <a:prstDash val="solid"/>
                    </a:lnL>
                    <a:lnR w="6350">
                      <a:solidFill>
                        <a:srgbClr val="C8C8C8"/>
                      </a:solidFill>
                      <a:prstDash val="solid"/>
                    </a:lnR>
                    <a:lnT w="19050">
                      <a:solidFill>
                        <a:srgbClr val="C8C8C8"/>
                      </a:solidFill>
                      <a:prstDash val="solid"/>
                    </a:lnT>
                    <a:lnB w="6350">
                      <a:solidFill>
                        <a:srgbClr val="C8C8C8"/>
                      </a:solidFill>
                      <a:prstDash val="solid"/>
                    </a:lnB>
                  </a:tcPr>
                </a:tc>
                <a:extLst>
                  <a:ext uri="{0D108BD9-81ED-4DB2-BD59-A6C34878D82A}">
                    <a16:rowId xmlns:a16="http://schemas.microsoft.com/office/drawing/2014/main" val="10001"/>
                  </a:ext>
                </a:extLst>
              </a:tr>
              <a:tr h="406566">
                <a:tc>
                  <a:txBody>
                    <a:bodyPr/>
                    <a:lstStyle/>
                    <a:p>
                      <a:pPr algn="ctr">
                        <a:lnSpc>
                          <a:spcPts val="1380"/>
                        </a:lnSpc>
                      </a:pPr>
                      <a:r>
                        <a:rPr lang="en-US" sz="1200" dirty="0"/>
                        <a:t>Helps in the early detection of abnormal heart conditions</a:t>
                      </a:r>
                      <a:endParaRPr sz="1200" dirty="0">
                        <a:latin typeface="Times New Roman"/>
                        <a:cs typeface="Times New Roman"/>
                      </a:endParaRPr>
                    </a:p>
                  </a:txBody>
                  <a:tcPr marL="0" marR="0" marT="0" marB="0">
                    <a:lnL w="6350">
                      <a:solidFill>
                        <a:srgbClr val="C8C8C8"/>
                      </a:solidFill>
                      <a:prstDash val="solid"/>
                    </a:lnL>
                    <a:lnR w="6350">
                      <a:solidFill>
                        <a:srgbClr val="C8C8C8"/>
                      </a:solidFill>
                      <a:prstDash val="solid"/>
                    </a:lnR>
                    <a:lnT w="6350">
                      <a:solidFill>
                        <a:srgbClr val="C8C8C8"/>
                      </a:solidFill>
                      <a:prstDash val="solid"/>
                    </a:lnT>
                    <a:lnB w="6350">
                      <a:solidFill>
                        <a:srgbClr val="C8C8C8"/>
                      </a:solidFill>
                      <a:prstDash val="solid"/>
                    </a:lnB>
                  </a:tcPr>
                </a:tc>
                <a:tc>
                  <a:txBody>
                    <a:bodyPr/>
                    <a:lstStyle/>
                    <a:p>
                      <a:pPr marL="801370">
                        <a:lnSpc>
                          <a:spcPts val="1380"/>
                        </a:lnSpc>
                      </a:pPr>
                      <a:r>
                        <a:rPr lang="en-US" sz="1200" dirty="0"/>
                        <a:t>Helps doctors and nurses track patients' heart conditions</a:t>
                      </a:r>
                      <a:endParaRPr sz="1200" dirty="0">
                        <a:latin typeface="Times New Roman"/>
                        <a:cs typeface="Times New Roman"/>
                      </a:endParaRPr>
                    </a:p>
                  </a:txBody>
                  <a:tcPr marL="0" marR="0" marT="0" marB="0">
                    <a:lnL w="6350">
                      <a:solidFill>
                        <a:srgbClr val="C8C8C8"/>
                      </a:solidFill>
                      <a:prstDash val="solid"/>
                    </a:lnL>
                    <a:lnR w="6350">
                      <a:solidFill>
                        <a:srgbClr val="C8C8C8"/>
                      </a:solidFill>
                      <a:prstDash val="solid"/>
                    </a:lnR>
                    <a:lnT w="6350">
                      <a:solidFill>
                        <a:srgbClr val="C8C8C8"/>
                      </a:solidFill>
                      <a:prstDash val="solid"/>
                    </a:lnT>
                    <a:lnB w="6350">
                      <a:solidFill>
                        <a:srgbClr val="C8C8C8"/>
                      </a:solidFill>
                      <a:prstDash val="solid"/>
                    </a:lnB>
                  </a:tcPr>
                </a:tc>
                <a:extLst>
                  <a:ext uri="{0D108BD9-81ED-4DB2-BD59-A6C34878D82A}">
                    <a16:rowId xmlns:a16="http://schemas.microsoft.com/office/drawing/2014/main" val="10002"/>
                  </a:ext>
                </a:extLst>
              </a:tr>
              <a:tr h="406566">
                <a:tc>
                  <a:txBody>
                    <a:bodyPr/>
                    <a:lstStyle/>
                    <a:p>
                      <a:pPr algn="ctr">
                        <a:lnSpc>
                          <a:spcPts val="1380"/>
                        </a:lnSpc>
                      </a:pPr>
                      <a:r>
                        <a:rPr lang="en-US" sz="1200" dirty="0"/>
                        <a:t>Improves healthcare management and patient safety</a:t>
                      </a:r>
                      <a:endParaRPr sz="1200" dirty="0">
                        <a:latin typeface="Times New Roman"/>
                        <a:cs typeface="Times New Roman"/>
                      </a:endParaRPr>
                    </a:p>
                  </a:txBody>
                  <a:tcPr marL="0" marR="0" marT="0" marB="0">
                    <a:lnL w="6350">
                      <a:solidFill>
                        <a:srgbClr val="C8C8C8"/>
                      </a:solidFill>
                      <a:prstDash val="solid"/>
                    </a:lnL>
                    <a:lnR w="6350">
                      <a:solidFill>
                        <a:srgbClr val="C8C8C8"/>
                      </a:solidFill>
                      <a:prstDash val="solid"/>
                    </a:lnR>
                    <a:lnT w="6350">
                      <a:solidFill>
                        <a:srgbClr val="C8C8C8"/>
                      </a:solidFill>
                      <a:prstDash val="solid"/>
                    </a:lnT>
                    <a:lnB w="6350">
                      <a:solidFill>
                        <a:srgbClr val="C8C8C8"/>
                      </a:solidFill>
                      <a:prstDash val="solid"/>
                    </a:lnB>
                  </a:tcPr>
                </a:tc>
                <a:tc>
                  <a:txBody>
                    <a:bodyPr/>
                    <a:lstStyle/>
                    <a:p>
                      <a:pPr marL="941705">
                        <a:lnSpc>
                          <a:spcPts val="1380"/>
                        </a:lnSpc>
                      </a:pPr>
                      <a:r>
                        <a:rPr lang="en-US" sz="1200" dirty="0"/>
                        <a:t>Used in home healthcare systems for regular health monitoring</a:t>
                      </a:r>
                      <a:endParaRPr sz="1200" dirty="0">
                        <a:latin typeface="Times New Roman"/>
                        <a:cs typeface="Times New Roman"/>
                      </a:endParaRPr>
                    </a:p>
                  </a:txBody>
                  <a:tcPr marL="0" marR="0" marT="0" marB="0">
                    <a:lnL w="6350">
                      <a:solidFill>
                        <a:srgbClr val="C8C8C8"/>
                      </a:solidFill>
                      <a:prstDash val="solid"/>
                    </a:lnL>
                    <a:lnR w="6350">
                      <a:solidFill>
                        <a:srgbClr val="C8C8C8"/>
                      </a:solidFill>
                      <a:prstDash val="solid"/>
                    </a:lnR>
                    <a:lnT w="6350">
                      <a:solidFill>
                        <a:srgbClr val="C8C8C8"/>
                      </a:solidFill>
                      <a:prstDash val="solid"/>
                    </a:lnT>
                    <a:lnB w="6350">
                      <a:solidFill>
                        <a:srgbClr val="C8C8C8"/>
                      </a:solidFill>
                      <a:prstDash val="solid"/>
                    </a:lnB>
                  </a:tcPr>
                </a:tc>
                <a:extLst>
                  <a:ext uri="{0D108BD9-81ED-4DB2-BD59-A6C34878D82A}">
                    <a16:rowId xmlns:a16="http://schemas.microsoft.com/office/drawing/2014/main" val="10003"/>
                  </a:ext>
                </a:extLst>
              </a:tr>
              <a:tr h="310006">
                <a:tc>
                  <a:txBody>
                    <a:bodyPr/>
                    <a:lstStyle/>
                    <a:p>
                      <a:pPr algn="ctr">
                        <a:lnSpc>
                          <a:spcPts val="1380"/>
                        </a:lnSpc>
                      </a:pPr>
                      <a:r>
                        <a:rPr sz="1200" dirty="0">
                          <a:solidFill>
                            <a:srgbClr val="202020"/>
                          </a:solidFill>
                          <a:latin typeface="Times New Roman"/>
                          <a:cs typeface="Times New Roman"/>
                        </a:rPr>
                        <a:t>Easy</a:t>
                      </a:r>
                      <a:r>
                        <a:rPr sz="1200" spc="-25" dirty="0">
                          <a:solidFill>
                            <a:srgbClr val="202020"/>
                          </a:solidFill>
                          <a:latin typeface="Times New Roman"/>
                          <a:cs typeface="Times New Roman"/>
                        </a:rPr>
                        <a:t> </a:t>
                      </a:r>
                      <a:r>
                        <a:rPr sz="1200" dirty="0">
                          <a:solidFill>
                            <a:srgbClr val="202020"/>
                          </a:solidFill>
                          <a:latin typeface="Times New Roman"/>
                          <a:cs typeface="Times New Roman"/>
                        </a:rPr>
                        <a:t>to</a:t>
                      </a:r>
                      <a:r>
                        <a:rPr sz="1200" spc="-25" dirty="0">
                          <a:solidFill>
                            <a:srgbClr val="202020"/>
                          </a:solidFill>
                          <a:latin typeface="Times New Roman"/>
                          <a:cs typeface="Times New Roman"/>
                        </a:rPr>
                        <a:t> </a:t>
                      </a:r>
                      <a:r>
                        <a:rPr sz="1200" dirty="0">
                          <a:solidFill>
                            <a:srgbClr val="202020"/>
                          </a:solidFill>
                          <a:latin typeface="Times New Roman"/>
                          <a:cs typeface="Times New Roman"/>
                        </a:rPr>
                        <a:t>understand</a:t>
                      </a:r>
                      <a:r>
                        <a:rPr sz="1200" spc="-20" dirty="0">
                          <a:solidFill>
                            <a:srgbClr val="202020"/>
                          </a:solidFill>
                          <a:latin typeface="Times New Roman"/>
                          <a:cs typeface="Times New Roman"/>
                        </a:rPr>
                        <a:t> </a:t>
                      </a:r>
                      <a:r>
                        <a:rPr sz="1200" dirty="0">
                          <a:solidFill>
                            <a:srgbClr val="202020"/>
                          </a:solidFill>
                          <a:latin typeface="Times New Roman"/>
                          <a:cs typeface="Times New Roman"/>
                        </a:rPr>
                        <a:t>and</a:t>
                      </a:r>
                      <a:r>
                        <a:rPr sz="1200" spc="-25" dirty="0">
                          <a:solidFill>
                            <a:srgbClr val="202020"/>
                          </a:solidFill>
                          <a:latin typeface="Times New Roman"/>
                          <a:cs typeface="Times New Roman"/>
                        </a:rPr>
                        <a:t> </a:t>
                      </a:r>
                      <a:r>
                        <a:rPr sz="1200" spc="-10" dirty="0">
                          <a:solidFill>
                            <a:srgbClr val="202020"/>
                          </a:solidFill>
                          <a:latin typeface="Times New Roman"/>
                          <a:cs typeface="Times New Roman"/>
                        </a:rPr>
                        <a:t>implement</a:t>
                      </a:r>
                      <a:endParaRPr sz="1200">
                        <a:latin typeface="Times New Roman"/>
                        <a:cs typeface="Times New Roman"/>
                      </a:endParaRPr>
                    </a:p>
                  </a:txBody>
                  <a:tcPr marL="0" marR="0" marT="0" marB="0">
                    <a:lnL w="6350">
                      <a:solidFill>
                        <a:srgbClr val="C8C8C8"/>
                      </a:solidFill>
                      <a:prstDash val="solid"/>
                    </a:lnL>
                    <a:lnR w="6350">
                      <a:solidFill>
                        <a:srgbClr val="C8C8C8"/>
                      </a:solidFill>
                      <a:prstDash val="solid"/>
                    </a:lnR>
                    <a:lnT w="6350">
                      <a:solidFill>
                        <a:srgbClr val="C8C8C8"/>
                      </a:solidFill>
                      <a:prstDash val="solid"/>
                    </a:lnT>
                    <a:lnB w="6350">
                      <a:solidFill>
                        <a:srgbClr val="C8C8C8"/>
                      </a:solidFill>
                      <a:prstDash val="solid"/>
                    </a:lnB>
                  </a:tcPr>
                </a:tc>
                <a:tc>
                  <a:txBody>
                    <a:bodyPr/>
                    <a:lstStyle/>
                    <a:p>
                      <a:pPr marL="342265">
                        <a:lnSpc>
                          <a:spcPts val="1380"/>
                        </a:lnSpc>
                      </a:pPr>
                      <a:r>
                        <a:rPr sz="1200" spc="-10" dirty="0">
                          <a:solidFill>
                            <a:srgbClr val="202020"/>
                          </a:solidFill>
                          <a:latin typeface="Times New Roman"/>
                          <a:cs typeface="Times New Roman"/>
                        </a:rPr>
                        <a:t>Educational</a:t>
                      </a:r>
                      <a:r>
                        <a:rPr sz="1200" spc="-20" dirty="0">
                          <a:solidFill>
                            <a:srgbClr val="202020"/>
                          </a:solidFill>
                          <a:latin typeface="Times New Roman"/>
                          <a:cs typeface="Times New Roman"/>
                        </a:rPr>
                        <a:t> </a:t>
                      </a:r>
                      <a:r>
                        <a:rPr sz="1200" dirty="0">
                          <a:solidFill>
                            <a:srgbClr val="202020"/>
                          </a:solidFill>
                          <a:latin typeface="Times New Roman"/>
                          <a:cs typeface="Times New Roman"/>
                        </a:rPr>
                        <a:t>laboratory</a:t>
                      </a:r>
                      <a:r>
                        <a:rPr sz="1200" spc="-20" dirty="0">
                          <a:solidFill>
                            <a:srgbClr val="202020"/>
                          </a:solidFill>
                          <a:latin typeface="Times New Roman"/>
                          <a:cs typeface="Times New Roman"/>
                        </a:rPr>
                        <a:t> </a:t>
                      </a:r>
                      <a:r>
                        <a:rPr sz="1200" spc="-10" dirty="0">
                          <a:solidFill>
                            <a:srgbClr val="202020"/>
                          </a:solidFill>
                          <a:latin typeface="Times New Roman"/>
                          <a:cs typeface="Times New Roman"/>
                        </a:rPr>
                        <a:t>experiments</a:t>
                      </a:r>
                      <a:endParaRPr sz="1200" dirty="0">
                        <a:latin typeface="Times New Roman"/>
                        <a:cs typeface="Times New Roman"/>
                      </a:endParaRPr>
                    </a:p>
                  </a:txBody>
                  <a:tcPr marL="0" marR="0" marT="0" marB="0">
                    <a:lnL w="6350">
                      <a:solidFill>
                        <a:srgbClr val="C8C8C8"/>
                      </a:solidFill>
                      <a:prstDash val="solid"/>
                    </a:lnL>
                    <a:lnR w="6350">
                      <a:solidFill>
                        <a:srgbClr val="C8C8C8"/>
                      </a:solidFill>
                      <a:prstDash val="solid"/>
                    </a:lnR>
                    <a:lnT w="6350">
                      <a:solidFill>
                        <a:srgbClr val="C8C8C8"/>
                      </a:solidFill>
                      <a:prstDash val="solid"/>
                    </a:lnT>
                    <a:lnB w="6350">
                      <a:solidFill>
                        <a:srgbClr val="C8C8C8"/>
                      </a:solidFill>
                      <a:prstDash val="solid"/>
                    </a:lnB>
                  </a:tcPr>
                </a:tc>
                <a:extLst>
                  <a:ext uri="{0D108BD9-81ED-4DB2-BD59-A6C34878D82A}">
                    <a16:rowId xmlns:a16="http://schemas.microsoft.com/office/drawing/2014/main" val="10004"/>
                  </a:ext>
                </a:extLst>
              </a:tr>
            </a:tbl>
          </a:graphicData>
        </a:graphic>
      </p:graphicFrame>
      <p:sp>
        <p:nvSpPr>
          <p:cNvPr id="4" name="object 4"/>
          <p:cNvSpPr txBox="1"/>
          <p:nvPr/>
        </p:nvSpPr>
        <p:spPr>
          <a:xfrm>
            <a:off x="496010" y="3269711"/>
            <a:ext cx="6157899" cy="5372433"/>
          </a:xfrm>
          <a:prstGeom prst="rect">
            <a:avLst/>
          </a:prstGeom>
        </p:spPr>
        <p:txBody>
          <a:bodyPr vert="horz" wrap="square" lIns="0" tIns="12700" rIns="0" bIns="0" rtlCol="0">
            <a:spAutoFit/>
          </a:bodyPr>
          <a:lstStyle/>
          <a:p>
            <a:pPr marL="8890" algn="ctr">
              <a:lnSpc>
                <a:spcPct val="100000"/>
              </a:lnSpc>
              <a:spcBef>
                <a:spcPts val="100"/>
              </a:spcBef>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250"/>
              </a:spcBef>
            </a:pPr>
            <a:endParaRPr sz="2800" dirty="0">
              <a:latin typeface="Times New Roman"/>
              <a:cs typeface="Times New Roman"/>
            </a:endParaRPr>
          </a:p>
          <a:p>
            <a:pPr marL="55244">
              <a:lnSpc>
                <a:spcPct val="100000"/>
              </a:lnSpc>
              <a:tabLst>
                <a:tab pos="469265" algn="l"/>
              </a:tabLst>
            </a:pPr>
            <a:r>
              <a:rPr b="1" spc="-25" dirty="0">
                <a:latin typeface="Times New Roman"/>
                <a:cs typeface="Times New Roman"/>
              </a:rPr>
              <a:t>10.</a:t>
            </a:r>
            <a:r>
              <a:rPr sz="2800" b="1" dirty="0">
                <a:latin typeface="Times New Roman"/>
                <a:cs typeface="Times New Roman"/>
              </a:rPr>
              <a:t>	</a:t>
            </a:r>
            <a:r>
              <a:rPr b="1" spc="-10" dirty="0">
                <a:latin typeface="Times New Roman"/>
                <a:cs typeface="Times New Roman"/>
              </a:rPr>
              <a:t>CONCLUSION</a:t>
            </a:r>
            <a:endParaRPr lang="en-US" b="1" spc="-10" dirty="0">
              <a:latin typeface="Times New Roman"/>
              <a:cs typeface="Times New Roman"/>
            </a:endParaRPr>
          </a:p>
          <a:p>
            <a:pPr marL="55244" algn="just">
              <a:lnSpc>
                <a:spcPct val="100000"/>
              </a:lnSpc>
              <a:tabLst>
                <a:tab pos="469265" algn="l"/>
              </a:tabLst>
            </a:pPr>
            <a:endParaRPr sz="1600" dirty="0">
              <a:latin typeface="Times New Roman"/>
              <a:cs typeface="Times New Roman"/>
            </a:endParaRPr>
          </a:p>
          <a:p>
            <a:pPr algn="just">
              <a:lnSpc>
                <a:spcPct val="150000"/>
              </a:lnSpc>
            </a:pPr>
            <a:r>
              <a:rPr lang="en-US" sz="1200" dirty="0"/>
              <a:t>The Heart Beat Monitoring System is an effective and reliable solution for measuring and monitoring heart rate in real time. The system uses a heartbeat sensor and a microcontroller to accurately detect pulse signals and calculate the heart rate in beats per minute (BPM). The measured values are displayed instantly, allowing users to continuously monitor their cardiovascular health.</a:t>
            </a:r>
          </a:p>
          <a:p>
            <a:pPr algn="just">
              <a:lnSpc>
                <a:spcPct val="150000"/>
              </a:lnSpc>
            </a:pPr>
            <a:r>
              <a:rPr lang="en-US" sz="1200" dirty="0"/>
              <a:t>This project demonstrates how modern sensor technology can be used to develop a low-cost, portable, and user-friendly healthcare device. It helps in the early detection of abnormal heart rate conditions and supports timely medical attention when required. The system is suitable for use in hospitals, clinics, fitness centers, and home healthcare environments.</a:t>
            </a:r>
          </a:p>
          <a:p>
            <a:pPr algn="just">
              <a:lnSpc>
                <a:spcPct val="150000"/>
              </a:lnSpc>
            </a:pPr>
            <a:r>
              <a:rPr lang="en-US" sz="1200" dirty="0"/>
              <a:t>Overall, the Heart Beat Monitoring System contributes to improved health monitoring, patient safety, and preventive healthcare. The successful implementation of this project proves its usefulness as a practical tool for real-time heart rate monitoring and health management.</a:t>
            </a:r>
          </a:p>
        </p:txBody>
      </p:sp>
      <p:sp>
        <p:nvSpPr>
          <p:cNvPr id="5" name="object 5"/>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2004" y="1077213"/>
            <a:ext cx="5704205" cy="4439920"/>
          </a:xfrm>
          <a:prstGeom prst="rect">
            <a:avLst/>
          </a:prstGeom>
        </p:spPr>
        <p:txBody>
          <a:bodyPr vert="horz" wrap="square" lIns="0" tIns="12065" rIns="0" bIns="0" rtlCol="0">
            <a:spAutoFit/>
          </a:bodyPr>
          <a:lstStyle/>
          <a:p>
            <a:pPr marL="12700">
              <a:lnSpc>
                <a:spcPct val="100000"/>
              </a:lnSpc>
              <a:spcBef>
                <a:spcPts val="95"/>
              </a:spcBef>
              <a:tabLst>
                <a:tab pos="469265" algn="l"/>
              </a:tabLst>
            </a:pPr>
            <a:r>
              <a:rPr sz="1600" b="1" spc="-25" dirty="0">
                <a:latin typeface="Times New Roman"/>
                <a:cs typeface="Times New Roman"/>
              </a:rPr>
              <a:t>11.</a:t>
            </a:r>
            <a:r>
              <a:rPr sz="1600" b="1" dirty="0">
                <a:latin typeface="Times New Roman"/>
                <a:cs typeface="Times New Roman"/>
              </a:rPr>
              <a:t>	</a:t>
            </a:r>
            <a:r>
              <a:rPr sz="1600" b="1" spc="-10" dirty="0">
                <a:latin typeface="Times New Roman"/>
                <a:cs typeface="Times New Roman"/>
              </a:rPr>
              <a:t>REFERENCES</a:t>
            </a:r>
            <a:endParaRPr sz="1600">
              <a:latin typeface="Times New Roman"/>
              <a:cs typeface="Times New Roman"/>
            </a:endParaRPr>
          </a:p>
          <a:p>
            <a:pPr marL="226695" indent="-213995">
              <a:lnSpc>
                <a:spcPct val="100000"/>
              </a:lnSpc>
              <a:spcBef>
                <a:spcPts val="890"/>
              </a:spcBef>
              <a:buClr>
                <a:srgbClr val="000000"/>
              </a:buClr>
              <a:buSzPct val="95833"/>
              <a:buAutoNum type="arabicPlain"/>
              <a:tabLst>
                <a:tab pos="226695" algn="l"/>
              </a:tabLst>
            </a:pPr>
            <a:r>
              <a:rPr sz="1200" b="1" u="sng" spc="-10" dirty="0">
                <a:solidFill>
                  <a:srgbClr val="0462C1"/>
                </a:solidFill>
                <a:uFill>
                  <a:solidFill>
                    <a:srgbClr val="0462C1"/>
                  </a:solidFill>
                </a:uFill>
                <a:latin typeface="Times New Roman"/>
                <a:cs typeface="Times New Roman"/>
                <a:hlinkClick r:id="rId2"/>
              </a:rPr>
              <a:t>https://www.saveledgered.com/product-p-736646.html</a:t>
            </a:r>
            <a:endParaRPr sz="1200">
              <a:latin typeface="Times New Roman"/>
              <a:cs typeface="Times New Roman"/>
            </a:endParaRPr>
          </a:p>
          <a:p>
            <a:pPr marL="12700">
              <a:lnSpc>
                <a:spcPct val="100000"/>
              </a:lnSpc>
              <a:spcBef>
                <a:spcPts val="50"/>
              </a:spcBef>
            </a:pPr>
            <a:r>
              <a:rPr sz="1200" b="1" dirty="0">
                <a:latin typeface="Times New Roman"/>
                <a:cs typeface="Times New Roman"/>
              </a:rPr>
              <a:t>[Accessed:</a:t>
            </a:r>
            <a:r>
              <a:rPr sz="1200" b="1" spc="-35" dirty="0">
                <a:latin typeface="Times New Roman"/>
                <a:cs typeface="Times New Roman"/>
              </a:rPr>
              <a:t> </a:t>
            </a:r>
            <a:r>
              <a:rPr sz="1200" b="1" dirty="0">
                <a:latin typeface="Times New Roman"/>
                <a:cs typeface="Times New Roman"/>
              </a:rPr>
              <a:t>20</a:t>
            </a:r>
            <a:r>
              <a:rPr sz="1200" b="1" spc="-30" dirty="0">
                <a:latin typeface="Times New Roman"/>
                <a:cs typeface="Times New Roman"/>
              </a:rPr>
              <a:t> </a:t>
            </a:r>
            <a:r>
              <a:rPr sz="1200" b="1" dirty="0">
                <a:latin typeface="Times New Roman"/>
                <a:cs typeface="Times New Roman"/>
              </a:rPr>
              <a:t>February</a:t>
            </a:r>
            <a:r>
              <a:rPr sz="1200" b="1" spc="-20" dirty="0">
                <a:latin typeface="Times New Roman"/>
                <a:cs typeface="Times New Roman"/>
              </a:rPr>
              <a:t> </a:t>
            </a:r>
            <a:r>
              <a:rPr sz="1200" b="1" spc="-10" dirty="0">
                <a:latin typeface="Times New Roman"/>
                <a:cs typeface="Times New Roman"/>
              </a:rPr>
              <a:t>2026]</a:t>
            </a:r>
            <a:endParaRPr sz="1200">
              <a:latin typeface="Times New Roman"/>
              <a:cs typeface="Times New Roman"/>
            </a:endParaRPr>
          </a:p>
          <a:p>
            <a:pPr marL="12700" marR="2508885" indent="-8255">
              <a:lnSpc>
                <a:spcPct val="103299"/>
              </a:lnSpc>
              <a:spcBef>
                <a:spcPts val="805"/>
              </a:spcBef>
              <a:buClr>
                <a:srgbClr val="000000"/>
              </a:buClr>
              <a:buSzPct val="95833"/>
              <a:buAutoNum type="arabicPlain" startAt="2"/>
              <a:tabLst>
                <a:tab pos="188595" algn="l"/>
              </a:tabLst>
            </a:pPr>
            <a:r>
              <a:rPr sz="1200" b="1" u="sng" spc="-10" dirty="0">
                <a:solidFill>
                  <a:srgbClr val="0462C1"/>
                </a:solidFill>
                <a:uFill>
                  <a:solidFill>
                    <a:srgbClr val="0462C1"/>
                  </a:solidFill>
                </a:uFill>
                <a:latin typeface="Times New Roman"/>
                <a:cs typeface="Times New Roman"/>
                <a:hlinkClick r:id="rId3"/>
              </a:rPr>
              <a:t>	https://www.electrical4u.com/what-is-resistor/</a:t>
            </a:r>
            <a:r>
              <a:rPr sz="1200" b="1" spc="-10" dirty="0">
                <a:solidFill>
                  <a:srgbClr val="0462C1"/>
                </a:solidFill>
                <a:latin typeface="Times New Roman"/>
                <a:cs typeface="Times New Roman"/>
              </a:rPr>
              <a:t> </a:t>
            </a:r>
            <a:r>
              <a:rPr sz="1200" b="1" dirty="0">
                <a:latin typeface="Times New Roman"/>
                <a:cs typeface="Times New Roman"/>
              </a:rPr>
              <a:t>[Accessed:</a:t>
            </a:r>
            <a:r>
              <a:rPr sz="1200" b="1" spc="-35" dirty="0">
                <a:latin typeface="Times New Roman"/>
                <a:cs typeface="Times New Roman"/>
              </a:rPr>
              <a:t> </a:t>
            </a:r>
            <a:r>
              <a:rPr sz="1200" b="1" dirty="0">
                <a:latin typeface="Times New Roman"/>
                <a:cs typeface="Times New Roman"/>
              </a:rPr>
              <a:t>20</a:t>
            </a:r>
            <a:r>
              <a:rPr sz="1200" b="1" spc="-30" dirty="0">
                <a:latin typeface="Times New Roman"/>
                <a:cs typeface="Times New Roman"/>
              </a:rPr>
              <a:t> </a:t>
            </a:r>
            <a:r>
              <a:rPr sz="1200" b="1" dirty="0">
                <a:latin typeface="Times New Roman"/>
                <a:cs typeface="Times New Roman"/>
              </a:rPr>
              <a:t>February</a:t>
            </a:r>
            <a:r>
              <a:rPr sz="1200" b="1" spc="-20" dirty="0">
                <a:latin typeface="Times New Roman"/>
                <a:cs typeface="Times New Roman"/>
              </a:rPr>
              <a:t> </a:t>
            </a:r>
            <a:r>
              <a:rPr sz="1200" b="1" spc="-10" dirty="0">
                <a:latin typeface="Times New Roman"/>
                <a:cs typeface="Times New Roman"/>
              </a:rPr>
              <a:t>2026]</a:t>
            </a:r>
            <a:endParaRPr sz="1200">
              <a:latin typeface="Times New Roman"/>
              <a:cs typeface="Times New Roman"/>
            </a:endParaRPr>
          </a:p>
          <a:p>
            <a:pPr marL="12700" marR="1788160" indent="-8255">
              <a:lnSpc>
                <a:spcPct val="103299"/>
              </a:lnSpc>
              <a:spcBef>
                <a:spcPts val="805"/>
              </a:spcBef>
              <a:buClr>
                <a:srgbClr val="000000"/>
              </a:buClr>
              <a:buSzPct val="95833"/>
              <a:buAutoNum type="arabicPlain" startAt="2"/>
              <a:tabLst>
                <a:tab pos="188595" algn="l"/>
              </a:tabLst>
            </a:pPr>
            <a:r>
              <a:rPr sz="1200" b="1" u="sng" spc="-10" dirty="0">
                <a:solidFill>
                  <a:srgbClr val="0462C1"/>
                </a:solidFill>
                <a:uFill>
                  <a:solidFill>
                    <a:srgbClr val="0462C1"/>
                  </a:solidFill>
                </a:uFill>
                <a:latin typeface="Times New Roman"/>
                <a:cs typeface="Times New Roman"/>
                <a:hlinkClick r:id="rId4"/>
              </a:rPr>
              <a:t>	https://www.electrical4u.com/led-or-light-emitting-diode/</a:t>
            </a:r>
            <a:r>
              <a:rPr sz="1200" b="1" spc="-10" dirty="0">
                <a:solidFill>
                  <a:srgbClr val="0462C1"/>
                </a:solidFill>
                <a:latin typeface="Times New Roman"/>
                <a:cs typeface="Times New Roman"/>
              </a:rPr>
              <a:t> </a:t>
            </a:r>
            <a:r>
              <a:rPr sz="1200" b="1" dirty="0">
                <a:latin typeface="Times New Roman"/>
                <a:cs typeface="Times New Roman"/>
              </a:rPr>
              <a:t>[Accessed:</a:t>
            </a:r>
            <a:r>
              <a:rPr sz="1200" b="1" spc="-35" dirty="0">
                <a:latin typeface="Times New Roman"/>
                <a:cs typeface="Times New Roman"/>
              </a:rPr>
              <a:t> </a:t>
            </a:r>
            <a:r>
              <a:rPr sz="1200" b="1" dirty="0">
                <a:latin typeface="Times New Roman"/>
                <a:cs typeface="Times New Roman"/>
              </a:rPr>
              <a:t>20</a:t>
            </a:r>
            <a:r>
              <a:rPr sz="1200" b="1" spc="-30" dirty="0">
                <a:latin typeface="Times New Roman"/>
                <a:cs typeface="Times New Roman"/>
              </a:rPr>
              <a:t> </a:t>
            </a:r>
            <a:r>
              <a:rPr sz="1200" b="1" dirty="0">
                <a:latin typeface="Times New Roman"/>
                <a:cs typeface="Times New Roman"/>
              </a:rPr>
              <a:t>February</a:t>
            </a:r>
            <a:r>
              <a:rPr sz="1200" b="1" spc="-20" dirty="0">
                <a:latin typeface="Times New Roman"/>
                <a:cs typeface="Times New Roman"/>
              </a:rPr>
              <a:t> </a:t>
            </a:r>
            <a:r>
              <a:rPr sz="1200" b="1" spc="-10" dirty="0">
                <a:latin typeface="Times New Roman"/>
                <a:cs typeface="Times New Roman"/>
              </a:rPr>
              <a:t>2026]</a:t>
            </a:r>
            <a:endParaRPr sz="1200">
              <a:latin typeface="Times New Roman"/>
              <a:cs typeface="Times New Roman"/>
            </a:endParaRPr>
          </a:p>
          <a:p>
            <a:pPr marL="12700" marR="352425" indent="-8255">
              <a:lnSpc>
                <a:spcPct val="103299"/>
              </a:lnSpc>
              <a:spcBef>
                <a:spcPts val="805"/>
              </a:spcBef>
              <a:buClr>
                <a:srgbClr val="000000"/>
              </a:buClr>
              <a:buSzPct val="95833"/>
              <a:buAutoNum type="arabicPlain" startAt="2"/>
              <a:tabLst>
                <a:tab pos="188595" algn="l"/>
              </a:tabLst>
            </a:pPr>
            <a:r>
              <a:rPr sz="1200" b="1" u="sng" spc="-10" dirty="0">
                <a:solidFill>
                  <a:srgbClr val="0462C1"/>
                </a:solidFill>
                <a:uFill>
                  <a:solidFill>
                    <a:srgbClr val="0462C1"/>
                  </a:solidFill>
                </a:uFill>
                <a:latin typeface="Times New Roman"/>
                <a:cs typeface="Times New Roman"/>
                <a:hlinkClick r:id="rId5"/>
              </a:rPr>
              <a:t>	https://roboticsdna.in/product/2-pin-126-series-green-connector-for-pcb-screw-</a:t>
            </a:r>
            <a:r>
              <a:rPr sz="1200" b="1" spc="-10" dirty="0">
                <a:solidFill>
                  <a:srgbClr val="0462C1"/>
                </a:solidFill>
                <a:latin typeface="Times New Roman"/>
                <a:cs typeface="Times New Roman"/>
              </a:rPr>
              <a:t> </a:t>
            </a:r>
            <a:r>
              <a:rPr sz="1200" b="1" u="sng" spc="-10" dirty="0">
                <a:solidFill>
                  <a:srgbClr val="0462C1"/>
                </a:solidFill>
                <a:uFill>
                  <a:solidFill>
                    <a:srgbClr val="0462C1"/>
                  </a:solidFill>
                </a:uFill>
                <a:latin typeface="Times New Roman"/>
                <a:cs typeface="Times New Roman"/>
                <a:hlinkClick r:id="rId5"/>
              </a:rPr>
              <a:t>terminals/</a:t>
            </a:r>
            <a:endParaRPr sz="1200">
              <a:latin typeface="Times New Roman"/>
              <a:cs typeface="Times New Roman"/>
            </a:endParaRPr>
          </a:p>
          <a:p>
            <a:pPr marL="12700">
              <a:lnSpc>
                <a:spcPct val="100000"/>
              </a:lnSpc>
              <a:spcBef>
                <a:spcPts val="50"/>
              </a:spcBef>
            </a:pPr>
            <a:r>
              <a:rPr sz="1200" b="1" dirty="0">
                <a:latin typeface="Times New Roman"/>
                <a:cs typeface="Times New Roman"/>
              </a:rPr>
              <a:t>[Accessed:</a:t>
            </a:r>
            <a:r>
              <a:rPr sz="1200" b="1" spc="-35" dirty="0">
                <a:latin typeface="Times New Roman"/>
                <a:cs typeface="Times New Roman"/>
              </a:rPr>
              <a:t> </a:t>
            </a:r>
            <a:r>
              <a:rPr sz="1200" b="1" dirty="0">
                <a:latin typeface="Times New Roman"/>
                <a:cs typeface="Times New Roman"/>
              </a:rPr>
              <a:t>20</a:t>
            </a:r>
            <a:r>
              <a:rPr sz="1200" b="1" spc="-30" dirty="0">
                <a:latin typeface="Times New Roman"/>
                <a:cs typeface="Times New Roman"/>
              </a:rPr>
              <a:t> </a:t>
            </a:r>
            <a:r>
              <a:rPr sz="1200" b="1" dirty="0">
                <a:latin typeface="Times New Roman"/>
                <a:cs typeface="Times New Roman"/>
              </a:rPr>
              <a:t>February</a:t>
            </a:r>
            <a:r>
              <a:rPr sz="1200" b="1" spc="-20" dirty="0">
                <a:latin typeface="Times New Roman"/>
                <a:cs typeface="Times New Roman"/>
              </a:rPr>
              <a:t> </a:t>
            </a:r>
            <a:r>
              <a:rPr sz="1200" b="1" spc="-10" dirty="0">
                <a:latin typeface="Times New Roman"/>
                <a:cs typeface="Times New Roman"/>
              </a:rPr>
              <a:t>2026]</a:t>
            </a:r>
            <a:endParaRPr sz="1200">
              <a:latin typeface="Times New Roman"/>
              <a:cs typeface="Times New Roman"/>
            </a:endParaRPr>
          </a:p>
          <a:p>
            <a:pPr marL="12700" marR="20955" indent="-8255">
              <a:lnSpc>
                <a:spcPct val="103299"/>
              </a:lnSpc>
              <a:spcBef>
                <a:spcPts val="994"/>
              </a:spcBef>
              <a:buClr>
                <a:srgbClr val="000000"/>
              </a:buClr>
              <a:buSzPct val="95833"/>
              <a:buAutoNum type="arabicPlain" startAt="5"/>
              <a:tabLst>
                <a:tab pos="188595" algn="l"/>
              </a:tabLst>
            </a:pPr>
            <a:r>
              <a:rPr sz="1200" b="1" u="sng" spc="-10" dirty="0">
                <a:solidFill>
                  <a:srgbClr val="0462C1"/>
                </a:solidFill>
                <a:uFill>
                  <a:solidFill>
                    <a:srgbClr val="0462C1"/>
                  </a:solidFill>
                </a:uFill>
                <a:latin typeface="Times New Roman"/>
                <a:cs typeface="Times New Roman"/>
                <a:hlinkClick r:id="rId6"/>
              </a:rPr>
              <a:t>	https://techdelivers.com/copper-clad-fr1-phenolic-pcb-single-sided-5x5-inch-1-</a:t>
            </a:r>
            <a:r>
              <a:rPr sz="1200" b="1" u="sng" spc="-20" dirty="0">
                <a:solidFill>
                  <a:srgbClr val="0462C1"/>
                </a:solidFill>
                <a:uFill>
                  <a:solidFill>
                    <a:srgbClr val="0462C1"/>
                  </a:solidFill>
                </a:uFill>
                <a:latin typeface="Times New Roman"/>
                <a:cs typeface="Times New Roman"/>
                <a:hlinkClick r:id="rId6"/>
              </a:rPr>
              <a:t>2mm-</a:t>
            </a:r>
            <a:r>
              <a:rPr sz="1200" b="1" spc="-20" dirty="0">
                <a:solidFill>
                  <a:srgbClr val="0462C1"/>
                </a:solidFill>
                <a:latin typeface="Times New Roman"/>
                <a:cs typeface="Times New Roman"/>
              </a:rPr>
              <a:t> </a:t>
            </a:r>
            <a:r>
              <a:rPr sz="1200" b="1" u="sng" spc="-10" dirty="0">
                <a:solidFill>
                  <a:srgbClr val="0462C1"/>
                </a:solidFill>
                <a:uFill>
                  <a:solidFill>
                    <a:srgbClr val="0462C1"/>
                  </a:solidFill>
                </a:uFill>
                <a:latin typeface="Times New Roman"/>
                <a:cs typeface="Times New Roman"/>
                <a:hlinkClick r:id="rId6"/>
              </a:rPr>
              <a:t>35-micron-diy-etching-prototyping-electronics-laminate-circuit-board</a:t>
            </a:r>
            <a:endParaRPr sz="1200">
              <a:latin typeface="Times New Roman"/>
              <a:cs typeface="Times New Roman"/>
            </a:endParaRPr>
          </a:p>
          <a:p>
            <a:pPr marL="12700">
              <a:lnSpc>
                <a:spcPct val="100000"/>
              </a:lnSpc>
              <a:spcBef>
                <a:spcPts val="50"/>
              </a:spcBef>
            </a:pPr>
            <a:r>
              <a:rPr sz="1200" b="1" dirty="0">
                <a:latin typeface="Times New Roman"/>
                <a:cs typeface="Times New Roman"/>
              </a:rPr>
              <a:t>[Accessed:</a:t>
            </a:r>
            <a:r>
              <a:rPr sz="1200" b="1" spc="-35" dirty="0">
                <a:latin typeface="Times New Roman"/>
                <a:cs typeface="Times New Roman"/>
              </a:rPr>
              <a:t> </a:t>
            </a:r>
            <a:r>
              <a:rPr sz="1200" b="1" dirty="0">
                <a:latin typeface="Times New Roman"/>
                <a:cs typeface="Times New Roman"/>
              </a:rPr>
              <a:t>20</a:t>
            </a:r>
            <a:r>
              <a:rPr sz="1200" b="1" spc="-30" dirty="0">
                <a:latin typeface="Times New Roman"/>
                <a:cs typeface="Times New Roman"/>
              </a:rPr>
              <a:t> </a:t>
            </a:r>
            <a:r>
              <a:rPr sz="1200" b="1" dirty="0">
                <a:latin typeface="Times New Roman"/>
                <a:cs typeface="Times New Roman"/>
              </a:rPr>
              <a:t>February</a:t>
            </a:r>
            <a:r>
              <a:rPr sz="1200" b="1" spc="-20" dirty="0">
                <a:latin typeface="Times New Roman"/>
                <a:cs typeface="Times New Roman"/>
              </a:rPr>
              <a:t> </a:t>
            </a:r>
            <a:r>
              <a:rPr sz="1200" b="1" spc="-10" dirty="0">
                <a:latin typeface="Times New Roman"/>
                <a:cs typeface="Times New Roman"/>
              </a:rPr>
              <a:t>2026]</a:t>
            </a:r>
            <a:endParaRPr sz="1200">
              <a:latin typeface="Times New Roman"/>
              <a:cs typeface="Times New Roman"/>
            </a:endParaRPr>
          </a:p>
          <a:p>
            <a:pPr marL="12700" marR="238125" indent="-8255">
              <a:lnSpc>
                <a:spcPct val="103299"/>
              </a:lnSpc>
              <a:spcBef>
                <a:spcPts val="805"/>
              </a:spcBef>
              <a:buClr>
                <a:srgbClr val="000000"/>
              </a:buClr>
              <a:buSzPct val="95833"/>
              <a:buAutoNum type="arabicPlain" startAt="6"/>
              <a:tabLst>
                <a:tab pos="188595" algn="l"/>
              </a:tabLst>
            </a:pPr>
            <a:r>
              <a:rPr sz="1200" b="1" u="sng" spc="-10" dirty="0">
                <a:solidFill>
                  <a:srgbClr val="0462C1"/>
                </a:solidFill>
                <a:uFill>
                  <a:solidFill>
                    <a:srgbClr val="0462C1"/>
                  </a:solidFill>
                </a:uFill>
                <a:latin typeface="Times New Roman"/>
                <a:cs typeface="Times New Roman"/>
                <a:hlinkClick r:id="rId7"/>
              </a:rPr>
              <a:t>	https://www.build-electronic-circuits.com/7400-series-integrated-circuits/74hc74-</a:t>
            </a:r>
            <a:r>
              <a:rPr sz="1200" b="1" spc="-10" dirty="0">
                <a:solidFill>
                  <a:srgbClr val="0462C1"/>
                </a:solidFill>
                <a:latin typeface="Times New Roman"/>
                <a:cs typeface="Times New Roman"/>
              </a:rPr>
              <a:t> </a:t>
            </a:r>
            <a:r>
              <a:rPr sz="1200" b="1" u="sng" spc="-10" dirty="0">
                <a:solidFill>
                  <a:srgbClr val="0462C1"/>
                </a:solidFill>
                <a:uFill>
                  <a:solidFill>
                    <a:srgbClr val="0462C1"/>
                  </a:solidFill>
                </a:uFill>
                <a:latin typeface="Times New Roman"/>
                <a:cs typeface="Times New Roman"/>
                <a:hlinkClick r:id="rId7"/>
              </a:rPr>
              <a:t>74ls74/</a:t>
            </a:r>
            <a:endParaRPr sz="1200">
              <a:latin typeface="Times New Roman"/>
              <a:cs typeface="Times New Roman"/>
            </a:endParaRPr>
          </a:p>
          <a:p>
            <a:pPr marL="50800">
              <a:lnSpc>
                <a:spcPct val="100000"/>
              </a:lnSpc>
              <a:spcBef>
                <a:spcPts val="45"/>
              </a:spcBef>
            </a:pPr>
            <a:r>
              <a:rPr sz="1200" b="1" dirty="0">
                <a:latin typeface="Times New Roman"/>
                <a:cs typeface="Times New Roman"/>
              </a:rPr>
              <a:t>[Accessed:</a:t>
            </a:r>
            <a:r>
              <a:rPr sz="1200" b="1" spc="-30" dirty="0">
                <a:latin typeface="Times New Roman"/>
                <a:cs typeface="Times New Roman"/>
              </a:rPr>
              <a:t> </a:t>
            </a:r>
            <a:r>
              <a:rPr sz="1200" b="1" dirty="0">
                <a:latin typeface="Times New Roman"/>
                <a:cs typeface="Times New Roman"/>
              </a:rPr>
              <a:t>February</a:t>
            </a:r>
            <a:r>
              <a:rPr sz="1200" b="1" spc="-25" dirty="0">
                <a:latin typeface="Times New Roman"/>
                <a:cs typeface="Times New Roman"/>
              </a:rPr>
              <a:t> </a:t>
            </a:r>
            <a:r>
              <a:rPr sz="1200" b="1" dirty="0">
                <a:latin typeface="Times New Roman"/>
                <a:cs typeface="Times New Roman"/>
              </a:rPr>
              <a:t>26,</a:t>
            </a:r>
            <a:r>
              <a:rPr sz="1200" b="1" spc="-25" dirty="0">
                <a:latin typeface="Times New Roman"/>
                <a:cs typeface="Times New Roman"/>
              </a:rPr>
              <a:t> </a:t>
            </a:r>
            <a:r>
              <a:rPr sz="1200" b="1" spc="-10" dirty="0">
                <a:latin typeface="Times New Roman"/>
                <a:cs typeface="Times New Roman"/>
              </a:rPr>
              <a:t>2026].</a:t>
            </a:r>
            <a:endParaRPr sz="1200">
              <a:latin typeface="Times New Roman"/>
              <a:cs typeface="Times New Roman"/>
            </a:endParaRPr>
          </a:p>
          <a:p>
            <a:pPr marL="12700" marR="5080" indent="213995">
              <a:lnSpc>
                <a:spcPct val="103299"/>
              </a:lnSpc>
              <a:spcBef>
                <a:spcPts val="1000"/>
              </a:spcBef>
              <a:buClr>
                <a:srgbClr val="000000"/>
              </a:buClr>
              <a:buSzPct val="95833"/>
              <a:buAutoNum type="arabicPlain" startAt="7"/>
              <a:tabLst>
                <a:tab pos="226695" algn="l"/>
              </a:tabLst>
            </a:pPr>
            <a:r>
              <a:rPr sz="1200" b="1" u="sng" spc="-10" dirty="0">
                <a:solidFill>
                  <a:srgbClr val="0462C1"/>
                </a:solidFill>
                <a:uFill>
                  <a:solidFill>
                    <a:srgbClr val="0462C1"/>
                  </a:solidFill>
                </a:uFill>
                <a:latin typeface="Times New Roman"/>
                <a:cs typeface="Times New Roman"/>
                <a:hlinkClick r:id="rId8"/>
              </a:rPr>
              <a:t>https://www.rmcybernetics.com/shop/electronic-components/mini-slide-switch-spdt-</a:t>
            </a:r>
            <a:r>
              <a:rPr sz="1200" b="1" spc="-10" dirty="0">
                <a:solidFill>
                  <a:srgbClr val="0462C1"/>
                </a:solidFill>
                <a:latin typeface="Times New Roman"/>
                <a:cs typeface="Times New Roman"/>
              </a:rPr>
              <a:t> </a:t>
            </a:r>
            <a:r>
              <a:rPr sz="1200" b="1" u="sng" spc="-10" dirty="0">
                <a:solidFill>
                  <a:srgbClr val="0462C1"/>
                </a:solidFill>
                <a:uFill>
                  <a:solidFill>
                    <a:srgbClr val="0462C1"/>
                  </a:solidFill>
                </a:uFill>
                <a:latin typeface="Times New Roman"/>
                <a:cs typeface="Times New Roman"/>
                <a:hlinkClick r:id="rId8"/>
              </a:rPr>
              <a:t>0-</a:t>
            </a:r>
            <a:r>
              <a:rPr sz="1200" b="1" u="sng" spc="-25" dirty="0">
                <a:solidFill>
                  <a:srgbClr val="0462C1"/>
                </a:solidFill>
                <a:uFill>
                  <a:solidFill>
                    <a:srgbClr val="0462C1"/>
                  </a:solidFill>
                </a:uFill>
                <a:latin typeface="Times New Roman"/>
                <a:cs typeface="Times New Roman"/>
                <a:hlinkClick r:id="rId8"/>
              </a:rPr>
              <a:t>5a</a:t>
            </a:r>
            <a:endParaRPr sz="1200">
              <a:latin typeface="Times New Roman"/>
              <a:cs typeface="Times New Roman"/>
            </a:endParaRPr>
          </a:p>
          <a:p>
            <a:pPr marL="12700">
              <a:lnSpc>
                <a:spcPct val="100000"/>
              </a:lnSpc>
              <a:spcBef>
                <a:spcPts val="45"/>
              </a:spcBef>
            </a:pPr>
            <a:r>
              <a:rPr sz="1200" b="1" dirty="0">
                <a:latin typeface="Times New Roman"/>
                <a:cs typeface="Times New Roman"/>
              </a:rPr>
              <a:t>[Accessed:</a:t>
            </a:r>
            <a:r>
              <a:rPr sz="1200" b="1" spc="-30" dirty="0">
                <a:latin typeface="Times New Roman"/>
                <a:cs typeface="Times New Roman"/>
              </a:rPr>
              <a:t> </a:t>
            </a:r>
            <a:r>
              <a:rPr sz="1200" b="1" dirty="0">
                <a:latin typeface="Times New Roman"/>
                <a:cs typeface="Times New Roman"/>
              </a:rPr>
              <a:t>February</a:t>
            </a:r>
            <a:r>
              <a:rPr sz="1200" b="1" spc="-25" dirty="0">
                <a:latin typeface="Times New Roman"/>
                <a:cs typeface="Times New Roman"/>
              </a:rPr>
              <a:t> </a:t>
            </a:r>
            <a:r>
              <a:rPr sz="1200" b="1" dirty="0">
                <a:latin typeface="Times New Roman"/>
                <a:cs typeface="Times New Roman"/>
              </a:rPr>
              <a:t>26,</a:t>
            </a:r>
            <a:r>
              <a:rPr sz="1200" b="1" spc="-25" dirty="0">
                <a:latin typeface="Times New Roman"/>
                <a:cs typeface="Times New Roman"/>
              </a:rPr>
              <a:t> </a:t>
            </a:r>
            <a:r>
              <a:rPr sz="1200" b="1" spc="-10" dirty="0">
                <a:latin typeface="Times New Roman"/>
                <a:cs typeface="Times New Roman"/>
              </a:rPr>
              <a:t>2026].</a:t>
            </a:r>
            <a:endParaRPr sz="1200">
              <a:latin typeface="Times New Roman"/>
              <a:cs typeface="Times New Roman"/>
            </a:endParaRPr>
          </a:p>
        </p:txBody>
      </p:sp>
      <p:sp>
        <p:nvSpPr>
          <p:cNvPr id="3" name="object 3"/>
          <p:cNvSpPr/>
          <p:nvPr/>
        </p:nvSpPr>
        <p:spPr>
          <a:xfrm>
            <a:off x="304800" y="304799"/>
            <a:ext cx="6952615" cy="10084435"/>
          </a:xfrm>
          <a:custGeom>
            <a:avLst/>
            <a:gdLst/>
            <a:ahLst/>
            <a:cxnLst/>
            <a:rect l="l" t="t" r="r" b="b"/>
            <a:pathLst>
              <a:path w="6952615" h="10084435">
                <a:moveTo>
                  <a:pt x="56375" y="47244"/>
                </a:moveTo>
                <a:lnTo>
                  <a:pt x="47244" y="47244"/>
                </a:lnTo>
                <a:lnTo>
                  <a:pt x="47244" y="56388"/>
                </a:lnTo>
                <a:lnTo>
                  <a:pt x="47244" y="10027920"/>
                </a:lnTo>
                <a:lnTo>
                  <a:pt x="47244" y="10066020"/>
                </a:lnTo>
                <a:lnTo>
                  <a:pt x="56375" y="10066020"/>
                </a:lnTo>
                <a:lnTo>
                  <a:pt x="56375" y="10027920"/>
                </a:lnTo>
                <a:lnTo>
                  <a:pt x="56375" y="56388"/>
                </a:lnTo>
                <a:lnTo>
                  <a:pt x="56375" y="47244"/>
                </a:lnTo>
                <a:close/>
              </a:path>
              <a:path w="6952615" h="10084435">
                <a:moveTo>
                  <a:pt x="6934200" y="47244"/>
                </a:moveTo>
                <a:lnTo>
                  <a:pt x="6896100" y="47244"/>
                </a:lnTo>
                <a:lnTo>
                  <a:pt x="56388" y="47244"/>
                </a:lnTo>
                <a:lnTo>
                  <a:pt x="56388" y="56388"/>
                </a:lnTo>
                <a:lnTo>
                  <a:pt x="6896100" y="56388"/>
                </a:lnTo>
                <a:lnTo>
                  <a:pt x="6896100" y="10027920"/>
                </a:lnTo>
                <a:lnTo>
                  <a:pt x="56388" y="10027920"/>
                </a:lnTo>
                <a:lnTo>
                  <a:pt x="56388" y="10066020"/>
                </a:lnTo>
                <a:lnTo>
                  <a:pt x="6896100" y="10066020"/>
                </a:lnTo>
                <a:lnTo>
                  <a:pt x="6934200" y="10066020"/>
                </a:lnTo>
                <a:lnTo>
                  <a:pt x="6934200" y="10027920"/>
                </a:lnTo>
                <a:lnTo>
                  <a:pt x="6934200" y="56388"/>
                </a:lnTo>
                <a:lnTo>
                  <a:pt x="6934200" y="47244"/>
                </a:lnTo>
                <a:close/>
              </a:path>
              <a:path w="6952615" h="10084435">
                <a:moveTo>
                  <a:pt x="6952488" y="10075177"/>
                </a:moveTo>
                <a:lnTo>
                  <a:pt x="6952475" y="10027933"/>
                </a:lnTo>
                <a:lnTo>
                  <a:pt x="6943344" y="10027933"/>
                </a:lnTo>
                <a:lnTo>
                  <a:pt x="6943344" y="10075177"/>
                </a:lnTo>
                <a:lnTo>
                  <a:pt x="6896100" y="10075177"/>
                </a:lnTo>
                <a:lnTo>
                  <a:pt x="56388" y="10075177"/>
                </a:lnTo>
                <a:lnTo>
                  <a:pt x="38100" y="10075177"/>
                </a:lnTo>
                <a:lnTo>
                  <a:pt x="38100" y="10027933"/>
                </a:lnTo>
                <a:lnTo>
                  <a:pt x="0" y="10027933"/>
                </a:lnTo>
                <a:lnTo>
                  <a:pt x="0" y="10075177"/>
                </a:lnTo>
                <a:lnTo>
                  <a:pt x="0" y="10084308"/>
                </a:lnTo>
                <a:lnTo>
                  <a:pt x="38100" y="10084308"/>
                </a:lnTo>
                <a:lnTo>
                  <a:pt x="6952488" y="10084308"/>
                </a:lnTo>
                <a:lnTo>
                  <a:pt x="6952488" y="10075177"/>
                </a:lnTo>
                <a:close/>
              </a:path>
              <a:path w="6952615" h="10084435">
                <a:moveTo>
                  <a:pt x="6952488" y="0"/>
                </a:moveTo>
                <a:lnTo>
                  <a:pt x="6952488" y="0"/>
                </a:lnTo>
                <a:lnTo>
                  <a:pt x="0" y="0"/>
                </a:lnTo>
                <a:lnTo>
                  <a:pt x="0" y="38100"/>
                </a:lnTo>
                <a:lnTo>
                  <a:pt x="0" y="56388"/>
                </a:lnTo>
                <a:lnTo>
                  <a:pt x="0" y="10027920"/>
                </a:lnTo>
                <a:lnTo>
                  <a:pt x="38100" y="10027920"/>
                </a:lnTo>
                <a:lnTo>
                  <a:pt x="38100" y="56388"/>
                </a:lnTo>
                <a:lnTo>
                  <a:pt x="38100" y="38100"/>
                </a:lnTo>
                <a:lnTo>
                  <a:pt x="56388" y="38100"/>
                </a:lnTo>
                <a:lnTo>
                  <a:pt x="6896100" y="38100"/>
                </a:lnTo>
                <a:lnTo>
                  <a:pt x="6943344" y="38100"/>
                </a:lnTo>
                <a:lnTo>
                  <a:pt x="6943344" y="56388"/>
                </a:lnTo>
                <a:lnTo>
                  <a:pt x="6943344" y="10027920"/>
                </a:lnTo>
                <a:lnTo>
                  <a:pt x="6952475" y="10027920"/>
                </a:lnTo>
                <a:lnTo>
                  <a:pt x="6952475" y="56388"/>
                </a:lnTo>
                <a:lnTo>
                  <a:pt x="6952475" y="38100"/>
                </a:lnTo>
                <a:lnTo>
                  <a:pt x="6952488" y="0"/>
                </a:lnTo>
                <a:close/>
              </a:path>
            </a:pathLst>
          </a:custGeom>
          <a:solidFill>
            <a:srgbClr val="000000"/>
          </a:solid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fld id="{81D60167-4931-47E6-BA6A-407CBD079E47}" type="slidenum">
              <a:rPr spc="-25" dirty="0"/>
              <a:t>17</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138</TotalTime>
  <Words>3090</Words>
  <Application>Microsoft Office PowerPoint</Application>
  <PresentationFormat>Custom</PresentationFormat>
  <Paragraphs>208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Symbol</vt:lpstr>
      <vt:lpstr>Times New Roman</vt:lpstr>
      <vt:lpstr>Office Theme</vt:lpstr>
      <vt:lpstr>PowerPoint Presentation</vt:lpstr>
      <vt:lpstr>INDEX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17</cp:revision>
  <dcterms:created xsi:type="dcterms:W3CDTF">2026-06-01T08:47:33Z</dcterms:created>
  <dcterms:modified xsi:type="dcterms:W3CDTF">2026-06-03T06:23:12Z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2026-03-01T00:00:00Z</vt:filetime>
  </property>
  <property fmtid="{D5CDD505-2E9C-101B-9397-08002B2CF9AE}" pid="3" name="Creator">
    <vt:lpwstr>Microsoft® Word 2019</vt:lpwstr>
  </property>
  <property fmtid="{D5CDD505-2E9C-101B-9397-08002B2CF9AE}" pid="4" name="LastSaved">
    <vt:filetime>2026-06-01T00:00:00Z</vt:filetime>
  </property>
  <property fmtid="{D5CDD505-2E9C-101B-9397-08002B2CF9AE}" pid="5" name="Producer">
    <vt:lpwstr>Microsoft® Word 2019</vt:lpwstr>
  </property>
</Properties>
</file>